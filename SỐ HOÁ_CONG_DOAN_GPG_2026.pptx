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82" r:id="rId2"/>
    <p:sldId id="315" r:id="rId3"/>
    <p:sldId id="284" r:id="rId4"/>
    <p:sldId id="285" r:id="rId5"/>
    <p:sldId id="286" r:id="rId6"/>
    <p:sldId id="287" r:id="rId7"/>
    <p:sldId id="288" r:id="rId8"/>
    <p:sldId id="289" r:id="rId9"/>
    <p:sldId id="272" r:id="rId10"/>
    <p:sldId id="273" r:id="rId11"/>
    <p:sldId id="274" r:id="rId12"/>
    <p:sldId id="275" r:id="rId13"/>
    <p:sldId id="276" r:id="rId14"/>
    <p:sldId id="277" r:id="rId15"/>
    <p:sldId id="278" r:id="rId16"/>
    <p:sldId id="279" r:id="rId17"/>
    <p:sldId id="280" r:id="rId18"/>
    <p:sldId id="281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009" autoAdjust="0"/>
    <p:restoredTop sz="94660"/>
  </p:normalViewPr>
  <p:slideViewPr>
    <p:cSldViewPr snapToGrid="0" snapToObjects="1">
      <p:cViewPr varScale="1">
        <p:scale>
          <a:sx n="58" d="100"/>
          <a:sy n="58" d="100"/>
        </p:scale>
        <p:origin x="1116" y="6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Tahoma" panose="020B0604030504040204" pitchFamily="34" charset="0"/>
              </a:defRPr>
            </a:lvl1pPr>
          </a:lstStyle>
          <a:p>
            <a:endParaRPr lang="vi-VN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Tahoma" panose="020B0604030504040204" pitchFamily="34" charset="0"/>
              </a:defRPr>
            </a:lvl1pPr>
          </a:lstStyle>
          <a:p>
            <a:fld id="{3E56747F-ED96-4BA0-8007-4DC52A288677}" type="datetimeFigureOut">
              <a:rPr lang="vi-VN" smtClean="0"/>
              <a:pPr/>
              <a:t>24/08/2026</a:t>
            </a:fld>
            <a:endParaRPr lang="vi-VN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vi-V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vi-V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Tahoma" panose="020B0604030504040204" pitchFamily="34" charset="0"/>
              </a:defRPr>
            </a:lvl1pPr>
          </a:lstStyle>
          <a:p>
            <a:endParaRPr lang="vi-V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Tahoma" panose="020B0604030504040204" pitchFamily="34" charset="0"/>
              </a:defRPr>
            </a:lvl1pPr>
          </a:lstStyle>
          <a:p>
            <a:fld id="{2529A003-E386-4037-94F0-B28E26DD24CC}" type="slidenum">
              <a:rPr lang="vi-VN" smtClean="0"/>
              <a:pPr/>
              <a:t>‹#›</a:t>
            </a:fld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9349441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1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Tahoma" panose="020B0604030504040204" pitchFamily="34" charset="0"/>
              </a:defRPr>
            </a:lvl1pPr>
          </a:lstStyle>
          <a:p>
            <a:fld id="{5BCAD085-E8A6-8845-BD4E-CB4CCA059FC4}" type="datetimeFigureOut">
              <a:rPr lang="en-US" smtClean="0"/>
              <a:pPr/>
              <a:t>8/24/2026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Tahoma" panose="020B060403050404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Tahoma" panose="020B0604030504040204" pitchFamily="34" charset="0"/>
              </a:defRPr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Tahoma" panose="020B0604030504040204" pitchFamily="34" charset="0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Tahoma" panose="020B0604030504040204" pitchFamily="34" charset="0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Tahoma" panose="020B0604030504040204" pitchFamily="34" charset="0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Tahoma" panose="020B0604030504040204" pitchFamily="34" charset="0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Tahoma" panose="020B0604030504040204" pitchFamily="34" charset="0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Tahoma" panose="020B0604030504040204" pitchFamily="34" charset="0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1F7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56032"/>
            <a:ext cx="1360170" cy="777240"/>
          </a:xfrm>
          <a:prstGeom prst="rect">
            <a:avLst/>
          </a:prstGeom>
        </p:spPr>
      </p:pic>
      <p:pic>
        <p:nvPicPr>
          <p:cNvPr id="3" name="Picture 2" descr="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7080" y="210312"/>
            <a:ext cx="929800" cy="8412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5799" y="1325880"/>
            <a:ext cx="4873171" cy="954107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5600" b="1">
                <a:solidFill>
                  <a:srgbClr val="F1B419"/>
                </a:solidFill>
                <a:latin typeface="Arial Narrow"/>
              </a:defRPr>
            </a:pPr>
            <a:r>
              <a:rPr lang="vi-VN" dirty="0">
                <a:latin typeface="Tahoma" panose="020B0604030504040204" pitchFamily="34" charset="0"/>
              </a:rPr>
              <a:t>PHẦN </a:t>
            </a:r>
            <a:r>
              <a:rPr dirty="0">
                <a:latin typeface="Tahoma" panose="020B0604030504040204" pitchFamily="34" charset="0"/>
              </a:rPr>
              <a:t>V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514600"/>
            <a:ext cx="10241280" cy="55399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Arial Narrow"/>
              </a:defRPr>
            </a:pPr>
            <a:r>
              <a:rPr dirty="0" err="1">
                <a:latin typeface="Tahoma" panose="020B0604030504040204" pitchFamily="34" charset="0"/>
              </a:rPr>
              <a:t>SỐ</a:t>
            </a:r>
            <a:r>
              <a:rPr dirty="0">
                <a:latin typeface="Tahoma" panose="020B0604030504040204" pitchFamily="34" charset="0"/>
              </a:rPr>
              <a:t> </a:t>
            </a:r>
            <a:r>
              <a:rPr dirty="0" err="1">
                <a:latin typeface="Tahoma" panose="020B0604030504040204" pitchFamily="34" charset="0"/>
              </a:rPr>
              <a:t>HÓA</a:t>
            </a:r>
            <a:r>
              <a:rPr dirty="0">
                <a:latin typeface="Tahoma" panose="020B0604030504040204" pitchFamily="34" charset="0"/>
              </a:rPr>
              <a:t> HỒ </a:t>
            </a:r>
            <a:r>
              <a:rPr dirty="0" err="1">
                <a:latin typeface="Tahoma" panose="020B0604030504040204" pitchFamily="34" charset="0"/>
              </a:rPr>
              <a:t>SƠ</a:t>
            </a:r>
            <a:r>
              <a:rPr dirty="0">
                <a:latin typeface="Tahoma" panose="020B0604030504040204" pitchFamily="34" charset="0"/>
              </a:rPr>
              <a:t> CÔNG ĐOÀN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3474720"/>
            <a:ext cx="9966960" cy="5232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400" b="0">
                <a:solidFill>
                  <a:srgbClr val="DAE4FC"/>
                </a:solidFill>
                <a:latin typeface="Arial"/>
              </a:defRPr>
            </a:pPr>
            <a:r>
              <a:rPr dirty="0" err="1">
                <a:latin typeface="Tahoma" panose="020B0604030504040204" pitchFamily="34" charset="0"/>
              </a:rPr>
              <a:t>Đề</a:t>
            </a:r>
            <a:r>
              <a:rPr dirty="0">
                <a:latin typeface="Tahoma" panose="020B0604030504040204" pitchFamily="34" charset="0"/>
              </a:rPr>
              <a:t> </a:t>
            </a:r>
            <a:r>
              <a:rPr dirty="0" err="1">
                <a:latin typeface="Tahoma" panose="020B0604030504040204" pitchFamily="34" charset="0"/>
              </a:rPr>
              <a:t>xuất</a:t>
            </a:r>
            <a:r>
              <a:rPr dirty="0">
                <a:latin typeface="Tahoma" panose="020B0604030504040204" pitchFamily="34" charset="0"/>
              </a:rPr>
              <a:t> </a:t>
            </a:r>
            <a:r>
              <a:rPr dirty="0" err="1">
                <a:latin typeface="Tahoma" panose="020B0604030504040204" pitchFamily="34" charset="0"/>
              </a:rPr>
              <a:t>một</a:t>
            </a:r>
            <a:r>
              <a:rPr dirty="0">
                <a:latin typeface="Tahoma" panose="020B0604030504040204" pitchFamily="34" charset="0"/>
              </a:rPr>
              <a:t> </a:t>
            </a:r>
            <a:r>
              <a:rPr dirty="0" err="1">
                <a:latin typeface="Tahoma" panose="020B0604030504040204" pitchFamily="34" charset="0"/>
              </a:rPr>
              <a:t>hệ</a:t>
            </a:r>
            <a:r>
              <a:rPr dirty="0">
                <a:latin typeface="Tahoma" panose="020B0604030504040204" pitchFamily="34" charset="0"/>
              </a:rPr>
              <a:t> </a:t>
            </a:r>
            <a:r>
              <a:rPr dirty="0" err="1">
                <a:latin typeface="Tahoma" panose="020B0604030504040204" pitchFamily="34" charset="0"/>
              </a:rPr>
              <a:t>thống</a:t>
            </a:r>
            <a:r>
              <a:rPr dirty="0">
                <a:latin typeface="Tahoma" panose="020B0604030504040204" pitchFamily="34" charset="0"/>
              </a:rPr>
              <a:t> </a:t>
            </a:r>
            <a:r>
              <a:rPr dirty="0" err="1">
                <a:latin typeface="Tahoma" panose="020B0604030504040204" pitchFamily="34" charset="0"/>
              </a:rPr>
              <a:t>dữ</a:t>
            </a:r>
            <a:r>
              <a:rPr dirty="0">
                <a:latin typeface="Tahoma" panose="020B0604030504040204" pitchFamily="34" charset="0"/>
              </a:rPr>
              <a:t> </a:t>
            </a:r>
            <a:r>
              <a:rPr dirty="0" err="1">
                <a:latin typeface="Tahoma" panose="020B0604030504040204" pitchFamily="34" charset="0"/>
              </a:rPr>
              <a:t>liệu</a:t>
            </a:r>
            <a:r>
              <a:rPr dirty="0">
                <a:latin typeface="Tahoma" panose="020B0604030504040204" pitchFamily="34" charset="0"/>
              </a:rPr>
              <a:t> </a:t>
            </a:r>
            <a:r>
              <a:rPr dirty="0" err="1">
                <a:latin typeface="Tahoma" panose="020B0604030504040204" pitchFamily="34" charset="0"/>
              </a:rPr>
              <a:t>tập</a:t>
            </a:r>
            <a:r>
              <a:rPr dirty="0">
                <a:latin typeface="Tahoma" panose="020B0604030504040204" pitchFamily="34" charset="0"/>
              </a:rPr>
              <a:t> </a:t>
            </a:r>
            <a:r>
              <a:rPr dirty="0" err="1">
                <a:latin typeface="Tahoma" panose="020B0604030504040204" pitchFamily="34" charset="0"/>
              </a:rPr>
              <a:t>trung</a:t>
            </a:r>
            <a:r>
              <a:rPr dirty="0">
                <a:latin typeface="Tahoma" panose="020B0604030504040204" pitchFamily="34" charset="0"/>
              </a:rPr>
              <a:t> </a:t>
            </a:r>
            <a:r>
              <a:rPr dirty="0" err="1">
                <a:latin typeface="Tahoma" panose="020B0604030504040204" pitchFamily="34" charset="0"/>
              </a:rPr>
              <a:t>để</a:t>
            </a:r>
            <a:r>
              <a:rPr dirty="0">
                <a:latin typeface="Tahoma" panose="020B0604030504040204" pitchFamily="34" charset="0"/>
              </a:rPr>
              <a:t> </a:t>
            </a:r>
            <a:r>
              <a:rPr dirty="0" err="1">
                <a:latin typeface="Tahoma" panose="020B0604030504040204" pitchFamily="34" charset="0"/>
              </a:rPr>
              <a:t>quản</a:t>
            </a:r>
            <a:r>
              <a:rPr dirty="0">
                <a:latin typeface="Tahoma" panose="020B0604030504040204" pitchFamily="34" charset="0"/>
              </a:rPr>
              <a:t> </a:t>
            </a:r>
            <a:r>
              <a:rPr dirty="0" err="1">
                <a:latin typeface="Tahoma" panose="020B0604030504040204" pitchFamily="34" charset="0"/>
              </a:rPr>
              <a:t>trị</a:t>
            </a:r>
            <a:r>
              <a:rPr dirty="0">
                <a:latin typeface="Tahoma" panose="020B0604030504040204" pitchFamily="34" charset="0"/>
              </a:rPr>
              <a:t> </a:t>
            </a:r>
            <a:r>
              <a:rPr dirty="0" err="1">
                <a:latin typeface="Tahoma" panose="020B0604030504040204" pitchFamily="34" charset="0"/>
              </a:rPr>
              <a:t>đoàn</a:t>
            </a:r>
            <a:r>
              <a:rPr dirty="0">
                <a:latin typeface="Tahoma" panose="020B0604030504040204" pitchFamily="34" charset="0"/>
              </a:rPr>
              <a:t> </a:t>
            </a:r>
            <a:r>
              <a:rPr dirty="0" err="1">
                <a:latin typeface="Tahoma" panose="020B0604030504040204" pitchFamily="34" charset="0"/>
              </a:rPr>
              <a:t>viên</a:t>
            </a:r>
            <a:r>
              <a:rPr dirty="0">
                <a:latin typeface="Tahoma" panose="020B0604030504040204" pitchFamily="34" charset="0"/>
              </a:rPr>
              <a:t>, </a:t>
            </a:r>
            <a:r>
              <a:rPr dirty="0" err="1">
                <a:latin typeface="Tahoma" panose="020B0604030504040204" pitchFamily="34" charset="0"/>
              </a:rPr>
              <a:t>chính</a:t>
            </a:r>
            <a:r>
              <a:rPr dirty="0">
                <a:latin typeface="Tahoma" panose="020B0604030504040204" pitchFamily="34" charset="0"/>
              </a:rPr>
              <a:t> </a:t>
            </a:r>
            <a:r>
              <a:rPr dirty="0" err="1">
                <a:latin typeface="Tahoma" panose="020B0604030504040204" pitchFamily="34" charset="0"/>
              </a:rPr>
              <a:t>sách</a:t>
            </a:r>
            <a:r>
              <a:rPr dirty="0">
                <a:latin typeface="Tahoma" panose="020B0604030504040204" pitchFamily="34" charset="0"/>
              </a:rPr>
              <a:t>, </a:t>
            </a:r>
            <a:r>
              <a:rPr dirty="0" err="1">
                <a:latin typeface="Tahoma" panose="020B0604030504040204" pitchFamily="34" charset="0"/>
              </a:rPr>
              <a:t>vụ</a:t>
            </a:r>
            <a:r>
              <a:rPr dirty="0">
                <a:latin typeface="Tahoma" panose="020B0604030504040204" pitchFamily="34" charset="0"/>
              </a:rPr>
              <a:t> </a:t>
            </a:r>
            <a:r>
              <a:rPr dirty="0" err="1">
                <a:latin typeface="Tahoma" panose="020B0604030504040204" pitchFamily="34" charset="0"/>
              </a:rPr>
              <a:t>việc</a:t>
            </a:r>
            <a:r>
              <a:rPr dirty="0">
                <a:latin typeface="Tahoma" panose="020B0604030504040204" pitchFamily="34" charset="0"/>
              </a:rPr>
              <a:t>, </a:t>
            </a:r>
            <a:r>
              <a:rPr dirty="0" err="1">
                <a:latin typeface="Tahoma" panose="020B0604030504040204" pitchFamily="34" charset="0"/>
              </a:rPr>
              <a:t>hoạt</a:t>
            </a:r>
            <a:r>
              <a:rPr dirty="0">
                <a:latin typeface="Tahoma" panose="020B0604030504040204" pitchFamily="34" charset="0"/>
              </a:rPr>
              <a:t> </a:t>
            </a:r>
            <a:r>
              <a:rPr dirty="0" err="1">
                <a:latin typeface="Tahoma" panose="020B0604030504040204" pitchFamily="34" charset="0"/>
              </a:rPr>
              <a:t>động</a:t>
            </a:r>
            <a:r>
              <a:rPr dirty="0">
                <a:latin typeface="Tahoma" panose="020B0604030504040204" pitchFamily="34" charset="0"/>
              </a:rPr>
              <a:t>, </a:t>
            </a:r>
            <a:r>
              <a:rPr dirty="0" err="1">
                <a:latin typeface="Tahoma" panose="020B0604030504040204" pitchFamily="34" charset="0"/>
              </a:rPr>
              <a:t>tài</a:t>
            </a:r>
            <a:r>
              <a:rPr dirty="0">
                <a:latin typeface="Tahoma" panose="020B0604030504040204" pitchFamily="34" charset="0"/>
              </a:rPr>
              <a:t> </a:t>
            </a:r>
            <a:r>
              <a:rPr dirty="0" err="1">
                <a:latin typeface="Tahoma" panose="020B0604030504040204" pitchFamily="34" charset="0"/>
              </a:rPr>
              <a:t>chính</a:t>
            </a:r>
            <a:r>
              <a:rPr dirty="0">
                <a:latin typeface="Tahoma" panose="020B0604030504040204" pitchFamily="34" charset="0"/>
              </a:rPr>
              <a:t> </a:t>
            </a:r>
            <a:r>
              <a:rPr dirty="0" err="1">
                <a:latin typeface="Tahoma" panose="020B0604030504040204" pitchFamily="34" charset="0"/>
              </a:rPr>
              <a:t>và</a:t>
            </a:r>
            <a:r>
              <a:rPr dirty="0">
                <a:latin typeface="Tahoma" panose="020B0604030504040204" pitchFamily="34" charset="0"/>
              </a:rPr>
              <a:t> </a:t>
            </a:r>
            <a:r>
              <a:rPr dirty="0" err="1">
                <a:latin typeface="Tahoma" panose="020B0604030504040204" pitchFamily="34" charset="0"/>
              </a:rPr>
              <a:t>báo</a:t>
            </a:r>
            <a:r>
              <a:rPr dirty="0">
                <a:latin typeface="Tahoma" panose="020B0604030504040204" pitchFamily="34" charset="0"/>
              </a:rPr>
              <a:t> </a:t>
            </a:r>
            <a:r>
              <a:rPr dirty="0" err="1">
                <a:latin typeface="Tahoma" panose="020B0604030504040204" pitchFamily="34" charset="0"/>
              </a:rPr>
              <a:t>cáo</a:t>
            </a:r>
            <a:r>
              <a:rPr dirty="0">
                <a:latin typeface="Tahoma" panose="020B0604030504040204" pitchFamily="34" charset="0"/>
              </a:rPr>
              <a:t> </a:t>
            </a:r>
            <a:r>
              <a:rPr dirty="0" err="1">
                <a:latin typeface="Tahoma" panose="020B0604030504040204" pitchFamily="34" charset="0"/>
              </a:rPr>
              <a:t>theo</a:t>
            </a:r>
            <a:r>
              <a:rPr dirty="0">
                <a:latin typeface="Tahoma" panose="020B0604030504040204" pitchFamily="34" charset="0"/>
              </a:rPr>
              <a:t> </a:t>
            </a:r>
            <a:r>
              <a:rPr dirty="0" err="1">
                <a:latin typeface="Tahoma" panose="020B0604030504040204" pitchFamily="34" charset="0"/>
              </a:rPr>
              <a:t>một</a:t>
            </a:r>
            <a:r>
              <a:rPr dirty="0">
                <a:latin typeface="Tahoma" panose="020B0604030504040204" pitchFamily="34" charset="0"/>
              </a:rPr>
              <a:t> </a:t>
            </a:r>
            <a:r>
              <a:rPr dirty="0" err="1">
                <a:latin typeface="Tahoma" panose="020B0604030504040204" pitchFamily="34" charset="0"/>
              </a:rPr>
              <a:t>nguồn</a:t>
            </a:r>
            <a:r>
              <a:rPr dirty="0">
                <a:latin typeface="Tahoma" panose="020B0604030504040204" pitchFamily="34" charset="0"/>
              </a:rPr>
              <a:t> </a:t>
            </a:r>
            <a:r>
              <a:rPr dirty="0" err="1">
                <a:latin typeface="Tahoma" panose="020B0604030504040204" pitchFamily="34" charset="0"/>
              </a:rPr>
              <a:t>dữ</a:t>
            </a:r>
            <a:r>
              <a:rPr dirty="0">
                <a:latin typeface="Tahoma" panose="020B0604030504040204" pitchFamily="34" charset="0"/>
              </a:rPr>
              <a:t> </a:t>
            </a:r>
            <a:r>
              <a:rPr dirty="0" err="1">
                <a:latin typeface="Tahoma" panose="020B0604030504040204" pitchFamily="34" charset="0"/>
              </a:rPr>
              <a:t>liệu</a:t>
            </a:r>
            <a:r>
              <a:rPr dirty="0">
                <a:latin typeface="Tahoma" panose="020B0604030504040204" pitchFamily="34" charset="0"/>
              </a:rPr>
              <a:t> </a:t>
            </a:r>
            <a:r>
              <a:rPr dirty="0" err="1">
                <a:latin typeface="Tahoma" panose="020B0604030504040204" pitchFamily="34" charset="0"/>
              </a:rPr>
              <a:t>duy</a:t>
            </a:r>
            <a:r>
              <a:rPr dirty="0">
                <a:latin typeface="Tahoma" panose="020B0604030504040204" pitchFamily="34" charset="0"/>
              </a:rPr>
              <a:t> </a:t>
            </a:r>
            <a:r>
              <a:rPr dirty="0" err="1">
                <a:latin typeface="Tahoma" panose="020B0604030504040204" pitchFamily="34" charset="0"/>
              </a:rPr>
              <a:t>nhất</a:t>
            </a:r>
            <a:r>
              <a:rPr dirty="0">
                <a:latin typeface="Tahoma" panose="020B0604030504040204" pitchFamily="34" charset="0"/>
              </a:rPr>
              <a:t>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4800600"/>
            <a:ext cx="2286000" cy="45720"/>
          </a:xfrm>
          <a:prstGeom prst="rect">
            <a:avLst/>
          </a:prstGeom>
          <a:solidFill>
            <a:srgbClr val="F1B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Tahoma" panose="020B0604030504040204" pitchFamily="34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1247120" y="6400800"/>
            <a:ext cx="365760" cy="23083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Arial"/>
              </a:defRPr>
            </a:pPr>
            <a:r>
              <a:rPr dirty="0">
                <a:latin typeface="Tahoma" panose="020B0604030504040204" pitchFamily="34" charset="0"/>
              </a:rPr>
              <a:t>27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608" y="82296"/>
            <a:ext cx="960120" cy="548640"/>
          </a:xfrm>
          <a:prstGeom prst="rect">
            <a:avLst/>
          </a:prstGeom>
        </p:spPr>
      </p:pic>
      <p:pic>
        <p:nvPicPr>
          <p:cNvPr id="3" name="Picture 2" descr="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64008"/>
            <a:ext cx="646818" cy="585216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274320" y="749808"/>
            <a:ext cx="11649456" cy="22860"/>
          </a:xfrm>
          <a:prstGeom prst="rect">
            <a:avLst/>
          </a:prstGeom>
          <a:solidFill>
            <a:srgbClr val="051F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20040" y="6483096"/>
            <a:ext cx="2077813" cy="22313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">
                <a:solidFill>
                  <a:srgbClr val="051F71"/>
                </a:solidFill>
                <a:latin typeface="Arial"/>
              </a:defRPr>
            </a:pPr>
            <a:r>
              <a:rPr kumimoji="0" sz="850" b="0" i="0" u="none" strike="noStrike" kern="1200" cap="none" spc="0" normalizeH="0" baseline="0" noProof="0" dirty="0">
                <a:ln>
                  <a:noFill/>
                </a:ln>
                <a:solidFill>
                  <a:srgbClr val="051F71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CÔNG ĐOÀN GPG | GPG TRADE UNION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43352" y="6473952"/>
            <a:ext cx="1029448" cy="21839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19">
                <a:solidFill>
                  <a:srgbClr val="677180"/>
                </a:solidFill>
                <a:latin typeface="Arial"/>
              </a:defRPr>
            </a:pPr>
            <a:r>
              <a:rPr kumimoji="0" sz="819" b="0" i="0" u="none" strike="noStrike" kern="1200" cap="none" spc="0" normalizeH="0" baseline="0" noProof="0" dirty="0">
                <a:ln>
                  <a:noFill/>
                </a:ln>
                <a:solidFill>
                  <a:srgbClr val="677180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V. </a:t>
            </a:r>
            <a:r>
              <a:rPr kumimoji="0" sz="819" b="0" i="0" u="none" strike="noStrike" kern="1200" cap="none" spc="0" normalizeH="0" baseline="0" noProof="0" dirty="0" err="1">
                <a:ln>
                  <a:noFill/>
                </a:ln>
                <a:solidFill>
                  <a:srgbClr val="677180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SỐ</a:t>
            </a:r>
            <a:r>
              <a:rPr kumimoji="0" sz="819" b="0" i="0" u="none" strike="noStrike" kern="1200" cap="none" spc="0" normalizeH="0" baseline="0" noProof="0" dirty="0">
                <a:ln>
                  <a:noFill/>
                </a:ln>
                <a:solidFill>
                  <a:srgbClr val="677180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 </a:t>
            </a:r>
            <a:r>
              <a:rPr kumimoji="0" sz="819" b="0" i="0" u="none" strike="noStrike" kern="1200" cap="none" spc="0" normalizeH="0" baseline="0" noProof="0" dirty="0" err="1">
                <a:ln>
                  <a:noFill/>
                </a:ln>
                <a:solidFill>
                  <a:srgbClr val="677180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HÓA</a:t>
            </a:r>
            <a:r>
              <a:rPr kumimoji="0" sz="819" b="0" i="0" u="none" strike="noStrike" kern="1200" cap="none" spc="0" normalizeH="0" baseline="0" noProof="0" dirty="0">
                <a:ln>
                  <a:noFill/>
                </a:ln>
                <a:solidFill>
                  <a:srgbClr val="677180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 HỒ </a:t>
            </a:r>
            <a:r>
              <a:rPr kumimoji="0" sz="819" b="0" i="0" u="none" strike="noStrike" kern="1200" cap="none" spc="0" normalizeH="0" baseline="0" noProof="0" dirty="0" err="1">
                <a:ln>
                  <a:noFill/>
                </a:ln>
                <a:solidFill>
                  <a:srgbClr val="677180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SƠ</a:t>
            </a:r>
            <a:endParaRPr kumimoji="0" sz="819" b="0" i="0" u="none" strike="noStrike" kern="1200" cap="none" spc="0" normalizeH="0" baseline="0" noProof="0" dirty="0">
              <a:ln>
                <a:noFill/>
              </a:ln>
              <a:solidFill>
                <a:srgbClr val="677180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393198" y="6455664"/>
            <a:ext cx="338554" cy="2385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50" b="1">
                <a:solidFill>
                  <a:srgbClr val="051F71"/>
                </a:solidFill>
                <a:latin typeface="Arial"/>
              </a:defRPr>
            </a:pPr>
            <a:r>
              <a:rPr kumimoji="0" sz="950" b="1" i="0" u="none" strike="noStrike" kern="1200" cap="none" spc="0" normalizeH="0" baseline="0" noProof="0" dirty="0">
                <a:ln>
                  <a:noFill/>
                </a:ln>
                <a:solidFill>
                  <a:srgbClr val="051F71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28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14842" y="120458"/>
            <a:ext cx="11913839" cy="50013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650" b="1">
                <a:solidFill>
                  <a:srgbClr val="051F71"/>
                </a:solidFill>
                <a:latin typeface="Arial Narrow"/>
              </a:defRPr>
            </a:pPr>
            <a:r>
              <a:rPr kumimoji="0" lang="en-US" sz="2650" b="1" i="0" u="none" strike="noStrike" kern="1200" cap="none" spc="0" normalizeH="0" baseline="0" noProof="0" dirty="0">
                <a:ln>
                  <a:noFill/>
                </a:ln>
                <a:solidFill>
                  <a:srgbClr val="051F71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11. </a:t>
            </a:r>
            <a:r>
              <a:rPr kumimoji="0" sz="2650" b="1" i="0" u="none" strike="noStrike" kern="1200" cap="none" spc="0" normalizeH="0" baseline="0" noProof="0" dirty="0" err="1">
                <a:ln>
                  <a:noFill/>
                </a:ln>
                <a:solidFill>
                  <a:srgbClr val="051F71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SỐ</a:t>
            </a:r>
            <a:r>
              <a:rPr kumimoji="0" sz="2650" b="1" i="0" u="none" strike="noStrike" kern="1200" cap="none" spc="0" normalizeH="0" baseline="0" noProof="0" dirty="0">
                <a:ln>
                  <a:noFill/>
                </a:ln>
                <a:solidFill>
                  <a:srgbClr val="051F71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 </a:t>
            </a:r>
            <a:r>
              <a:rPr kumimoji="0" sz="2650" b="1" i="0" u="none" strike="noStrike" kern="1200" cap="none" spc="0" normalizeH="0" baseline="0" noProof="0" dirty="0" err="1">
                <a:ln>
                  <a:noFill/>
                </a:ln>
                <a:solidFill>
                  <a:srgbClr val="051F71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HÓA</a:t>
            </a:r>
            <a:r>
              <a:rPr kumimoji="0" sz="2650" b="1" i="0" u="none" strike="noStrike" kern="1200" cap="none" spc="0" normalizeH="0" baseline="0" noProof="0" dirty="0">
                <a:ln>
                  <a:noFill/>
                </a:ln>
                <a:solidFill>
                  <a:srgbClr val="051F71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 HỒ </a:t>
            </a:r>
            <a:r>
              <a:rPr kumimoji="0" sz="2650" b="1" i="0" u="none" strike="noStrike" kern="1200" cap="none" spc="0" normalizeH="0" baseline="0" noProof="0" dirty="0" err="1">
                <a:ln>
                  <a:noFill/>
                </a:ln>
                <a:solidFill>
                  <a:srgbClr val="051F71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SƠ</a:t>
            </a:r>
            <a:r>
              <a:rPr kumimoji="0" sz="2650" b="1" i="0" u="none" strike="noStrike" kern="1200" cap="none" spc="0" normalizeH="0" baseline="0" noProof="0" dirty="0">
                <a:ln>
                  <a:noFill/>
                </a:ln>
                <a:solidFill>
                  <a:srgbClr val="051F71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 CÔNG ĐOÀN – “</a:t>
            </a:r>
            <a:r>
              <a:rPr kumimoji="0" sz="2650" b="1" i="0" u="none" strike="noStrike" kern="1200" cap="none" spc="0" normalizeH="0" baseline="0" noProof="0" dirty="0" err="1">
                <a:ln>
                  <a:noFill/>
                </a:ln>
                <a:solidFill>
                  <a:srgbClr val="051F71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MỘT</a:t>
            </a:r>
            <a:r>
              <a:rPr kumimoji="0" sz="2650" b="1" i="0" u="none" strike="noStrike" kern="1200" cap="none" spc="0" normalizeH="0" baseline="0" noProof="0" dirty="0">
                <a:ln>
                  <a:noFill/>
                </a:ln>
                <a:solidFill>
                  <a:srgbClr val="051F71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 </a:t>
            </a:r>
            <a:r>
              <a:rPr kumimoji="0" sz="2650" b="1" i="0" u="none" strike="noStrike" kern="1200" cap="none" spc="0" normalizeH="0" baseline="0" noProof="0" dirty="0" err="1">
                <a:ln>
                  <a:noFill/>
                </a:ln>
                <a:solidFill>
                  <a:srgbClr val="051F71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NGUỒN</a:t>
            </a:r>
            <a:r>
              <a:rPr kumimoji="0" sz="2650" b="1" i="0" u="none" strike="noStrike" kern="1200" cap="none" spc="0" normalizeH="0" baseline="0" noProof="0" dirty="0">
                <a:ln>
                  <a:noFill/>
                </a:ln>
                <a:solidFill>
                  <a:srgbClr val="051F71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 </a:t>
            </a:r>
            <a:r>
              <a:rPr kumimoji="0" sz="2650" b="1" i="0" u="none" strike="noStrike" kern="1200" cap="none" spc="0" normalizeH="0" baseline="0" noProof="0" dirty="0" err="1">
                <a:ln>
                  <a:noFill/>
                </a:ln>
                <a:solidFill>
                  <a:srgbClr val="051F71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DỮ</a:t>
            </a:r>
            <a:r>
              <a:rPr kumimoji="0" sz="2650" b="1" i="0" u="none" strike="noStrike" kern="1200" cap="none" spc="0" normalizeH="0" baseline="0" noProof="0" dirty="0">
                <a:ln>
                  <a:noFill/>
                </a:ln>
                <a:solidFill>
                  <a:srgbClr val="051F71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 LIỆU DUY </a:t>
            </a:r>
            <a:r>
              <a:rPr kumimoji="0" sz="2650" b="1" i="0" u="none" strike="noStrike" kern="1200" cap="none" spc="0" normalizeH="0" baseline="0" noProof="0" dirty="0" err="1">
                <a:ln>
                  <a:noFill/>
                </a:ln>
                <a:solidFill>
                  <a:srgbClr val="051F71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NHẤT</a:t>
            </a:r>
            <a:r>
              <a:rPr kumimoji="0" sz="2650" b="1" i="0" u="none" strike="noStrike" kern="1200" cap="none" spc="0" normalizeH="0" baseline="0" noProof="0" dirty="0">
                <a:ln>
                  <a:noFill/>
                </a:ln>
                <a:solidFill>
                  <a:srgbClr val="051F71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”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0352" y="1554480"/>
            <a:ext cx="2624328" cy="1865376"/>
          </a:xfrm>
          <a:prstGeom prst="roundRect">
            <a:avLst/>
          </a:prstGeom>
          <a:solidFill>
            <a:srgbClr val="FFFFFF"/>
          </a:solidFill>
          <a:ln>
            <a:solidFill>
              <a:srgbClr val="D9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  <p:sp>
        <p:nvSpPr>
          <p:cNvPr id="10" name="Oval 9"/>
          <p:cNvSpPr/>
          <p:nvPr/>
        </p:nvSpPr>
        <p:spPr>
          <a:xfrm>
            <a:off x="694944" y="1700784"/>
            <a:ext cx="402336" cy="402336"/>
          </a:xfrm>
          <a:prstGeom prst="ellipse">
            <a:avLst/>
          </a:prstGeom>
          <a:solidFill>
            <a:srgbClr val="051F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94944" y="1783080"/>
            <a:ext cx="402336" cy="227755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80" b="1">
                <a:solidFill>
                  <a:srgbClr val="FFFFFF"/>
                </a:solidFill>
                <a:latin typeface="Arial"/>
              </a:defRPr>
            </a:pPr>
            <a:r>
              <a:rPr kumimoji="0" sz="88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19" y="1682495"/>
            <a:ext cx="1801368" cy="26161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00" b="1">
                <a:solidFill>
                  <a:srgbClr val="051F71"/>
                </a:solidFill>
                <a:latin typeface="Arial"/>
              </a:defRPr>
            </a:pPr>
            <a:r>
              <a:rPr kumimoji="0" sz="1100" b="1" i="0" u="none" strike="noStrike" kern="1200" cap="none" spc="0" normalizeH="0" baseline="0" noProof="0" dirty="0">
                <a:ln>
                  <a:noFill/>
                </a:ln>
                <a:solidFill>
                  <a:srgbClr val="051F71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HỒ </a:t>
            </a:r>
            <a:r>
              <a:rPr kumimoji="0" sz="1100" b="1" i="0" u="none" strike="noStrike" kern="1200" cap="none" spc="0" normalizeH="0" baseline="0" noProof="0" dirty="0" err="1">
                <a:ln>
                  <a:noFill/>
                </a:ln>
                <a:solidFill>
                  <a:srgbClr val="051F71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SƠ</a:t>
            </a:r>
            <a:r>
              <a:rPr kumimoji="0" sz="1100" b="1" i="0" u="none" strike="noStrike" kern="1200" cap="none" spc="0" normalizeH="0" baseline="0" noProof="0" dirty="0">
                <a:ln>
                  <a:noFill/>
                </a:ln>
                <a:solidFill>
                  <a:srgbClr val="051F71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 ĐOÀN VIÊN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6755" y="2050773"/>
            <a:ext cx="2185416" cy="1169551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lvl="0">
              <a:defRPr sz="860" b="0">
                <a:solidFill>
                  <a:srgbClr val="202838"/>
                </a:solidFill>
                <a:latin typeface="Arial"/>
              </a:defRPr>
            </a:pPr>
            <a:r>
              <a:rPr lang="vi-VN" sz="1400" dirty="0">
                <a:solidFill>
                  <a:srgbClr val="202838"/>
                </a:solidFill>
                <a:latin typeface="Tahoma" panose="020B0604030504040204" pitchFamily="34" charset="0"/>
              </a:rPr>
              <a:t>• 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202838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Thông tin </a:t>
            </a:r>
            <a:r>
              <a:rPr kumimoji="0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202838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đoàn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202838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 </a:t>
            </a:r>
            <a:r>
              <a:rPr kumimoji="0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202838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viên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202838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 </a:t>
            </a:r>
            <a:endParaRPr kumimoji="0" lang="vi-VN" sz="1400" b="0" i="0" u="none" strike="noStrike" kern="1200" cap="none" spc="0" normalizeH="0" baseline="0" noProof="0" dirty="0">
              <a:ln>
                <a:noFill/>
              </a:ln>
              <a:solidFill>
                <a:srgbClr val="202838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60" b="0">
                <a:solidFill>
                  <a:srgbClr val="202838"/>
                </a:solidFill>
                <a:latin typeface="Arial"/>
              </a:defRPr>
            </a:pP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202838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• </a:t>
            </a:r>
            <a:r>
              <a:rPr kumimoji="0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202838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CĐCS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202838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 </a:t>
            </a:r>
            <a:endParaRPr kumimoji="0" lang="vi-VN" sz="1400" b="0" i="0" u="none" strike="noStrike" kern="1200" cap="none" spc="0" normalizeH="0" baseline="0" noProof="0" dirty="0">
              <a:ln>
                <a:noFill/>
              </a:ln>
              <a:solidFill>
                <a:srgbClr val="202838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60" b="0">
                <a:solidFill>
                  <a:srgbClr val="202838"/>
                </a:solidFill>
                <a:latin typeface="Arial"/>
              </a:defRPr>
            </a:pP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202838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• </a:t>
            </a:r>
            <a:r>
              <a:rPr kumimoji="0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202838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chức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202838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 </a:t>
            </a:r>
            <a:r>
              <a:rPr kumimoji="0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202838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danh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202838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 </a:t>
            </a:r>
            <a:endParaRPr kumimoji="0" lang="vi-VN" sz="1400" b="0" i="0" u="none" strike="noStrike" kern="1200" cap="none" spc="0" normalizeH="0" baseline="0" noProof="0" dirty="0">
              <a:ln>
                <a:noFill/>
              </a:ln>
              <a:solidFill>
                <a:srgbClr val="202838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60" b="0">
                <a:solidFill>
                  <a:srgbClr val="202838"/>
                </a:solidFill>
                <a:latin typeface="Arial"/>
              </a:defRPr>
            </a:pP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202838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• </a:t>
            </a:r>
            <a:r>
              <a:rPr kumimoji="0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202838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ngày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202838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 </a:t>
            </a:r>
            <a:r>
              <a:rPr kumimoji="0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202838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gia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202838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 </a:t>
            </a:r>
            <a:r>
              <a:rPr kumimoji="0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202838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nhập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202838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 </a:t>
            </a:r>
            <a:endParaRPr kumimoji="0" lang="vi-VN" sz="1400" b="0" i="0" u="none" strike="noStrike" kern="1200" cap="none" spc="0" normalizeH="0" baseline="0" noProof="0" dirty="0">
              <a:ln>
                <a:noFill/>
              </a:ln>
              <a:solidFill>
                <a:srgbClr val="202838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60" b="0">
                <a:solidFill>
                  <a:srgbClr val="202838"/>
                </a:solidFill>
                <a:latin typeface="Arial"/>
              </a:defRPr>
            </a:pP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202838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• </a:t>
            </a:r>
            <a:r>
              <a:rPr kumimoji="0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202838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trạng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202838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 </a:t>
            </a:r>
            <a:r>
              <a:rPr kumimoji="0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202838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thái</a:t>
            </a:r>
            <a:endParaRPr kumimoji="0" sz="1400" b="0" i="0" u="none" strike="noStrike" kern="1200" cap="none" spc="0" normalizeH="0" baseline="0" noProof="0" dirty="0">
              <a:ln>
                <a:noFill/>
              </a:ln>
              <a:solidFill>
                <a:srgbClr val="202838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3429000" y="1554480"/>
            <a:ext cx="2624328" cy="1865376"/>
          </a:xfrm>
          <a:prstGeom prst="roundRect">
            <a:avLst/>
          </a:prstGeom>
          <a:solidFill>
            <a:srgbClr val="FFFFFF"/>
          </a:solidFill>
          <a:ln>
            <a:solidFill>
              <a:srgbClr val="D9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  <p:sp>
        <p:nvSpPr>
          <p:cNvPr id="15" name="Oval 14"/>
          <p:cNvSpPr/>
          <p:nvPr/>
        </p:nvSpPr>
        <p:spPr>
          <a:xfrm>
            <a:off x="3593592" y="1700784"/>
            <a:ext cx="402336" cy="402336"/>
          </a:xfrm>
          <a:prstGeom prst="ellipse">
            <a:avLst/>
          </a:prstGeom>
          <a:solidFill>
            <a:srgbClr val="118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3593592" y="1783080"/>
            <a:ext cx="402336" cy="227755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80" b="1">
                <a:solidFill>
                  <a:srgbClr val="FFFFFF"/>
                </a:solidFill>
                <a:latin typeface="Arial"/>
              </a:defRPr>
            </a:pPr>
            <a:r>
              <a:rPr kumimoji="0" sz="88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87368" y="1682495"/>
            <a:ext cx="1801368" cy="26161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00" b="1">
                <a:solidFill>
                  <a:srgbClr val="118F91"/>
                </a:solidFill>
                <a:latin typeface="Arial"/>
              </a:defRPr>
            </a:pPr>
            <a:r>
              <a:rPr kumimoji="0" sz="1100" b="1" i="0" u="none" strike="noStrike" kern="1200" cap="none" spc="0" normalizeH="0" baseline="0" noProof="0" dirty="0">
                <a:ln>
                  <a:noFill/>
                </a:ln>
                <a:solidFill>
                  <a:srgbClr val="118F91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HỒ </a:t>
            </a:r>
            <a:r>
              <a:rPr kumimoji="0" sz="1100" b="1" i="0" u="none" strike="noStrike" kern="1200" cap="none" spc="0" normalizeH="0" baseline="0" noProof="0" dirty="0" err="1">
                <a:ln>
                  <a:noFill/>
                </a:ln>
                <a:solidFill>
                  <a:srgbClr val="118F91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SƠ</a:t>
            </a:r>
            <a:r>
              <a:rPr kumimoji="0" sz="1100" b="1" i="0" u="none" strike="noStrike" kern="1200" cap="none" spc="0" normalizeH="0" baseline="0" noProof="0" dirty="0">
                <a:ln>
                  <a:noFill/>
                </a:ln>
                <a:solidFill>
                  <a:srgbClr val="118F91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 BCH / </a:t>
            </a:r>
            <a:r>
              <a:rPr kumimoji="0" sz="1100" b="1" i="0" u="none" strike="noStrike" kern="1200" cap="none" spc="0" normalizeH="0" baseline="0" noProof="0" dirty="0" err="1">
                <a:ln>
                  <a:noFill/>
                </a:ln>
                <a:solidFill>
                  <a:srgbClr val="118F91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CĐCS</a:t>
            </a:r>
            <a:endParaRPr kumimoji="0" sz="1100" b="1" i="0" u="none" strike="noStrike" kern="1200" cap="none" spc="0" normalizeH="0" baseline="0" noProof="0" dirty="0">
              <a:ln>
                <a:noFill/>
              </a:ln>
              <a:solidFill>
                <a:srgbClr val="118F91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3975354" y="1991909"/>
            <a:ext cx="2185416" cy="1169551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lvl="0">
              <a:defRPr sz="860" b="0">
                <a:solidFill>
                  <a:srgbClr val="202838"/>
                </a:solidFill>
                <a:latin typeface="Arial"/>
              </a:defRPr>
            </a:pPr>
            <a:r>
              <a:rPr lang="vi-VN" sz="1400" dirty="0">
                <a:solidFill>
                  <a:srgbClr val="202838"/>
                </a:solidFill>
                <a:latin typeface="Tahoma" panose="020B0604030504040204" pitchFamily="34" charset="0"/>
              </a:rPr>
              <a:t>• 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202838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Danh </a:t>
            </a:r>
            <a:r>
              <a:rPr kumimoji="0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202838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sách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202838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 BCH </a:t>
            </a:r>
            <a:endParaRPr kumimoji="0" lang="vi-VN" sz="1400" b="0" i="0" u="none" strike="noStrike" kern="1200" cap="none" spc="0" normalizeH="0" baseline="0" noProof="0" dirty="0">
              <a:ln>
                <a:noFill/>
              </a:ln>
              <a:solidFill>
                <a:srgbClr val="202838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60" b="0">
                <a:solidFill>
                  <a:srgbClr val="202838"/>
                </a:solidFill>
                <a:latin typeface="Arial"/>
              </a:defRPr>
            </a:pP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202838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• </a:t>
            </a:r>
            <a:r>
              <a:rPr kumimoji="0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202838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nhiệm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202838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 </a:t>
            </a:r>
            <a:r>
              <a:rPr kumimoji="0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202838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kỳ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202838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 </a:t>
            </a:r>
            <a:endParaRPr kumimoji="0" lang="vi-VN" sz="1400" b="0" i="0" u="none" strike="noStrike" kern="1200" cap="none" spc="0" normalizeH="0" baseline="0" noProof="0" dirty="0">
              <a:ln>
                <a:noFill/>
              </a:ln>
              <a:solidFill>
                <a:srgbClr val="202838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60" b="0">
                <a:solidFill>
                  <a:srgbClr val="202838"/>
                </a:solidFill>
                <a:latin typeface="Arial"/>
              </a:defRPr>
            </a:pP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202838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• </a:t>
            </a:r>
            <a:r>
              <a:rPr kumimoji="0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202838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quyết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202838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 </a:t>
            </a:r>
            <a:r>
              <a:rPr kumimoji="0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202838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định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202838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 </a:t>
            </a:r>
            <a:endParaRPr kumimoji="0" lang="vi-VN" sz="1400" b="0" i="0" u="none" strike="noStrike" kern="1200" cap="none" spc="0" normalizeH="0" baseline="0" noProof="0" dirty="0">
              <a:ln>
                <a:noFill/>
              </a:ln>
              <a:solidFill>
                <a:srgbClr val="202838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60" b="0">
                <a:solidFill>
                  <a:srgbClr val="202838"/>
                </a:solidFill>
                <a:latin typeface="Arial"/>
              </a:defRPr>
            </a:pP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202838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• </a:t>
            </a:r>
            <a:r>
              <a:rPr kumimoji="0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202838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tình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202838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 </a:t>
            </a:r>
            <a:r>
              <a:rPr kumimoji="0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202838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trạng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202838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 </a:t>
            </a:r>
            <a:r>
              <a:rPr kumimoji="0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202838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pháp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202838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 </a:t>
            </a:r>
            <a:r>
              <a:rPr kumimoji="0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202838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lý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202838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 </a:t>
            </a:r>
            <a:endParaRPr kumimoji="0" lang="vi-VN" sz="1400" b="0" i="0" u="none" strike="noStrike" kern="1200" cap="none" spc="0" normalizeH="0" baseline="0" noProof="0" dirty="0">
              <a:ln>
                <a:noFill/>
              </a:ln>
              <a:solidFill>
                <a:srgbClr val="202838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60" b="0">
                <a:solidFill>
                  <a:srgbClr val="202838"/>
                </a:solidFill>
                <a:latin typeface="Arial"/>
              </a:defRPr>
            </a:pP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202838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• </a:t>
            </a:r>
            <a:r>
              <a:rPr kumimoji="0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202838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đầu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202838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 </a:t>
            </a:r>
            <a:r>
              <a:rPr kumimoji="0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202838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mối</a:t>
            </a:r>
            <a:endParaRPr kumimoji="0" sz="1400" b="0" i="0" u="none" strike="noStrike" kern="1200" cap="none" spc="0" normalizeH="0" baseline="0" noProof="0" dirty="0">
              <a:ln>
                <a:noFill/>
              </a:ln>
              <a:solidFill>
                <a:srgbClr val="202838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6327648" y="1554480"/>
            <a:ext cx="2624328" cy="1865376"/>
          </a:xfrm>
          <a:prstGeom prst="roundRect">
            <a:avLst/>
          </a:prstGeom>
          <a:solidFill>
            <a:srgbClr val="FFFFFF"/>
          </a:solidFill>
          <a:ln>
            <a:solidFill>
              <a:srgbClr val="D9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  <p:sp>
        <p:nvSpPr>
          <p:cNvPr id="20" name="Oval 19"/>
          <p:cNvSpPr/>
          <p:nvPr/>
        </p:nvSpPr>
        <p:spPr>
          <a:xfrm>
            <a:off x="6492240" y="1700784"/>
            <a:ext cx="402336" cy="402336"/>
          </a:xfrm>
          <a:prstGeom prst="ellipse">
            <a:avLst/>
          </a:prstGeom>
          <a:solidFill>
            <a:srgbClr val="E87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492240" y="1783080"/>
            <a:ext cx="402336" cy="227755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80" b="1">
                <a:solidFill>
                  <a:srgbClr val="FFFFFF"/>
                </a:solidFill>
                <a:latin typeface="Arial"/>
              </a:defRPr>
            </a:pPr>
            <a:r>
              <a:rPr kumimoji="0" sz="88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86016" y="1682495"/>
            <a:ext cx="1801368" cy="26161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00" b="1">
                <a:solidFill>
                  <a:srgbClr val="E87823"/>
                </a:solidFill>
                <a:latin typeface="Arial"/>
              </a:defRPr>
            </a:pPr>
            <a:r>
              <a:rPr kumimoji="0" sz="1100" b="1" i="0" u="none" strike="noStrike" kern="1200" cap="none" spc="0" normalizeH="0" baseline="0" noProof="0" dirty="0" err="1">
                <a:ln>
                  <a:noFill/>
                </a:ln>
                <a:solidFill>
                  <a:srgbClr val="E87823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CHĂM</a:t>
            </a:r>
            <a:r>
              <a:rPr kumimoji="0" sz="1100" b="1" i="0" u="none" strike="noStrike" kern="1200" cap="none" spc="0" normalizeH="0" baseline="0" noProof="0" dirty="0">
                <a:ln>
                  <a:noFill/>
                </a:ln>
                <a:solidFill>
                  <a:srgbClr val="E87823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 LO &amp; CHÍNH </a:t>
            </a:r>
            <a:r>
              <a:rPr kumimoji="0" sz="1100" b="1" i="0" u="none" strike="noStrike" kern="1200" cap="none" spc="0" normalizeH="0" baseline="0" noProof="0" dirty="0" err="1">
                <a:ln>
                  <a:noFill/>
                </a:ln>
                <a:solidFill>
                  <a:srgbClr val="E87823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SÁCH</a:t>
            </a:r>
            <a:endParaRPr kumimoji="0" sz="1100" b="1" i="0" u="none" strike="noStrike" kern="1200" cap="none" spc="0" normalizeH="0" baseline="0" noProof="0" dirty="0">
              <a:ln>
                <a:noFill/>
              </a:ln>
              <a:solidFill>
                <a:srgbClr val="E87823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958584" y="2034807"/>
            <a:ext cx="2185416" cy="1169551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lvl="0">
              <a:defRPr sz="860" b="0">
                <a:solidFill>
                  <a:srgbClr val="202838"/>
                </a:solidFill>
                <a:latin typeface="Arial"/>
              </a:defRPr>
            </a:pPr>
            <a:r>
              <a:rPr lang="vi-VN" sz="1400" dirty="0">
                <a:solidFill>
                  <a:srgbClr val="202838"/>
                </a:solidFill>
                <a:latin typeface="Tahoma" panose="020B0604030504040204" pitchFamily="34" charset="0"/>
              </a:rPr>
              <a:t>• </a:t>
            </a:r>
            <a:r>
              <a:rPr kumimoji="0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202838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Hiếu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202838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 </a:t>
            </a:r>
            <a:r>
              <a:rPr kumimoji="0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202838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hỷ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202838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 </a:t>
            </a:r>
            <a:endParaRPr kumimoji="0" lang="vi-VN" sz="1400" b="0" i="0" u="none" strike="noStrike" kern="1200" cap="none" spc="0" normalizeH="0" baseline="0" noProof="0" dirty="0">
              <a:ln>
                <a:noFill/>
              </a:ln>
              <a:solidFill>
                <a:srgbClr val="202838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60" b="0">
                <a:solidFill>
                  <a:srgbClr val="202838"/>
                </a:solidFill>
                <a:latin typeface="Arial"/>
              </a:defRPr>
            </a:pP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202838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• </a:t>
            </a:r>
            <a:r>
              <a:rPr kumimoji="0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202838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sinh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202838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 </a:t>
            </a:r>
            <a:r>
              <a:rPr kumimoji="0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202838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nhật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202838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 </a:t>
            </a:r>
            <a:endParaRPr kumimoji="0" lang="vi-VN" sz="1400" b="0" i="0" u="none" strike="noStrike" kern="1200" cap="none" spc="0" normalizeH="0" baseline="0" noProof="0" dirty="0">
              <a:ln>
                <a:noFill/>
              </a:ln>
              <a:solidFill>
                <a:srgbClr val="202838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60" b="0">
                <a:solidFill>
                  <a:srgbClr val="202838"/>
                </a:solidFill>
                <a:latin typeface="Arial"/>
              </a:defRPr>
            </a:pP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202838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• </a:t>
            </a:r>
            <a:r>
              <a:rPr kumimoji="0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202838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thăm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202838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 </a:t>
            </a:r>
            <a:r>
              <a:rPr kumimoji="0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202838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hỏi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202838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 </a:t>
            </a:r>
            <a:endParaRPr kumimoji="0" lang="vi-VN" sz="1400" b="0" i="0" u="none" strike="noStrike" kern="1200" cap="none" spc="0" normalizeH="0" baseline="0" noProof="0" dirty="0">
              <a:ln>
                <a:noFill/>
              </a:ln>
              <a:solidFill>
                <a:srgbClr val="202838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60" b="0">
                <a:solidFill>
                  <a:srgbClr val="202838"/>
                </a:solidFill>
                <a:latin typeface="Arial"/>
              </a:defRPr>
            </a:pP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202838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• </a:t>
            </a:r>
            <a:r>
              <a:rPr kumimoji="0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202838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sinh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202838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 con </a:t>
            </a:r>
            <a:endParaRPr kumimoji="0" lang="vi-VN" sz="1400" b="0" i="0" u="none" strike="noStrike" kern="1200" cap="none" spc="0" normalizeH="0" baseline="0" noProof="0" dirty="0">
              <a:ln>
                <a:noFill/>
              </a:ln>
              <a:solidFill>
                <a:srgbClr val="202838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60" b="0">
                <a:solidFill>
                  <a:srgbClr val="202838"/>
                </a:solidFill>
                <a:latin typeface="Arial"/>
              </a:defRPr>
            </a:pP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202838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• </a:t>
            </a:r>
            <a:r>
              <a:rPr kumimoji="0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202838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hỗ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202838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 </a:t>
            </a:r>
            <a:r>
              <a:rPr kumimoji="0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202838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trợ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202838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 </a:t>
            </a:r>
            <a:r>
              <a:rPr kumimoji="0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202838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khó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202838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 </a:t>
            </a:r>
            <a:r>
              <a:rPr kumimoji="0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202838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khăn</a:t>
            </a:r>
            <a:endParaRPr kumimoji="0" sz="1400" b="0" i="0" u="none" strike="noStrike" kern="1200" cap="none" spc="0" normalizeH="0" baseline="0" noProof="0" dirty="0">
              <a:ln>
                <a:noFill/>
              </a:ln>
              <a:solidFill>
                <a:srgbClr val="202838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9226296" y="1554480"/>
            <a:ext cx="2624328" cy="1865376"/>
          </a:xfrm>
          <a:prstGeom prst="roundRect">
            <a:avLst/>
          </a:prstGeom>
          <a:solidFill>
            <a:srgbClr val="FFFFFF"/>
          </a:solidFill>
          <a:ln>
            <a:solidFill>
              <a:srgbClr val="D9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  <p:sp>
        <p:nvSpPr>
          <p:cNvPr id="25" name="Oval 24"/>
          <p:cNvSpPr/>
          <p:nvPr/>
        </p:nvSpPr>
        <p:spPr>
          <a:xfrm>
            <a:off x="9390888" y="1700784"/>
            <a:ext cx="402336" cy="402336"/>
          </a:xfrm>
          <a:prstGeom prst="ellipse">
            <a:avLst/>
          </a:prstGeom>
          <a:solidFill>
            <a:srgbClr val="2E6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9390888" y="1783080"/>
            <a:ext cx="402336" cy="227755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80" b="1">
                <a:solidFill>
                  <a:srgbClr val="FFFFFF"/>
                </a:solidFill>
                <a:latin typeface="Arial"/>
              </a:defRPr>
            </a:pPr>
            <a:r>
              <a:rPr kumimoji="0" sz="88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884664" y="1682495"/>
            <a:ext cx="1801367" cy="26161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00" b="1">
                <a:solidFill>
                  <a:srgbClr val="2E63DC"/>
                </a:solidFill>
                <a:latin typeface="Arial"/>
              </a:defRPr>
            </a:pPr>
            <a:r>
              <a:rPr kumimoji="0" sz="1100" b="1" i="0" u="none" strike="noStrike" kern="1200" cap="none" spc="0" normalizeH="0" baseline="0" noProof="0" dirty="0" err="1">
                <a:ln>
                  <a:noFill/>
                </a:ln>
                <a:solidFill>
                  <a:srgbClr val="2E63DC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KIẾN</a:t>
            </a:r>
            <a:r>
              <a:rPr kumimoji="0" sz="1100" b="1" i="0" u="none" strike="noStrike" kern="1200" cap="none" spc="0" normalizeH="0" baseline="0" noProof="0" dirty="0">
                <a:ln>
                  <a:noFill/>
                </a:ln>
                <a:solidFill>
                  <a:srgbClr val="2E63DC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 </a:t>
            </a:r>
            <a:r>
              <a:rPr kumimoji="0" sz="1100" b="1" i="0" u="none" strike="noStrike" kern="1200" cap="none" spc="0" normalizeH="0" baseline="0" noProof="0" dirty="0" err="1">
                <a:ln>
                  <a:noFill/>
                </a:ln>
                <a:solidFill>
                  <a:srgbClr val="2E63DC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NGHỊ</a:t>
            </a:r>
            <a:r>
              <a:rPr kumimoji="0" sz="1100" b="1" i="0" u="none" strike="noStrike" kern="1200" cap="none" spc="0" normalizeH="0" baseline="0" noProof="0" dirty="0">
                <a:ln>
                  <a:noFill/>
                </a:ln>
                <a:solidFill>
                  <a:srgbClr val="2E63DC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 / </a:t>
            </a:r>
            <a:r>
              <a:rPr kumimoji="0" sz="1100" b="1" i="0" u="none" strike="noStrike" kern="1200" cap="none" spc="0" normalizeH="0" baseline="0" noProof="0" dirty="0" err="1">
                <a:ln>
                  <a:noFill/>
                </a:ln>
                <a:solidFill>
                  <a:srgbClr val="2E63DC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VỤ</a:t>
            </a:r>
            <a:r>
              <a:rPr kumimoji="0" sz="1100" b="1" i="0" u="none" strike="noStrike" kern="1200" cap="none" spc="0" normalizeH="0" baseline="0" noProof="0" dirty="0">
                <a:ln>
                  <a:noFill/>
                </a:ln>
                <a:solidFill>
                  <a:srgbClr val="2E63DC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 </a:t>
            </a:r>
            <a:r>
              <a:rPr kumimoji="0" sz="1100" b="1" i="0" u="none" strike="noStrike" kern="1200" cap="none" spc="0" normalizeH="0" baseline="0" noProof="0" dirty="0" err="1">
                <a:ln>
                  <a:noFill/>
                </a:ln>
                <a:solidFill>
                  <a:srgbClr val="2E63DC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VIỆC</a:t>
            </a:r>
            <a:endParaRPr kumimoji="0" sz="1100" b="1" i="0" u="none" strike="noStrike" kern="1200" cap="none" spc="0" normalizeH="0" baseline="0" noProof="0" dirty="0">
              <a:ln>
                <a:noFill/>
              </a:ln>
              <a:solidFill>
                <a:srgbClr val="2E63DC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9880092" y="1939254"/>
            <a:ext cx="2185416" cy="1384995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lvl="0">
              <a:defRPr sz="860" b="0">
                <a:solidFill>
                  <a:srgbClr val="202838"/>
                </a:solidFill>
                <a:latin typeface="Arial"/>
              </a:defRPr>
            </a:pPr>
            <a:r>
              <a:rPr lang="vi-VN" sz="1400" dirty="0">
                <a:solidFill>
                  <a:srgbClr val="202838"/>
                </a:solidFill>
                <a:latin typeface="Tahoma" panose="020B0604030504040204" pitchFamily="34" charset="0"/>
              </a:rPr>
              <a:t>• </a:t>
            </a:r>
            <a:r>
              <a:rPr kumimoji="0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202838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Tiếp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202838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 </a:t>
            </a:r>
            <a:r>
              <a:rPr kumimoji="0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202838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nhận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202838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 </a:t>
            </a:r>
            <a:endParaRPr kumimoji="0" lang="vi-VN" sz="1400" b="0" i="0" u="none" strike="noStrike" kern="1200" cap="none" spc="0" normalizeH="0" baseline="0" noProof="0" dirty="0">
              <a:ln>
                <a:noFill/>
              </a:ln>
              <a:solidFill>
                <a:srgbClr val="202838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60" b="0">
                <a:solidFill>
                  <a:srgbClr val="202838"/>
                </a:solidFill>
                <a:latin typeface="Arial"/>
              </a:defRPr>
            </a:pP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202838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• </a:t>
            </a:r>
            <a:r>
              <a:rPr kumimoji="0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202838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phân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202838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 </a:t>
            </a:r>
            <a:r>
              <a:rPr kumimoji="0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202838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loại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202838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 </a:t>
            </a:r>
            <a:endParaRPr kumimoji="0" lang="vi-VN" sz="1400" b="0" i="0" u="none" strike="noStrike" kern="1200" cap="none" spc="0" normalizeH="0" baseline="0" noProof="0" dirty="0">
              <a:ln>
                <a:noFill/>
              </a:ln>
              <a:solidFill>
                <a:srgbClr val="202838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60" b="0">
                <a:solidFill>
                  <a:srgbClr val="202838"/>
                </a:solidFill>
                <a:latin typeface="Arial"/>
              </a:defRPr>
            </a:pP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202838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• PIC </a:t>
            </a:r>
            <a:endParaRPr kumimoji="0" lang="vi-VN" sz="1400" b="0" i="0" u="none" strike="noStrike" kern="1200" cap="none" spc="0" normalizeH="0" baseline="0" noProof="0" dirty="0">
              <a:ln>
                <a:noFill/>
              </a:ln>
              <a:solidFill>
                <a:srgbClr val="202838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60" b="0">
                <a:solidFill>
                  <a:srgbClr val="202838"/>
                </a:solidFill>
                <a:latin typeface="Arial"/>
              </a:defRPr>
            </a:pP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202838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• deadline </a:t>
            </a:r>
            <a:endParaRPr kumimoji="0" lang="vi-VN" sz="1400" b="0" i="0" u="none" strike="noStrike" kern="1200" cap="none" spc="0" normalizeH="0" baseline="0" noProof="0" dirty="0">
              <a:ln>
                <a:noFill/>
              </a:ln>
              <a:solidFill>
                <a:srgbClr val="202838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60" b="0">
                <a:solidFill>
                  <a:srgbClr val="202838"/>
                </a:solidFill>
                <a:latin typeface="Arial"/>
              </a:defRPr>
            </a:pP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202838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• </a:t>
            </a:r>
            <a:r>
              <a:rPr kumimoji="0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202838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trạng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202838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 </a:t>
            </a:r>
            <a:r>
              <a:rPr kumimoji="0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202838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thái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202838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 </a:t>
            </a:r>
            <a:endParaRPr kumimoji="0" lang="vi-VN" sz="1400" b="0" i="0" u="none" strike="noStrike" kern="1200" cap="none" spc="0" normalizeH="0" baseline="0" noProof="0" dirty="0">
              <a:ln>
                <a:noFill/>
              </a:ln>
              <a:solidFill>
                <a:srgbClr val="202838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60" b="0">
                <a:solidFill>
                  <a:srgbClr val="202838"/>
                </a:solidFill>
                <a:latin typeface="Arial"/>
              </a:defRPr>
            </a:pP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202838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• </a:t>
            </a:r>
            <a:r>
              <a:rPr kumimoji="0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202838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phản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202838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 </a:t>
            </a:r>
            <a:r>
              <a:rPr kumimoji="0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202838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hồi</a:t>
            </a:r>
            <a:endParaRPr kumimoji="0" sz="1400" b="0" i="0" u="none" strike="noStrike" kern="1200" cap="none" spc="0" normalizeH="0" baseline="0" noProof="0" dirty="0">
              <a:ln>
                <a:noFill/>
              </a:ln>
              <a:solidFill>
                <a:srgbClr val="202838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530352" y="3794760"/>
            <a:ext cx="2624328" cy="1865376"/>
          </a:xfrm>
          <a:prstGeom prst="roundRect">
            <a:avLst/>
          </a:prstGeom>
          <a:solidFill>
            <a:srgbClr val="FFFFFF"/>
          </a:solidFill>
          <a:ln>
            <a:solidFill>
              <a:srgbClr val="D9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  <p:sp>
        <p:nvSpPr>
          <p:cNvPr id="30" name="Oval 29"/>
          <p:cNvSpPr/>
          <p:nvPr/>
        </p:nvSpPr>
        <p:spPr>
          <a:xfrm>
            <a:off x="694944" y="3941064"/>
            <a:ext cx="402336" cy="402336"/>
          </a:xfrm>
          <a:prstGeom prst="ellipse">
            <a:avLst/>
          </a:prstGeom>
          <a:solidFill>
            <a:srgbClr val="2A97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694944" y="4023360"/>
            <a:ext cx="402336" cy="227755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80" b="1">
                <a:solidFill>
                  <a:srgbClr val="FFFFFF"/>
                </a:solidFill>
                <a:latin typeface="Arial"/>
              </a:defRPr>
            </a:pPr>
            <a:r>
              <a:rPr kumimoji="0" sz="88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88719" y="3922776"/>
            <a:ext cx="1801368" cy="26161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00" b="1">
                <a:solidFill>
                  <a:srgbClr val="2A975D"/>
                </a:solidFill>
                <a:latin typeface="Arial"/>
              </a:defRPr>
            </a:pPr>
            <a:r>
              <a:rPr kumimoji="0" sz="1100" b="1" i="0" u="none" strike="noStrike" kern="1200" cap="none" spc="0" normalizeH="0" baseline="0" noProof="0" dirty="0" err="1">
                <a:ln>
                  <a:noFill/>
                </a:ln>
                <a:solidFill>
                  <a:srgbClr val="2A975D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HOẠT</a:t>
            </a:r>
            <a:r>
              <a:rPr kumimoji="0" sz="1100" b="1" i="0" u="none" strike="noStrike" kern="1200" cap="none" spc="0" normalizeH="0" baseline="0" noProof="0" dirty="0">
                <a:ln>
                  <a:noFill/>
                </a:ln>
                <a:solidFill>
                  <a:srgbClr val="2A975D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 </a:t>
            </a:r>
            <a:r>
              <a:rPr kumimoji="0" sz="1100" b="1" i="0" u="none" strike="noStrike" kern="1200" cap="none" spc="0" normalizeH="0" baseline="0" noProof="0" dirty="0" err="1">
                <a:ln>
                  <a:noFill/>
                </a:ln>
                <a:solidFill>
                  <a:srgbClr val="2A975D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ĐỘNG</a:t>
            </a:r>
            <a:r>
              <a:rPr kumimoji="0" sz="1100" b="1" i="0" u="none" strike="noStrike" kern="1200" cap="none" spc="0" normalizeH="0" baseline="0" noProof="0" dirty="0">
                <a:ln>
                  <a:noFill/>
                </a:ln>
                <a:solidFill>
                  <a:srgbClr val="2A975D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 / </a:t>
            </a:r>
            <a:r>
              <a:rPr kumimoji="0" sz="1100" b="1" i="0" u="none" strike="noStrike" kern="1200" cap="none" spc="0" normalizeH="0" baseline="0" noProof="0" dirty="0" err="1">
                <a:ln>
                  <a:noFill/>
                </a:ln>
                <a:solidFill>
                  <a:srgbClr val="2A975D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SỰ</a:t>
            </a:r>
            <a:r>
              <a:rPr kumimoji="0" sz="1100" b="1" i="0" u="none" strike="noStrike" kern="1200" cap="none" spc="0" normalizeH="0" baseline="0" noProof="0" dirty="0">
                <a:ln>
                  <a:noFill/>
                </a:ln>
                <a:solidFill>
                  <a:srgbClr val="2A975D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 </a:t>
            </a:r>
            <a:r>
              <a:rPr kumimoji="0" sz="1100" b="1" i="0" u="none" strike="noStrike" kern="1200" cap="none" spc="0" normalizeH="0" baseline="0" noProof="0" dirty="0" err="1">
                <a:ln>
                  <a:noFill/>
                </a:ln>
                <a:solidFill>
                  <a:srgbClr val="2A975D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KIỆN</a:t>
            </a:r>
            <a:endParaRPr kumimoji="0" sz="1100" b="1" i="0" u="none" strike="noStrike" kern="1200" cap="none" spc="0" normalizeH="0" baseline="0" noProof="0" dirty="0">
              <a:ln>
                <a:noFill/>
              </a:ln>
              <a:solidFill>
                <a:srgbClr val="2A975D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969264" y="4355815"/>
            <a:ext cx="2185416" cy="1169551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lvl="0">
              <a:defRPr sz="860" b="0">
                <a:solidFill>
                  <a:srgbClr val="202838"/>
                </a:solidFill>
                <a:latin typeface="Arial"/>
              </a:defRPr>
            </a:pPr>
            <a:r>
              <a:rPr lang="vi-VN" sz="1400" dirty="0">
                <a:solidFill>
                  <a:srgbClr val="202838"/>
                </a:solidFill>
                <a:latin typeface="Tahoma" panose="020B0604030504040204" pitchFamily="34" charset="0"/>
              </a:rPr>
              <a:t>• </a:t>
            </a:r>
            <a:r>
              <a:rPr kumimoji="0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202838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Kế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202838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 </a:t>
            </a:r>
            <a:r>
              <a:rPr kumimoji="0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202838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hoạch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202838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 </a:t>
            </a:r>
            <a:endParaRPr kumimoji="0" lang="vi-VN" sz="1400" b="0" i="0" u="none" strike="noStrike" kern="1200" cap="none" spc="0" normalizeH="0" baseline="0" noProof="0" dirty="0">
              <a:ln>
                <a:noFill/>
              </a:ln>
              <a:solidFill>
                <a:srgbClr val="202838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60" b="0">
                <a:solidFill>
                  <a:srgbClr val="202838"/>
                </a:solidFill>
                <a:latin typeface="Arial"/>
              </a:defRPr>
            </a:pP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202838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• </a:t>
            </a:r>
            <a:r>
              <a:rPr kumimoji="0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202838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phê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202838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 </a:t>
            </a:r>
            <a:r>
              <a:rPr kumimoji="0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202838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duyệt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202838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 </a:t>
            </a:r>
            <a:endParaRPr kumimoji="0" lang="vi-VN" sz="1400" b="0" i="0" u="none" strike="noStrike" kern="1200" cap="none" spc="0" normalizeH="0" baseline="0" noProof="0" dirty="0">
              <a:ln>
                <a:noFill/>
              </a:ln>
              <a:solidFill>
                <a:srgbClr val="202838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60" b="0">
                <a:solidFill>
                  <a:srgbClr val="202838"/>
                </a:solidFill>
                <a:latin typeface="Arial"/>
              </a:defRPr>
            </a:pP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202838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• </a:t>
            </a:r>
            <a:r>
              <a:rPr kumimoji="0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202838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ngân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202838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 </a:t>
            </a:r>
            <a:r>
              <a:rPr kumimoji="0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202838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sách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202838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 </a:t>
            </a:r>
            <a:endParaRPr kumimoji="0" lang="vi-VN" sz="1400" b="0" i="0" u="none" strike="noStrike" kern="1200" cap="none" spc="0" normalizeH="0" baseline="0" noProof="0" dirty="0">
              <a:ln>
                <a:noFill/>
              </a:ln>
              <a:solidFill>
                <a:srgbClr val="202838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60" b="0">
                <a:solidFill>
                  <a:srgbClr val="202838"/>
                </a:solidFill>
                <a:latin typeface="Arial"/>
              </a:defRPr>
            </a:pP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202838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• </a:t>
            </a:r>
            <a:r>
              <a:rPr kumimoji="0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202838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tham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202838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 </a:t>
            </a:r>
            <a:r>
              <a:rPr kumimoji="0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202838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dự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202838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 </a:t>
            </a:r>
            <a:endParaRPr kumimoji="0" lang="vi-VN" sz="1400" b="0" i="0" u="none" strike="noStrike" kern="1200" cap="none" spc="0" normalizeH="0" baseline="0" noProof="0" dirty="0">
              <a:ln>
                <a:noFill/>
              </a:ln>
              <a:solidFill>
                <a:srgbClr val="202838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60" b="0">
                <a:solidFill>
                  <a:srgbClr val="202838"/>
                </a:solidFill>
                <a:latin typeface="Arial"/>
              </a:defRPr>
            </a:pP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202838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• </a:t>
            </a:r>
            <a:r>
              <a:rPr kumimoji="0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202838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báo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202838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 </a:t>
            </a:r>
            <a:r>
              <a:rPr kumimoji="0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202838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cáo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202838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 </a:t>
            </a:r>
            <a:r>
              <a:rPr kumimoji="0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202838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sau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202838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 </a:t>
            </a:r>
            <a:r>
              <a:rPr kumimoji="0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202838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chương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202838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 </a:t>
            </a:r>
            <a:r>
              <a:rPr kumimoji="0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202838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trình</a:t>
            </a:r>
            <a:endParaRPr kumimoji="0" sz="1400" b="0" i="0" u="none" strike="noStrike" kern="1200" cap="none" spc="0" normalizeH="0" baseline="0" noProof="0" dirty="0">
              <a:ln>
                <a:noFill/>
              </a:ln>
              <a:solidFill>
                <a:srgbClr val="202838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  <p:sp>
        <p:nvSpPr>
          <p:cNvPr id="34" name="Rounded Rectangle 33"/>
          <p:cNvSpPr/>
          <p:nvPr/>
        </p:nvSpPr>
        <p:spPr>
          <a:xfrm>
            <a:off x="3429000" y="3794760"/>
            <a:ext cx="2624328" cy="1865376"/>
          </a:xfrm>
          <a:prstGeom prst="roundRect">
            <a:avLst/>
          </a:prstGeom>
          <a:solidFill>
            <a:srgbClr val="FFFFFF"/>
          </a:solidFill>
          <a:ln>
            <a:solidFill>
              <a:srgbClr val="D9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  <p:sp>
        <p:nvSpPr>
          <p:cNvPr id="35" name="Oval 34"/>
          <p:cNvSpPr/>
          <p:nvPr/>
        </p:nvSpPr>
        <p:spPr>
          <a:xfrm>
            <a:off x="3593592" y="3941064"/>
            <a:ext cx="402336" cy="402336"/>
          </a:xfrm>
          <a:prstGeom prst="ellipse">
            <a:avLst/>
          </a:prstGeom>
          <a:solidFill>
            <a:srgbClr val="F1B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3593592" y="4023360"/>
            <a:ext cx="402336" cy="227755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80" b="1">
                <a:solidFill>
                  <a:srgbClr val="FFFFFF"/>
                </a:solidFill>
                <a:latin typeface="Arial"/>
              </a:defRPr>
            </a:pPr>
            <a:r>
              <a:rPr kumimoji="0" sz="88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087368" y="3922776"/>
            <a:ext cx="1801368" cy="26161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00" b="1">
                <a:solidFill>
                  <a:srgbClr val="F1B419"/>
                </a:solidFill>
                <a:latin typeface="Arial"/>
              </a:defRPr>
            </a:pPr>
            <a:r>
              <a:rPr kumimoji="0" sz="1100" b="1" i="0" u="none" strike="noStrike" kern="1200" cap="none" spc="0" normalizeH="0" baseline="0" noProof="0" dirty="0">
                <a:ln>
                  <a:noFill/>
                </a:ln>
                <a:solidFill>
                  <a:srgbClr val="F1B419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TÀI CHÍNH / </a:t>
            </a:r>
            <a:r>
              <a:rPr kumimoji="0" sz="1100" b="1" i="0" u="none" strike="noStrike" kern="1200" cap="none" spc="0" normalizeH="0" baseline="0" noProof="0" dirty="0" err="1">
                <a:ln>
                  <a:noFill/>
                </a:ln>
                <a:solidFill>
                  <a:srgbClr val="F1B419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CHỨNG</a:t>
            </a:r>
            <a:r>
              <a:rPr kumimoji="0" sz="1100" b="1" i="0" u="none" strike="noStrike" kern="1200" cap="none" spc="0" normalizeH="0" baseline="0" noProof="0" dirty="0">
                <a:ln>
                  <a:noFill/>
                </a:ln>
                <a:solidFill>
                  <a:srgbClr val="F1B419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 TỪ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117850" y="4288049"/>
            <a:ext cx="2185416" cy="1169551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lvl="0">
              <a:defRPr sz="860" b="0">
                <a:solidFill>
                  <a:srgbClr val="202838"/>
                </a:solidFill>
                <a:latin typeface="Arial"/>
              </a:defRPr>
            </a:pPr>
            <a:r>
              <a:rPr lang="vi-VN" sz="1400" dirty="0">
                <a:solidFill>
                  <a:srgbClr val="202838"/>
                </a:solidFill>
                <a:latin typeface="Tahoma" panose="020B0604030504040204" pitchFamily="34" charset="0"/>
              </a:rPr>
              <a:t>• 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202838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Thu • chi </a:t>
            </a:r>
            <a:endParaRPr kumimoji="0" lang="vi-VN" sz="1400" b="0" i="0" u="none" strike="noStrike" kern="1200" cap="none" spc="0" normalizeH="0" baseline="0" noProof="0" dirty="0">
              <a:ln>
                <a:noFill/>
              </a:ln>
              <a:solidFill>
                <a:srgbClr val="202838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  <a:p>
            <a:pPr lvl="0">
              <a:defRPr sz="860" b="0">
                <a:solidFill>
                  <a:srgbClr val="202838"/>
                </a:solidFill>
                <a:latin typeface="Arial"/>
              </a:defRPr>
            </a:pP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202838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• </a:t>
            </a:r>
            <a:r>
              <a:rPr kumimoji="0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202838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tạm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202838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 </a:t>
            </a:r>
            <a:r>
              <a:rPr kumimoji="0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202838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ứng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202838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 </a:t>
            </a:r>
            <a:endParaRPr kumimoji="0" lang="vi-VN" sz="1400" b="0" i="0" u="none" strike="noStrike" kern="1200" cap="none" spc="0" normalizeH="0" baseline="0" noProof="0" dirty="0">
              <a:ln>
                <a:noFill/>
              </a:ln>
              <a:solidFill>
                <a:srgbClr val="202838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  <a:p>
            <a:pPr lvl="0">
              <a:defRPr sz="860" b="0">
                <a:solidFill>
                  <a:srgbClr val="202838"/>
                </a:solidFill>
                <a:latin typeface="Arial"/>
              </a:defRPr>
            </a:pP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202838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• </a:t>
            </a:r>
            <a:r>
              <a:rPr kumimoji="0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202838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quyết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202838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 </a:t>
            </a:r>
            <a:r>
              <a:rPr kumimoji="0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202838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toán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202838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 </a:t>
            </a:r>
            <a:endParaRPr kumimoji="0" lang="vi-VN" sz="1400" b="0" i="0" u="none" strike="noStrike" kern="1200" cap="none" spc="0" normalizeH="0" baseline="0" noProof="0" dirty="0">
              <a:ln>
                <a:noFill/>
              </a:ln>
              <a:solidFill>
                <a:srgbClr val="202838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  <a:p>
            <a:pPr lvl="0">
              <a:defRPr sz="860" b="0">
                <a:solidFill>
                  <a:srgbClr val="202838"/>
                </a:solidFill>
                <a:latin typeface="Arial"/>
              </a:defRPr>
            </a:pP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202838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• </a:t>
            </a:r>
            <a:r>
              <a:rPr kumimoji="0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202838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chứng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202838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 </a:t>
            </a:r>
            <a:r>
              <a:rPr kumimoji="0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202838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từ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202838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 </a:t>
            </a:r>
            <a:endParaRPr kumimoji="0" lang="vi-VN" sz="1400" b="0" i="0" u="none" strike="noStrike" kern="1200" cap="none" spc="0" normalizeH="0" baseline="0" noProof="0" dirty="0">
              <a:ln>
                <a:noFill/>
              </a:ln>
              <a:solidFill>
                <a:srgbClr val="202838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  <a:p>
            <a:pPr lvl="0">
              <a:defRPr sz="860" b="0">
                <a:solidFill>
                  <a:srgbClr val="202838"/>
                </a:solidFill>
                <a:latin typeface="Arial"/>
              </a:defRPr>
            </a:pP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202838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• </a:t>
            </a:r>
            <a:r>
              <a:rPr kumimoji="0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202838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số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202838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 </a:t>
            </a:r>
            <a:r>
              <a:rPr kumimoji="0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202838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dư</a:t>
            </a:r>
            <a:endParaRPr kumimoji="0" sz="1400" b="0" i="0" u="none" strike="noStrike" kern="1200" cap="none" spc="0" normalizeH="0" baseline="0" noProof="0" dirty="0">
              <a:ln>
                <a:noFill/>
              </a:ln>
              <a:solidFill>
                <a:srgbClr val="202838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  <p:sp>
        <p:nvSpPr>
          <p:cNvPr id="39" name="Rounded Rectangle 38"/>
          <p:cNvSpPr/>
          <p:nvPr/>
        </p:nvSpPr>
        <p:spPr>
          <a:xfrm>
            <a:off x="6327648" y="3794760"/>
            <a:ext cx="2624328" cy="1865376"/>
          </a:xfrm>
          <a:prstGeom prst="roundRect">
            <a:avLst/>
          </a:prstGeom>
          <a:solidFill>
            <a:srgbClr val="FFFFFF"/>
          </a:solidFill>
          <a:ln>
            <a:solidFill>
              <a:srgbClr val="D9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  <p:sp>
        <p:nvSpPr>
          <p:cNvPr id="40" name="Oval 39"/>
          <p:cNvSpPr/>
          <p:nvPr/>
        </p:nvSpPr>
        <p:spPr>
          <a:xfrm>
            <a:off x="6492240" y="3941064"/>
            <a:ext cx="402336" cy="402336"/>
          </a:xfrm>
          <a:prstGeom prst="ellipse">
            <a:avLst/>
          </a:prstGeom>
          <a:solidFill>
            <a:srgbClr val="744B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6492240" y="4023360"/>
            <a:ext cx="402336" cy="227755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80" b="1">
                <a:solidFill>
                  <a:srgbClr val="FFFFFF"/>
                </a:solidFill>
                <a:latin typeface="Arial"/>
              </a:defRPr>
            </a:pPr>
            <a:r>
              <a:rPr kumimoji="0" sz="88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7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986016" y="3922776"/>
            <a:ext cx="1801368" cy="26161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00" b="1">
                <a:solidFill>
                  <a:srgbClr val="744BB4"/>
                </a:solidFill>
                <a:latin typeface="Arial"/>
              </a:defRPr>
            </a:pPr>
            <a:r>
              <a:rPr kumimoji="0" sz="1100" b="1" i="0" u="none" strike="noStrike" kern="1200" cap="none" spc="0" normalizeH="0" baseline="0" noProof="0" dirty="0">
                <a:ln>
                  <a:noFill/>
                </a:ln>
                <a:solidFill>
                  <a:srgbClr val="744BB4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DASHBOARD / KPI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94576" y="4320416"/>
            <a:ext cx="2185416" cy="954107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lvl="0">
              <a:defRPr sz="860" b="0">
                <a:solidFill>
                  <a:srgbClr val="202838"/>
                </a:solidFill>
                <a:latin typeface="Arial"/>
              </a:defRPr>
            </a:pPr>
            <a:r>
              <a:rPr lang="vi-VN" sz="1400" dirty="0">
                <a:solidFill>
                  <a:srgbClr val="202838"/>
                </a:solidFill>
                <a:latin typeface="Tahoma" panose="020B0604030504040204" pitchFamily="34" charset="0"/>
              </a:rPr>
              <a:t>• </a:t>
            </a:r>
            <a:r>
              <a:rPr kumimoji="0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202838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Tổng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202838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 </a:t>
            </a:r>
            <a:r>
              <a:rPr kumimoji="0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202838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hợp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202838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 </a:t>
            </a:r>
            <a:r>
              <a:rPr kumimoji="0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202838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tháng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202838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/</a:t>
            </a:r>
            <a:r>
              <a:rPr kumimoji="0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202838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quý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202838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 </a:t>
            </a:r>
            <a:endParaRPr kumimoji="0" lang="vi-VN" sz="1400" b="0" i="0" u="none" strike="noStrike" kern="1200" cap="none" spc="0" normalizeH="0" baseline="0" noProof="0" dirty="0">
              <a:ln>
                <a:noFill/>
              </a:ln>
              <a:solidFill>
                <a:srgbClr val="202838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  <a:p>
            <a:pPr lvl="0">
              <a:defRPr sz="860" b="0">
                <a:solidFill>
                  <a:srgbClr val="202838"/>
                </a:solidFill>
                <a:latin typeface="Arial"/>
              </a:defRPr>
            </a:pP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202838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• </a:t>
            </a:r>
            <a:r>
              <a:rPr kumimoji="0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202838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cảnh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202838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 </a:t>
            </a:r>
            <a:r>
              <a:rPr kumimoji="0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202838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báo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202838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 </a:t>
            </a:r>
            <a:r>
              <a:rPr kumimoji="0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202838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quá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202838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 </a:t>
            </a:r>
            <a:r>
              <a:rPr kumimoji="0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202838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hạn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202838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 </a:t>
            </a:r>
            <a:endParaRPr kumimoji="0" lang="vi-VN" sz="1400" b="0" i="0" u="none" strike="noStrike" kern="1200" cap="none" spc="0" normalizeH="0" baseline="0" noProof="0" dirty="0">
              <a:ln>
                <a:noFill/>
              </a:ln>
              <a:solidFill>
                <a:srgbClr val="202838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  <a:p>
            <a:pPr lvl="0">
              <a:defRPr sz="860" b="0">
                <a:solidFill>
                  <a:srgbClr val="202838"/>
                </a:solidFill>
                <a:latin typeface="Arial"/>
              </a:defRPr>
            </a:pP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202838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• </a:t>
            </a:r>
            <a:r>
              <a:rPr kumimoji="0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202838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tỷ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202838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 </a:t>
            </a:r>
            <a:r>
              <a:rPr kumimoji="0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202838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lệ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202838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 </a:t>
            </a:r>
            <a:r>
              <a:rPr kumimoji="0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202838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tham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202838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 </a:t>
            </a:r>
            <a:r>
              <a:rPr kumimoji="0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202838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gia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202838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 </a:t>
            </a:r>
            <a:endParaRPr kumimoji="0" lang="vi-VN" sz="1400" b="0" i="0" u="none" strike="noStrike" kern="1200" cap="none" spc="0" normalizeH="0" baseline="0" noProof="0" dirty="0">
              <a:ln>
                <a:noFill/>
              </a:ln>
              <a:solidFill>
                <a:srgbClr val="202838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  <a:p>
            <a:pPr lvl="0">
              <a:defRPr sz="860" b="0">
                <a:solidFill>
                  <a:srgbClr val="202838"/>
                </a:solidFill>
                <a:latin typeface="Arial"/>
              </a:defRPr>
            </a:pP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202838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• xu </a:t>
            </a:r>
            <a:r>
              <a:rPr kumimoji="0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202838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hướng</a:t>
            </a:r>
            <a:endParaRPr kumimoji="0" sz="1400" b="0" i="0" u="none" strike="noStrike" kern="1200" cap="none" spc="0" normalizeH="0" baseline="0" noProof="0" dirty="0">
              <a:ln>
                <a:noFill/>
              </a:ln>
              <a:solidFill>
                <a:srgbClr val="202838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  <p:sp>
        <p:nvSpPr>
          <p:cNvPr id="44" name="Rounded Rectangle 43"/>
          <p:cNvSpPr/>
          <p:nvPr/>
        </p:nvSpPr>
        <p:spPr>
          <a:xfrm>
            <a:off x="9226296" y="3794760"/>
            <a:ext cx="2624328" cy="1865376"/>
          </a:xfrm>
          <a:prstGeom prst="roundRect">
            <a:avLst/>
          </a:prstGeom>
          <a:solidFill>
            <a:srgbClr val="FFFFFF"/>
          </a:solidFill>
          <a:ln>
            <a:solidFill>
              <a:srgbClr val="D9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  <p:sp>
        <p:nvSpPr>
          <p:cNvPr id="45" name="Oval 44"/>
          <p:cNvSpPr/>
          <p:nvPr/>
        </p:nvSpPr>
        <p:spPr>
          <a:xfrm>
            <a:off x="9390888" y="3941064"/>
            <a:ext cx="402336" cy="402336"/>
          </a:xfrm>
          <a:prstGeom prst="ellipse">
            <a:avLst/>
          </a:prstGeom>
          <a:solidFill>
            <a:srgbClr val="051F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9390888" y="4023360"/>
            <a:ext cx="402336" cy="227755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80" b="1">
                <a:solidFill>
                  <a:srgbClr val="FFFFFF"/>
                </a:solidFill>
                <a:latin typeface="Arial"/>
              </a:defRPr>
            </a:pPr>
            <a:r>
              <a:rPr kumimoji="0" sz="88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8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884664" y="3922776"/>
            <a:ext cx="1801367" cy="26161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00" b="1">
                <a:solidFill>
                  <a:srgbClr val="051F71"/>
                </a:solidFill>
                <a:latin typeface="Arial"/>
              </a:defRPr>
            </a:pPr>
            <a:r>
              <a:rPr kumimoji="0" sz="1100" b="1" i="0" u="none" strike="noStrike" kern="1200" cap="none" spc="0" normalizeH="0" baseline="0" noProof="0" dirty="0">
                <a:ln>
                  <a:noFill/>
                </a:ln>
                <a:solidFill>
                  <a:srgbClr val="051F71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KHO TÀI LIỆU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884664" y="4201668"/>
            <a:ext cx="2185416" cy="1169551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lvl="0">
              <a:defRPr sz="860" b="0">
                <a:solidFill>
                  <a:srgbClr val="202838"/>
                </a:solidFill>
                <a:latin typeface="Arial"/>
              </a:defRPr>
            </a:pPr>
            <a:r>
              <a:rPr lang="vi-VN" sz="1400" dirty="0">
                <a:solidFill>
                  <a:srgbClr val="202838"/>
                </a:solidFill>
                <a:latin typeface="Tahoma" panose="020B0604030504040204" pitchFamily="34" charset="0"/>
              </a:rPr>
              <a:t>• 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202838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Quy </a:t>
            </a:r>
            <a:r>
              <a:rPr kumimoji="0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202838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chế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202838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 </a:t>
            </a:r>
            <a:endParaRPr kumimoji="0" lang="vi-VN" sz="1400" b="0" i="0" u="none" strike="noStrike" kern="1200" cap="none" spc="0" normalizeH="0" baseline="0" noProof="0" dirty="0">
              <a:ln>
                <a:noFill/>
              </a:ln>
              <a:solidFill>
                <a:srgbClr val="202838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  <a:p>
            <a:pPr lvl="0">
              <a:defRPr sz="860" b="0">
                <a:solidFill>
                  <a:srgbClr val="202838"/>
                </a:solidFill>
                <a:latin typeface="Arial"/>
              </a:defRPr>
            </a:pP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202838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• </a:t>
            </a:r>
            <a:r>
              <a:rPr kumimoji="0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202838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biểu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202838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 </a:t>
            </a:r>
            <a:r>
              <a:rPr kumimoji="0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202838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mẫu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202838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 </a:t>
            </a:r>
            <a:endParaRPr kumimoji="0" lang="vi-VN" sz="1400" b="0" i="0" u="none" strike="noStrike" kern="1200" cap="none" spc="0" normalizeH="0" baseline="0" noProof="0" dirty="0">
              <a:ln>
                <a:noFill/>
              </a:ln>
              <a:solidFill>
                <a:srgbClr val="202838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  <a:p>
            <a:pPr lvl="0">
              <a:defRPr sz="860" b="0">
                <a:solidFill>
                  <a:srgbClr val="202838"/>
                </a:solidFill>
                <a:latin typeface="Arial"/>
              </a:defRPr>
            </a:pP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202838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• </a:t>
            </a:r>
            <a:r>
              <a:rPr kumimoji="0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202838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quyết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202838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 </a:t>
            </a:r>
            <a:r>
              <a:rPr kumimoji="0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202838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định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202838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 </a:t>
            </a:r>
            <a:endParaRPr kumimoji="0" lang="vi-VN" sz="1400" b="0" i="0" u="none" strike="noStrike" kern="1200" cap="none" spc="0" normalizeH="0" baseline="0" noProof="0" dirty="0">
              <a:ln>
                <a:noFill/>
              </a:ln>
              <a:solidFill>
                <a:srgbClr val="202838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  <a:p>
            <a:pPr lvl="0">
              <a:defRPr sz="860" b="0">
                <a:solidFill>
                  <a:srgbClr val="202838"/>
                </a:solidFill>
                <a:latin typeface="Arial"/>
              </a:defRPr>
            </a:pP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202838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• </a:t>
            </a:r>
            <a:r>
              <a:rPr kumimoji="0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202838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ảnh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202838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 </a:t>
            </a:r>
            <a:endParaRPr kumimoji="0" lang="vi-VN" sz="1400" b="0" i="0" u="none" strike="noStrike" kern="1200" cap="none" spc="0" normalizeH="0" baseline="0" noProof="0" dirty="0">
              <a:ln>
                <a:noFill/>
              </a:ln>
              <a:solidFill>
                <a:srgbClr val="202838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  <a:p>
            <a:pPr lvl="0">
              <a:defRPr sz="860" b="0">
                <a:solidFill>
                  <a:srgbClr val="202838"/>
                </a:solidFill>
                <a:latin typeface="Arial"/>
              </a:defRPr>
            </a:pP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202838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• </a:t>
            </a:r>
            <a:r>
              <a:rPr kumimoji="0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202838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tài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202838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 </a:t>
            </a:r>
            <a:r>
              <a:rPr kumimoji="0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202838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liệu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202838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 </a:t>
            </a:r>
            <a:r>
              <a:rPr kumimoji="0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202838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truyền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202838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 </a:t>
            </a:r>
            <a:r>
              <a:rPr kumimoji="0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202838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thông</a:t>
            </a:r>
            <a:endParaRPr kumimoji="0" sz="1400" b="0" i="0" u="none" strike="noStrike" kern="1200" cap="none" spc="0" normalizeH="0" baseline="0" noProof="0" dirty="0">
              <a:ln>
                <a:noFill/>
              </a:ln>
              <a:solidFill>
                <a:srgbClr val="202838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608" y="82296"/>
            <a:ext cx="960120" cy="548640"/>
          </a:xfrm>
          <a:prstGeom prst="rect">
            <a:avLst/>
          </a:prstGeom>
        </p:spPr>
      </p:pic>
      <p:pic>
        <p:nvPicPr>
          <p:cNvPr id="3" name="Picture 2" descr="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64008"/>
            <a:ext cx="646818" cy="585216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274320" y="749808"/>
            <a:ext cx="11649456" cy="22860"/>
          </a:xfrm>
          <a:prstGeom prst="rect">
            <a:avLst/>
          </a:prstGeom>
          <a:solidFill>
            <a:srgbClr val="051F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Tahoma" panose="020B0604030504040204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20040" y="6483096"/>
            <a:ext cx="2077813" cy="22313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051F71"/>
                </a:solidFill>
                <a:latin typeface="Arial"/>
              </a:defRPr>
            </a:pPr>
            <a:r>
              <a:rPr dirty="0">
                <a:latin typeface="Tahoma" panose="020B0604030504040204" pitchFamily="34" charset="0"/>
              </a:rPr>
              <a:t>CÔNG ĐOÀN GPG | GPG TRADE UNION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43352" y="6473952"/>
            <a:ext cx="1029448" cy="21839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19">
                <a:solidFill>
                  <a:srgbClr val="677180"/>
                </a:solidFill>
                <a:latin typeface="Arial"/>
              </a:defRPr>
            </a:pPr>
            <a:r>
              <a:rPr dirty="0">
                <a:latin typeface="Tahoma" panose="020B0604030504040204" pitchFamily="34" charset="0"/>
              </a:rPr>
              <a:t>V. </a:t>
            </a:r>
            <a:r>
              <a:rPr dirty="0" err="1">
                <a:latin typeface="Tahoma" panose="020B0604030504040204" pitchFamily="34" charset="0"/>
              </a:rPr>
              <a:t>SỐ</a:t>
            </a:r>
            <a:r>
              <a:rPr dirty="0">
                <a:latin typeface="Tahoma" panose="020B0604030504040204" pitchFamily="34" charset="0"/>
              </a:rPr>
              <a:t> </a:t>
            </a:r>
            <a:r>
              <a:rPr dirty="0" err="1">
                <a:latin typeface="Tahoma" panose="020B0604030504040204" pitchFamily="34" charset="0"/>
              </a:rPr>
              <a:t>HÓA</a:t>
            </a:r>
            <a:r>
              <a:rPr dirty="0">
                <a:latin typeface="Tahoma" panose="020B0604030504040204" pitchFamily="34" charset="0"/>
              </a:rPr>
              <a:t> HỒ </a:t>
            </a:r>
            <a:r>
              <a:rPr dirty="0" err="1">
                <a:latin typeface="Tahoma" panose="020B0604030504040204" pitchFamily="34" charset="0"/>
              </a:rPr>
              <a:t>SƠ</a:t>
            </a:r>
            <a:endParaRPr dirty="0">
              <a:latin typeface="Tahoma" panose="020B0604030504040204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393198" y="6455664"/>
            <a:ext cx="338554" cy="2385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051F71"/>
                </a:solidFill>
                <a:latin typeface="Arial"/>
              </a:defRPr>
            </a:pPr>
            <a:r>
              <a:rPr dirty="0">
                <a:latin typeface="Tahoma" panose="020B0604030504040204" pitchFamily="34" charset="0"/>
              </a:rPr>
              <a:t>29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245" y="177911"/>
            <a:ext cx="10738837" cy="50013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50" b="1">
                <a:solidFill>
                  <a:srgbClr val="051F71"/>
                </a:solidFill>
                <a:latin typeface="Arial Narrow"/>
              </a:defRPr>
            </a:pPr>
            <a:r>
              <a:rPr dirty="0" err="1">
                <a:latin typeface="Tahoma" panose="020B0604030504040204" pitchFamily="34" charset="0"/>
              </a:rPr>
              <a:t>MÀN</a:t>
            </a:r>
            <a:r>
              <a:rPr dirty="0">
                <a:latin typeface="Tahoma" panose="020B0604030504040204" pitchFamily="34" charset="0"/>
              </a:rPr>
              <a:t> </a:t>
            </a:r>
            <a:r>
              <a:rPr dirty="0" err="1">
                <a:latin typeface="Tahoma" panose="020B0604030504040204" pitchFamily="34" charset="0"/>
              </a:rPr>
              <a:t>HÌNH</a:t>
            </a:r>
            <a:r>
              <a:rPr dirty="0">
                <a:latin typeface="Tahoma" panose="020B0604030504040204" pitchFamily="34" charset="0"/>
              </a:rPr>
              <a:t> </a:t>
            </a:r>
            <a:r>
              <a:rPr dirty="0" err="1">
                <a:latin typeface="Tahoma" panose="020B0604030504040204" pitchFamily="34" charset="0"/>
              </a:rPr>
              <a:t>ĐỀ</a:t>
            </a:r>
            <a:r>
              <a:rPr dirty="0">
                <a:latin typeface="Tahoma" panose="020B0604030504040204" pitchFamily="34" charset="0"/>
              </a:rPr>
              <a:t> </a:t>
            </a:r>
            <a:r>
              <a:rPr dirty="0" err="1">
                <a:latin typeface="Tahoma" panose="020B0604030504040204" pitchFamily="34" charset="0"/>
              </a:rPr>
              <a:t>XUẤT</a:t>
            </a:r>
            <a:r>
              <a:rPr dirty="0">
                <a:latin typeface="Tahoma" panose="020B0604030504040204" pitchFamily="34" charset="0"/>
              </a:rPr>
              <a:t> 01 – TRANG </a:t>
            </a:r>
            <a:r>
              <a:rPr dirty="0" err="1">
                <a:latin typeface="Tahoma" panose="020B0604030504040204" pitchFamily="34" charset="0"/>
              </a:rPr>
              <a:t>CHỦ</a:t>
            </a:r>
            <a:r>
              <a:rPr dirty="0">
                <a:latin typeface="Tahoma" panose="020B0604030504040204" pitchFamily="34" charset="0"/>
              </a:rPr>
              <a:t> </a:t>
            </a:r>
            <a:r>
              <a:rPr dirty="0" err="1">
                <a:latin typeface="Tahoma" panose="020B0604030504040204" pitchFamily="34" charset="0"/>
              </a:rPr>
              <a:t>HỆ</a:t>
            </a:r>
            <a:r>
              <a:rPr dirty="0">
                <a:latin typeface="Tahoma" panose="020B0604030504040204" pitchFamily="34" charset="0"/>
              </a:rPr>
              <a:t> </a:t>
            </a:r>
            <a:r>
              <a:rPr dirty="0" err="1">
                <a:latin typeface="Tahoma" panose="020B0604030504040204" pitchFamily="34" charset="0"/>
              </a:rPr>
              <a:t>THỐNG</a:t>
            </a:r>
            <a:r>
              <a:rPr dirty="0">
                <a:latin typeface="Tahoma" panose="020B0604030504040204" pitchFamily="34" charset="0"/>
              </a:rPr>
              <a:t> CÔNG ĐOÀN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176457"/>
            <a:ext cx="10972800" cy="4590288"/>
          </a:xfrm>
          <a:prstGeom prst="roundRect">
            <a:avLst/>
          </a:prstGeom>
          <a:solidFill>
            <a:srgbClr val="FFFFFF"/>
          </a:solidFill>
          <a:ln>
            <a:solidFill>
              <a:srgbClr val="D9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94360" y="1176457"/>
            <a:ext cx="10972800" cy="475488"/>
          </a:xfrm>
          <a:prstGeom prst="rect">
            <a:avLst/>
          </a:prstGeom>
          <a:solidFill>
            <a:srgbClr val="051F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22960" y="1295329"/>
            <a:ext cx="10515600" cy="307777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050" b="1">
                <a:solidFill>
                  <a:srgbClr val="FFFFFF"/>
                </a:solidFill>
                <a:latin typeface="Arial"/>
              </a:defRPr>
            </a:pPr>
            <a:r>
              <a:rPr sz="1400" dirty="0">
                <a:latin typeface="Tahoma" panose="020B0604030504040204" pitchFamily="34" charset="0"/>
              </a:rPr>
              <a:t>GPG UNION PORTAL | Trang </a:t>
            </a:r>
            <a:r>
              <a:rPr sz="1400" dirty="0" err="1">
                <a:latin typeface="Tahoma" panose="020B0604030504040204" pitchFamily="34" charset="0"/>
              </a:rPr>
              <a:t>chủ</a:t>
            </a:r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594360" y="1651945"/>
            <a:ext cx="1874519" cy="4114800"/>
          </a:xfrm>
          <a:prstGeom prst="rect">
            <a:avLst/>
          </a:prstGeom>
          <a:solidFill>
            <a:srgbClr val="F7F9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58952" y="1889689"/>
            <a:ext cx="1508760" cy="307777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869" b="1">
                <a:solidFill>
                  <a:srgbClr val="051F71"/>
                </a:solidFill>
                <a:latin typeface="Arial"/>
              </a:defRPr>
            </a:pPr>
            <a:r>
              <a:rPr sz="1400" dirty="0">
                <a:latin typeface="Tahoma" panose="020B0604030504040204" pitchFamily="34" charset="0"/>
              </a:rPr>
              <a:t>Trang </a:t>
            </a:r>
            <a:r>
              <a:rPr sz="1400" dirty="0" err="1">
                <a:latin typeface="Tahoma" panose="020B0604030504040204" pitchFamily="34" charset="0"/>
              </a:rPr>
              <a:t>chủ</a:t>
            </a:r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58952" y="2346889"/>
            <a:ext cx="1508760" cy="307777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869" b="0">
                <a:solidFill>
                  <a:srgbClr val="677180"/>
                </a:solidFill>
                <a:latin typeface="Arial"/>
              </a:defRPr>
            </a:pPr>
            <a:r>
              <a:rPr sz="1400" dirty="0">
                <a:latin typeface="Tahoma" panose="020B0604030504040204" pitchFamily="34" charset="0"/>
              </a:rPr>
              <a:t>Đoàn </a:t>
            </a:r>
            <a:r>
              <a:rPr sz="1400" dirty="0" err="1">
                <a:latin typeface="Tahoma" panose="020B0604030504040204" pitchFamily="34" charset="0"/>
              </a:rPr>
              <a:t>viên</a:t>
            </a:r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58952" y="2804089"/>
            <a:ext cx="1508760" cy="307777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869" b="0">
                <a:solidFill>
                  <a:srgbClr val="677180"/>
                </a:solidFill>
                <a:latin typeface="Arial"/>
              </a:defRPr>
            </a:pPr>
            <a:r>
              <a:rPr sz="1400" dirty="0" err="1">
                <a:latin typeface="Tahoma" panose="020B0604030504040204" pitchFamily="34" charset="0"/>
              </a:rPr>
              <a:t>CĐCS</a:t>
            </a:r>
            <a:r>
              <a:rPr sz="1400" dirty="0">
                <a:latin typeface="Tahoma" panose="020B0604030504040204" pitchFamily="34" charset="0"/>
              </a:rPr>
              <a:t>/BCH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8952" y="3261289"/>
            <a:ext cx="1508760" cy="307777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869" b="0">
                <a:solidFill>
                  <a:srgbClr val="677180"/>
                </a:solidFill>
                <a:latin typeface="Arial"/>
              </a:defRPr>
            </a:pPr>
            <a:r>
              <a:rPr sz="1400" dirty="0" err="1">
                <a:latin typeface="Tahoma" panose="020B0604030504040204" pitchFamily="34" charset="0"/>
              </a:rPr>
              <a:t>Chăm</a:t>
            </a:r>
            <a:r>
              <a:rPr sz="1400" dirty="0">
                <a:latin typeface="Tahoma" panose="020B0604030504040204" pitchFamily="34" charset="0"/>
              </a:rPr>
              <a:t> lo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8952" y="3718489"/>
            <a:ext cx="1508760" cy="307777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869" b="0">
                <a:solidFill>
                  <a:srgbClr val="677180"/>
                </a:solidFill>
                <a:latin typeface="Arial"/>
              </a:defRPr>
            </a:pPr>
            <a:r>
              <a:rPr sz="1400" dirty="0" err="1">
                <a:latin typeface="Tahoma" panose="020B0604030504040204" pitchFamily="34" charset="0"/>
              </a:rPr>
              <a:t>Vụ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việc</a:t>
            </a:r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58952" y="4175689"/>
            <a:ext cx="1508760" cy="307777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869" b="0">
                <a:solidFill>
                  <a:srgbClr val="677180"/>
                </a:solidFill>
                <a:latin typeface="Arial"/>
              </a:defRPr>
            </a:pPr>
            <a:r>
              <a:rPr sz="1400" dirty="0" err="1">
                <a:latin typeface="Tahoma" panose="020B0604030504040204" pitchFamily="34" charset="0"/>
              </a:rPr>
              <a:t>Hoạt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động</a:t>
            </a:r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58952" y="4632889"/>
            <a:ext cx="1508760" cy="307777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869" b="0">
                <a:solidFill>
                  <a:srgbClr val="677180"/>
                </a:solidFill>
                <a:latin typeface="Arial"/>
              </a:defRPr>
            </a:pPr>
            <a:r>
              <a:rPr sz="1400" dirty="0">
                <a:latin typeface="Tahoma" panose="020B0604030504040204" pitchFamily="34" charset="0"/>
              </a:rPr>
              <a:t>Tài </a:t>
            </a:r>
            <a:r>
              <a:rPr sz="1400" dirty="0" err="1">
                <a:latin typeface="Tahoma" panose="020B0604030504040204" pitchFamily="34" charset="0"/>
              </a:rPr>
              <a:t>chính</a:t>
            </a:r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58952" y="5090089"/>
            <a:ext cx="1508760" cy="307777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869" b="0">
                <a:solidFill>
                  <a:srgbClr val="677180"/>
                </a:solidFill>
                <a:latin typeface="Arial"/>
              </a:defRPr>
            </a:pPr>
            <a:r>
              <a:rPr sz="1400" dirty="0">
                <a:latin typeface="Tahoma" panose="020B0604030504040204" pitchFamily="34" charset="0"/>
              </a:rPr>
              <a:t>Báo </a:t>
            </a:r>
            <a:r>
              <a:rPr sz="1400" dirty="0" err="1">
                <a:latin typeface="Tahoma" panose="020B0604030504040204" pitchFamily="34" charset="0"/>
              </a:rPr>
              <a:t>cáo</a:t>
            </a:r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2743199" y="1907977"/>
            <a:ext cx="4389120" cy="31089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500" b="1">
                <a:solidFill>
                  <a:srgbClr val="051F71"/>
                </a:solidFill>
                <a:latin typeface="Arial"/>
              </a:defRPr>
            </a:pPr>
            <a:r>
              <a:rPr sz="1400" dirty="0">
                <a:latin typeface="Tahoma" panose="020B0604030504040204" pitchFamily="34" charset="0"/>
              </a:rPr>
              <a:t>Xin </a:t>
            </a:r>
            <a:r>
              <a:rPr sz="1400" dirty="0" err="1">
                <a:latin typeface="Tahoma" panose="020B0604030504040204" pitchFamily="34" charset="0"/>
              </a:rPr>
              <a:t>chào</a:t>
            </a:r>
            <a:r>
              <a:rPr sz="1400" dirty="0">
                <a:latin typeface="Tahoma" panose="020B0604030504040204" pitchFamily="34" charset="0"/>
              </a:rPr>
              <a:t>, BCH Công </a:t>
            </a:r>
            <a:r>
              <a:rPr sz="1400" dirty="0" err="1">
                <a:latin typeface="Tahoma" panose="020B0604030504040204" pitchFamily="34" charset="0"/>
              </a:rPr>
              <a:t>đoàn</a:t>
            </a:r>
            <a:r>
              <a:rPr sz="1400" dirty="0">
                <a:latin typeface="Tahoma" panose="020B0604030504040204" pitchFamily="34" charset="0"/>
              </a:rPr>
              <a:t> GPG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199" y="2273737"/>
            <a:ext cx="4937760" cy="307777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950" b="1">
                <a:solidFill>
                  <a:srgbClr val="677180"/>
                </a:solidFill>
                <a:latin typeface="Arial"/>
              </a:defRPr>
            </a:pPr>
            <a:r>
              <a:rPr sz="1400" dirty="0">
                <a:latin typeface="Tahoma" panose="020B0604030504040204" pitchFamily="34" charset="0"/>
              </a:rPr>
              <a:t>Các </a:t>
            </a:r>
            <a:r>
              <a:rPr sz="1400" dirty="0" err="1">
                <a:latin typeface="Tahoma" panose="020B0604030504040204" pitchFamily="34" charset="0"/>
              </a:rPr>
              <a:t>việc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cần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xử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lý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hôm</a:t>
            </a:r>
            <a:r>
              <a:rPr sz="1400" dirty="0">
                <a:latin typeface="Tahoma" panose="020B0604030504040204" pitchFamily="34" charset="0"/>
              </a:rPr>
              <a:t> nay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743199" y="2584633"/>
            <a:ext cx="1600200" cy="822960"/>
          </a:xfrm>
          <a:prstGeom prst="roundRect">
            <a:avLst/>
          </a:prstGeom>
          <a:solidFill>
            <a:srgbClr val="F7F9FD"/>
          </a:solidFill>
          <a:ln>
            <a:solidFill>
              <a:srgbClr val="D9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2788919" y="2712649"/>
            <a:ext cx="1508760" cy="307777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defRPr sz="1800" b="1">
                <a:solidFill>
                  <a:srgbClr val="E87823"/>
                </a:solidFill>
                <a:latin typeface="Arial Narrow"/>
              </a:defRPr>
            </a:pPr>
            <a:r>
              <a:rPr sz="1400" dirty="0">
                <a:latin typeface="Tahoma" panose="020B0604030504040204" pitchFamily="34" charset="0"/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88919" y="3050977"/>
            <a:ext cx="1508760" cy="307777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defRPr sz="760" b="1">
                <a:solidFill>
                  <a:srgbClr val="677180"/>
                </a:solidFill>
                <a:latin typeface="Arial"/>
              </a:defRPr>
            </a:pPr>
            <a:r>
              <a:rPr sz="1400" dirty="0" err="1">
                <a:latin typeface="Tahoma" panose="020B0604030504040204" pitchFamily="34" charset="0"/>
              </a:rPr>
              <a:t>Việc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đến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hạn</a:t>
            </a:r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4617719" y="2584633"/>
            <a:ext cx="1600200" cy="822960"/>
          </a:xfrm>
          <a:prstGeom prst="roundRect">
            <a:avLst/>
          </a:prstGeom>
          <a:solidFill>
            <a:srgbClr val="F7F9FD"/>
          </a:solidFill>
          <a:ln>
            <a:solidFill>
              <a:srgbClr val="D9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4663439" y="2712649"/>
            <a:ext cx="1508760" cy="307777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defRPr sz="1800" b="1">
                <a:solidFill>
                  <a:srgbClr val="C53A3A"/>
                </a:solidFill>
                <a:latin typeface="Arial Narrow"/>
              </a:defRPr>
            </a:pPr>
            <a:r>
              <a:rPr sz="1400" dirty="0">
                <a:latin typeface="Tahoma" panose="020B0604030504040204" pitchFamily="34" charset="0"/>
              </a:rPr>
              <a:t>02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63439" y="3050977"/>
            <a:ext cx="1508760" cy="307777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defRPr sz="760" b="1">
                <a:solidFill>
                  <a:srgbClr val="677180"/>
                </a:solidFill>
                <a:latin typeface="Arial"/>
              </a:defRPr>
            </a:pPr>
            <a:r>
              <a:rPr sz="1400" dirty="0" err="1">
                <a:latin typeface="Tahoma" panose="020B0604030504040204" pitchFamily="34" charset="0"/>
              </a:rPr>
              <a:t>Vụ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việc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quá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hạn</a:t>
            </a:r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6492240" y="2584633"/>
            <a:ext cx="1600200" cy="822960"/>
          </a:xfrm>
          <a:prstGeom prst="roundRect">
            <a:avLst/>
          </a:prstGeom>
          <a:solidFill>
            <a:srgbClr val="F7F9FD"/>
          </a:solidFill>
          <a:ln>
            <a:solidFill>
              <a:srgbClr val="D9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6537959" y="2712649"/>
            <a:ext cx="1508760" cy="307777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defRPr sz="1800" b="1">
                <a:solidFill>
                  <a:srgbClr val="051F71"/>
                </a:solidFill>
                <a:latin typeface="Arial Narrow"/>
              </a:defRPr>
            </a:pPr>
            <a:r>
              <a:rPr sz="1400" dirty="0">
                <a:latin typeface="Tahoma" panose="020B0604030504040204" pitchFamily="34" charset="0"/>
              </a:rPr>
              <a:t>03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37959" y="3050977"/>
            <a:ext cx="1627634" cy="307777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defRPr sz="760" b="1">
                <a:solidFill>
                  <a:srgbClr val="677180"/>
                </a:solidFill>
                <a:latin typeface="Arial"/>
              </a:defRPr>
            </a:pPr>
            <a:r>
              <a:rPr sz="1400" dirty="0">
                <a:latin typeface="Tahoma" panose="020B0604030504040204" pitchFamily="34" charset="0"/>
              </a:rPr>
              <a:t>Báo </a:t>
            </a:r>
            <a:r>
              <a:rPr sz="1400" dirty="0" err="1">
                <a:latin typeface="Tahoma" panose="020B0604030504040204" pitchFamily="34" charset="0"/>
              </a:rPr>
              <a:t>cáo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chưa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nộp</a:t>
            </a:r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2743199" y="3663625"/>
            <a:ext cx="53035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9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2944368" y="3791641"/>
            <a:ext cx="4937760" cy="307777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310" b="1">
                <a:solidFill>
                  <a:srgbClr val="051F71"/>
                </a:solidFill>
                <a:latin typeface="Arial"/>
              </a:defRPr>
            </a:pPr>
            <a:r>
              <a:rPr sz="1400" dirty="0" err="1">
                <a:latin typeface="Tahoma" panose="020B0604030504040204" pitchFamily="34" charset="0"/>
              </a:rPr>
              <a:t>VIỆC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CẦN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LÀM</a:t>
            </a:r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2962655" y="4110115"/>
            <a:ext cx="4864608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60">
                <a:solidFill>
                  <a:srgbClr val="202838"/>
                </a:solidFill>
                <a:latin typeface="Arial"/>
              </a:defRPr>
            </a:pPr>
            <a:r>
              <a:rPr sz="1400" dirty="0">
                <a:latin typeface="Tahoma" panose="020B0604030504040204" pitchFamily="34" charset="0"/>
              </a:rPr>
              <a:t>• </a:t>
            </a:r>
            <a:r>
              <a:rPr sz="1400" dirty="0" err="1">
                <a:latin typeface="Tahoma" panose="020B0604030504040204" pitchFamily="34" charset="0"/>
              </a:rPr>
              <a:t>Duyệt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báo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cáo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CĐCS</a:t>
            </a:r>
            <a:r>
              <a:rPr sz="1400" dirty="0">
                <a:latin typeface="Tahoma" panose="020B0604030504040204" pitchFamily="34" charset="0"/>
              </a:rPr>
              <a:t> GPL </a:t>
            </a:r>
            <a:r>
              <a:rPr sz="1400" dirty="0" err="1">
                <a:latin typeface="Tahoma" panose="020B0604030504040204" pitchFamily="34" charset="0"/>
              </a:rPr>
              <a:t>tháng</a:t>
            </a:r>
            <a:r>
              <a:rPr sz="1400" dirty="0">
                <a:latin typeface="Tahoma" panose="020B0604030504040204" pitchFamily="34" charset="0"/>
              </a:rPr>
              <a:t> 8.</a:t>
            </a:r>
          </a:p>
          <a:p>
            <a:pPr>
              <a:defRPr sz="860">
                <a:solidFill>
                  <a:srgbClr val="202838"/>
                </a:solidFill>
                <a:latin typeface="Arial"/>
              </a:defRPr>
            </a:pPr>
            <a:r>
              <a:rPr sz="1400" dirty="0">
                <a:latin typeface="Tahoma" panose="020B0604030504040204" pitchFamily="34" charset="0"/>
              </a:rPr>
              <a:t>• </a:t>
            </a:r>
            <a:r>
              <a:rPr sz="1400" dirty="0" err="1">
                <a:latin typeface="Tahoma" panose="020B0604030504040204" pitchFamily="34" charset="0"/>
              </a:rPr>
              <a:t>Kiểm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tra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chứng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từ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chương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trình</a:t>
            </a:r>
            <a:r>
              <a:rPr sz="1400" dirty="0">
                <a:latin typeface="Tahoma" panose="020B0604030504040204" pitchFamily="34" charset="0"/>
              </a:rPr>
              <a:t> VCS.</a:t>
            </a:r>
          </a:p>
          <a:p>
            <a:pPr>
              <a:defRPr sz="860">
                <a:solidFill>
                  <a:srgbClr val="202838"/>
                </a:solidFill>
                <a:latin typeface="Arial"/>
              </a:defRPr>
            </a:pPr>
            <a:r>
              <a:rPr sz="1400" dirty="0">
                <a:latin typeface="Tahoma" panose="020B0604030504040204" pitchFamily="34" charset="0"/>
              </a:rPr>
              <a:t>• Follow-up </a:t>
            </a:r>
            <a:r>
              <a:rPr sz="1400" dirty="0" err="1">
                <a:latin typeface="Tahoma" panose="020B0604030504040204" pitchFamily="34" charset="0"/>
              </a:rPr>
              <a:t>vụ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việc</a:t>
            </a:r>
            <a:r>
              <a:rPr sz="1400" dirty="0">
                <a:latin typeface="Tahoma" panose="020B0604030504040204" pitchFamily="34" charset="0"/>
              </a:rPr>
              <a:t> UV-003.</a:t>
            </a:r>
          </a:p>
          <a:p>
            <a:pPr>
              <a:defRPr sz="860">
                <a:solidFill>
                  <a:srgbClr val="202838"/>
                </a:solidFill>
                <a:latin typeface="Arial"/>
              </a:defRPr>
            </a:pPr>
            <a:r>
              <a:rPr sz="1400" dirty="0">
                <a:latin typeface="Tahoma" panose="020B0604030504040204" pitchFamily="34" charset="0"/>
              </a:rPr>
              <a:t>• </a:t>
            </a:r>
            <a:r>
              <a:rPr sz="1400" dirty="0" err="1">
                <a:latin typeface="Tahoma" panose="020B0604030504040204" pitchFamily="34" charset="0"/>
              </a:rPr>
              <a:t>Chuẩn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bị</a:t>
            </a:r>
            <a:r>
              <a:rPr sz="1400" dirty="0">
                <a:latin typeface="Tahoma" panose="020B0604030504040204" pitchFamily="34" charset="0"/>
              </a:rPr>
              <a:t> dashboard </a:t>
            </a:r>
            <a:r>
              <a:rPr sz="1400" dirty="0" err="1">
                <a:latin typeface="Tahoma" panose="020B0604030504040204" pitchFamily="34" charset="0"/>
              </a:rPr>
              <a:t>trình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BLĐ</a:t>
            </a:r>
            <a:r>
              <a:rPr sz="1400" dirty="0">
                <a:latin typeface="Tahoma" panose="020B0604030504040204" pitchFamily="34" charset="0"/>
              </a:rPr>
              <a:t>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366760" y="1926265"/>
            <a:ext cx="3063240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9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8567928" y="2054281"/>
            <a:ext cx="2697479" cy="307777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310" b="1">
                <a:solidFill>
                  <a:srgbClr val="E87823"/>
                </a:solidFill>
                <a:latin typeface="Arial"/>
              </a:defRPr>
            </a:pPr>
            <a:r>
              <a:rPr sz="1400" dirty="0" err="1">
                <a:latin typeface="Tahoma" panose="020B0604030504040204" pitchFamily="34" charset="0"/>
              </a:rPr>
              <a:t>CẢNH</a:t>
            </a:r>
            <a:r>
              <a:rPr sz="1400" dirty="0">
                <a:latin typeface="Tahoma" panose="020B0604030504040204" pitchFamily="34" charset="0"/>
              </a:rPr>
              <a:t> BÁO </a:t>
            </a:r>
            <a:r>
              <a:rPr sz="1400" dirty="0" err="1">
                <a:latin typeface="Tahoma" panose="020B0604030504040204" pitchFamily="34" charset="0"/>
              </a:rPr>
              <a:t>HỆ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THỐNG</a:t>
            </a:r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8586216" y="2502337"/>
            <a:ext cx="2843784" cy="11849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50"/>
              </a:spcAft>
              <a:defRPr sz="900">
                <a:solidFill>
                  <a:srgbClr val="202838"/>
                </a:solidFill>
                <a:latin typeface="Arial"/>
              </a:defRPr>
            </a:pPr>
            <a:r>
              <a:rPr sz="1400" dirty="0">
                <a:latin typeface="Tahoma" panose="020B0604030504040204" pitchFamily="34" charset="0"/>
              </a:rPr>
              <a:t>• </a:t>
            </a:r>
            <a:r>
              <a:rPr sz="1400" dirty="0" err="1">
                <a:latin typeface="Tahoma" panose="020B0604030504040204" pitchFamily="34" charset="0"/>
              </a:rPr>
              <a:t>Vụ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việc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sắp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quá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hạn</a:t>
            </a:r>
            <a:r>
              <a:rPr sz="1400" dirty="0">
                <a:latin typeface="Tahoma" panose="020B0604030504040204" pitchFamily="34" charset="0"/>
              </a:rPr>
              <a:t>.</a:t>
            </a:r>
          </a:p>
          <a:p>
            <a:pPr>
              <a:spcAft>
                <a:spcPts val="550"/>
              </a:spcAft>
              <a:defRPr sz="900">
                <a:solidFill>
                  <a:srgbClr val="202838"/>
                </a:solidFill>
                <a:latin typeface="Arial"/>
              </a:defRPr>
            </a:pPr>
            <a:r>
              <a:rPr sz="1400" dirty="0">
                <a:latin typeface="Tahoma" panose="020B0604030504040204" pitchFamily="34" charset="0"/>
              </a:rPr>
              <a:t>• </a:t>
            </a:r>
            <a:r>
              <a:rPr sz="1400" dirty="0" err="1">
                <a:latin typeface="Tahoma" panose="020B0604030504040204" pitchFamily="34" charset="0"/>
              </a:rPr>
              <a:t>Chính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sách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chăm</a:t>
            </a:r>
            <a:r>
              <a:rPr sz="1400" dirty="0">
                <a:latin typeface="Tahoma" panose="020B0604030504040204" pitchFamily="34" charset="0"/>
              </a:rPr>
              <a:t> lo </a:t>
            </a:r>
            <a:r>
              <a:rPr sz="1400" dirty="0" err="1">
                <a:latin typeface="Tahoma" panose="020B0604030504040204" pitchFamily="34" charset="0"/>
              </a:rPr>
              <a:t>chưa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xử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lý</a:t>
            </a:r>
            <a:r>
              <a:rPr sz="1400" dirty="0">
                <a:latin typeface="Tahoma" panose="020B0604030504040204" pitchFamily="34" charset="0"/>
              </a:rPr>
              <a:t>.</a:t>
            </a:r>
          </a:p>
          <a:p>
            <a:pPr>
              <a:spcAft>
                <a:spcPts val="550"/>
              </a:spcAft>
              <a:defRPr sz="900">
                <a:solidFill>
                  <a:srgbClr val="202838"/>
                </a:solidFill>
                <a:latin typeface="Arial"/>
              </a:defRPr>
            </a:pPr>
            <a:r>
              <a:rPr sz="1400" dirty="0">
                <a:latin typeface="Tahoma" panose="020B0604030504040204" pitchFamily="34" charset="0"/>
              </a:rPr>
              <a:t>• </a:t>
            </a:r>
            <a:r>
              <a:rPr sz="1400" dirty="0" err="1">
                <a:latin typeface="Tahoma" panose="020B0604030504040204" pitchFamily="34" charset="0"/>
              </a:rPr>
              <a:t>Đơn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vị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chưa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nộp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báo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cáo</a:t>
            </a:r>
            <a:r>
              <a:rPr sz="1400" dirty="0">
                <a:latin typeface="Tahoma" panose="020B0604030504040204" pitchFamily="34" charset="0"/>
              </a:rPr>
              <a:t>.</a:t>
            </a:r>
          </a:p>
          <a:p>
            <a:pPr>
              <a:spcAft>
                <a:spcPts val="550"/>
              </a:spcAft>
              <a:defRPr sz="900">
                <a:solidFill>
                  <a:srgbClr val="202838"/>
                </a:solidFill>
                <a:latin typeface="Arial"/>
              </a:defRPr>
            </a:pPr>
            <a:r>
              <a:rPr sz="1400" dirty="0">
                <a:latin typeface="Tahoma" panose="020B0604030504040204" pitchFamily="34" charset="0"/>
              </a:rPr>
              <a:t>• Ngân </a:t>
            </a:r>
            <a:r>
              <a:rPr sz="1400" dirty="0" err="1">
                <a:latin typeface="Tahoma" panose="020B0604030504040204" pitchFamily="34" charset="0"/>
              </a:rPr>
              <a:t>sách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gần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vượt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kế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hoạch</a:t>
            </a:r>
            <a:r>
              <a:rPr sz="1400" dirty="0">
                <a:latin typeface="Tahoma" panose="020B0604030504040204" pitchFamily="34" charset="0"/>
              </a:rPr>
              <a:t>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608" y="82296"/>
            <a:ext cx="960120" cy="548640"/>
          </a:xfrm>
          <a:prstGeom prst="rect">
            <a:avLst/>
          </a:prstGeom>
        </p:spPr>
      </p:pic>
      <p:pic>
        <p:nvPicPr>
          <p:cNvPr id="3" name="Picture 2" descr="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64008"/>
            <a:ext cx="646818" cy="585216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274320" y="749808"/>
            <a:ext cx="11649456" cy="22860"/>
          </a:xfrm>
          <a:prstGeom prst="rect">
            <a:avLst/>
          </a:prstGeom>
          <a:solidFill>
            <a:srgbClr val="051F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Tahoma" panose="020B0604030504040204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74320" y="6299379"/>
            <a:ext cx="2077813" cy="22313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051F71"/>
                </a:solidFill>
                <a:latin typeface="Arial"/>
              </a:defRPr>
            </a:pPr>
            <a:r>
              <a:rPr dirty="0">
                <a:latin typeface="Tahoma" panose="020B0604030504040204" pitchFamily="34" charset="0"/>
              </a:rPr>
              <a:t>CÔNG ĐOÀN GPG | GPG TRADE UNION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97632" y="5899331"/>
            <a:ext cx="1029448" cy="21839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19">
                <a:solidFill>
                  <a:srgbClr val="677180"/>
                </a:solidFill>
                <a:latin typeface="Arial"/>
              </a:defRPr>
            </a:pPr>
            <a:r>
              <a:rPr dirty="0">
                <a:latin typeface="Tahoma" panose="020B0604030504040204" pitchFamily="34" charset="0"/>
              </a:rPr>
              <a:t>V. </a:t>
            </a:r>
            <a:r>
              <a:rPr dirty="0" err="1">
                <a:latin typeface="Tahoma" panose="020B0604030504040204" pitchFamily="34" charset="0"/>
              </a:rPr>
              <a:t>SỐ</a:t>
            </a:r>
            <a:r>
              <a:rPr dirty="0">
                <a:latin typeface="Tahoma" panose="020B0604030504040204" pitchFamily="34" charset="0"/>
              </a:rPr>
              <a:t> </a:t>
            </a:r>
            <a:r>
              <a:rPr dirty="0" err="1">
                <a:latin typeface="Tahoma" panose="020B0604030504040204" pitchFamily="34" charset="0"/>
              </a:rPr>
              <a:t>HÓA</a:t>
            </a:r>
            <a:r>
              <a:rPr dirty="0">
                <a:latin typeface="Tahoma" panose="020B0604030504040204" pitchFamily="34" charset="0"/>
              </a:rPr>
              <a:t> HỒ </a:t>
            </a:r>
            <a:r>
              <a:rPr dirty="0" err="1">
                <a:latin typeface="Tahoma" panose="020B0604030504040204" pitchFamily="34" charset="0"/>
              </a:rPr>
              <a:t>SƠ</a:t>
            </a:r>
            <a:endParaRPr dirty="0">
              <a:latin typeface="Tahoma" panose="020B0604030504040204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347478" y="6271947"/>
            <a:ext cx="338554" cy="2385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051F71"/>
                </a:solidFill>
                <a:latin typeface="Arial"/>
              </a:defRPr>
            </a:pPr>
            <a:r>
              <a:rPr dirty="0">
                <a:latin typeface="Tahoma" panose="020B0604030504040204" pitchFamily="34" charset="0"/>
              </a:rPr>
              <a:t>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5175" y="219456"/>
            <a:ext cx="9164688" cy="50013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50" b="1">
                <a:solidFill>
                  <a:srgbClr val="051F71"/>
                </a:solidFill>
                <a:latin typeface="Arial Narrow"/>
              </a:defRPr>
            </a:pPr>
            <a:r>
              <a:rPr dirty="0" err="1">
                <a:latin typeface="Tahoma" panose="020B0604030504040204" pitchFamily="34" charset="0"/>
              </a:rPr>
              <a:t>MÀN</a:t>
            </a:r>
            <a:r>
              <a:rPr dirty="0">
                <a:latin typeface="Tahoma" panose="020B0604030504040204" pitchFamily="34" charset="0"/>
              </a:rPr>
              <a:t> </a:t>
            </a:r>
            <a:r>
              <a:rPr dirty="0" err="1">
                <a:latin typeface="Tahoma" panose="020B0604030504040204" pitchFamily="34" charset="0"/>
              </a:rPr>
              <a:t>HÌNH</a:t>
            </a:r>
            <a:r>
              <a:rPr dirty="0">
                <a:latin typeface="Tahoma" panose="020B0604030504040204" pitchFamily="34" charset="0"/>
              </a:rPr>
              <a:t> </a:t>
            </a:r>
            <a:r>
              <a:rPr dirty="0" err="1">
                <a:latin typeface="Tahoma" panose="020B0604030504040204" pitchFamily="34" charset="0"/>
              </a:rPr>
              <a:t>ĐỀ</a:t>
            </a:r>
            <a:r>
              <a:rPr dirty="0">
                <a:latin typeface="Tahoma" panose="020B0604030504040204" pitchFamily="34" charset="0"/>
              </a:rPr>
              <a:t> </a:t>
            </a:r>
            <a:r>
              <a:rPr dirty="0" err="1">
                <a:latin typeface="Tahoma" panose="020B0604030504040204" pitchFamily="34" charset="0"/>
              </a:rPr>
              <a:t>XUẤT</a:t>
            </a:r>
            <a:r>
              <a:rPr dirty="0">
                <a:latin typeface="Tahoma" panose="020B0604030504040204" pitchFamily="34" charset="0"/>
              </a:rPr>
              <a:t> 02 – HỒ </a:t>
            </a:r>
            <a:r>
              <a:rPr dirty="0" err="1">
                <a:latin typeface="Tahoma" panose="020B0604030504040204" pitchFamily="34" charset="0"/>
              </a:rPr>
              <a:t>SƠ</a:t>
            </a:r>
            <a:r>
              <a:rPr dirty="0">
                <a:latin typeface="Tahoma" panose="020B0604030504040204" pitchFamily="34" charset="0"/>
              </a:rPr>
              <a:t> ĐOÀN VIÊN &amp; </a:t>
            </a:r>
            <a:r>
              <a:rPr dirty="0" err="1">
                <a:latin typeface="Tahoma" panose="020B0604030504040204" pitchFamily="34" charset="0"/>
              </a:rPr>
              <a:t>CĐCS</a:t>
            </a:r>
            <a:endParaRPr dirty="0">
              <a:latin typeface="Tahoma" panose="020B0604030504040204" pitchFamily="34" charset="0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713232" y="961571"/>
            <a:ext cx="10808208" cy="5186932"/>
          </a:xfrm>
          <a:prstGeom prst="roundRect">
            <a:avLst/>
          </a:prstGeom>
          <a:solidFill>
            <a:srgbClr val="FFFFFF"/>
          </a:solidFill>
          <a:ln>
            <a:solidFill>
              <a:srgbClr val="D9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Tahoma" panose="020B0604030504040204" pitchFamily="34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48640" y="961571"/>
            <a:ext cx="10972800" cy="475488"/>
          </a:xfrm>
          <a:prstGeom prst="rect">
            <a:avLst/>
          </a:prstGeom>
          <a:solidFill>
            <a:srgbClr val="051F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Tahoma" panose="020B0604030504040204" pitchFamily="34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77240" y="1080443"/>
            <a:ext cx="10515600" cy="307777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050" b="1">
                <a:solidFill>
                  <a:srgbClr val="FFFFFF"/>
                </a:solidFill>
                <a:latin typeface="Arial"/>
              </a:defRPr>
            </a:pPr>
            <a:r>
              <a:rPr sz="1400" dirty="0">
                <a:latin typeface="Tahoma" panose="020B0604030504040204" pitchFamily="34" charset="0"/>
              </a:rPr>
              <a:t>GPG UNION PORTAL | Hồ </a:t>
            </a:r>
            <a:r>
              <a:rPr sz="1400" dirty="0" err="1">
                <a:latin typeface="Tahoma" panose="020B0604030504040204" pitchFamily="34" charset="0"/>
              </a:rPr>
              <a:t>sơ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đoàn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viên</a:t>
            </a:r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548640" y="1437059"/>
            <a:ext cx="1874519" cy="4720588"/>
          </a:xfrm>
          <a:prstGeom prst="rect">
            <a:avLst/>
          </a:prstGeom>
          <a:solidFill>
            <a:srgbClr val="F7F9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13232" y="1674803"/>
            <a:ext cx="1508760" cy="307777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869" b="1">
                <a:solidFill>
                  <a:srgbClr val="051F71"/>
                </a:solidFill>
                <a:latin typeface="Arial"/>
              </a:defRPr>
            </a:pPr>
            <a:r>
              <a:rPr sz="1400" dirty="0">
                <a:latin typeface="Tahoma" panose="020B0604030504040204" pitchFamily="34" charset="0"/>
              </a:rPr>
              <a:t>Đoàn </a:t>
            </a:r>
            <a:r>
              <a:rPr sz="1400" dirty="0" err="1">
                <a:latin typeface="Tahoma" panose="020B0604030504040204" pitchFamily="34" charset="0"/>
              </a:rPr>
              <a:t>viên</a:t>
            </a:r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13232" y="2132003"/>
            <a:ext cx="1508760" cy="307777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869" b="0">
                <a:solidFill>
                  <a:srgbClr val="677180"/>
                </a:solidFill>
                <a:latin typeface="Arial"/>
              </a:defRPr>
            </a:pPr>
            <a:r>
              <a:rPr sz="1400" dirty="0" err="1">
                <a:latin typeface="Tahoma" panose="020B0604030504040204" pitchFamily="34" charset="0"/>
              </a:rPr>
              <a:t>CĐCS</a:t>
            </a:r>
            <a:r>
              <a:rPr sz="1400" dirty="0">
                <a:latin typeface="Tahoma" panose="020B0604030504040204" pitchFamily="34" charset="0"/>
              </a:rPr>
              <a:t>/BCH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" y="2589203"/>
            <a:ext cx="1508760" cy="307777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869" b="0">
                <a:solidFill>
                  <a:srgbClr val="677180"/>
                </a:solidFill>
                <a:latin typeface="Arial"/>
              </a:defRPr>
            </a:pPr>
            <a:r>
              <a:rPr sz="1400" dirty="0">
                <a:latin typeface="Tahoma" panose="020B0604030504040204" pitchFamily="34" charset="0"/>
              </a:rPr>
              <a:t>Import </a:t>
            </a:r>
            <a:r>
              <a:rPr sz="1400" dirty="0" err="1">
                <a:latin typeface="Tahoma" panose="020B0604030504040204" pitchFamily="34" charset="0"/>
              </a:rPr>
              <a:t>dữ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liệu</a:t>
            </a:r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13232" y="3046403"/>
            <a:ext cx="1508760" cy="307777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869" b="0">
                <a:solidFill>
                  <a:srgbClr val="677180"/>
                </a:solidFill>
                <a:latin typeface="Arial"/>
              </a:defRPr>
            </a:pPr>
            <a:r>
              <a:rPr sz="1400" dirty="0" err="1">
                <a:latin typeface="Tahoma" panose="020B0604030504040204" pitchFamily="34" charset="0"/>
              </a:rPr>
              <a:t>Biến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động</a:t>
            </a:r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13232" y="3503603"/>
            <a:ext cx="1508760" cy="307777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869" b="0">
                <a:solidFill>
                  <a:srgbClr val="677180"/>
                </a:solidFill>
                <a:latin typeface="Arial"/>
              </a:defRPr>
            </a:pPr>
            <a:r>
              <a:rPr sz="1400" dirty="0">
                <a:latin typeface="Tahoma" panose="020B0604030504040204" pitchFamily="34" charset="0"/>
              </a:rPr>
              <a:t>Tài </a:t>
            </a:r>
            <a:r>
              <a:rPr sz="1400" dirty="0" err="1">
                <a:latin typeface="Tahoma" panose="020B0604030504040204" pitchFamily="34" charset="0"/>
              </a:rPr>
              <a:t>liệu</a:t>
            </a:r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2697479" y="1665659"/>
            <a:ext cx="864108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D9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898648" y="1793675"/>
            <a:ext cx="8275319" cy="307777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950" b="1">
                <a:solidFill>
                  <a:srgbClr val="051F71"/>
                </a:solidFill>
                <a:latin typeface="Arial"/>
              </a:defRPr>
            </a:pPr>
            <a:r>
              <a:rPr sz="1400" dirty="0" err="1">
                <a:latin typeface="Tahoma" panose="020B0604030504040204" pitchFamily="34" charset="0"/>
              </a:rPr>
              <a:t>BỘ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LỌC</a:t>
            </a:r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2898648" y="2098185"/>
            <a:ext cx="8202167" cy="307777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830" b="0">
                <a:solidFill>
                  <a:srgbClr val="202838"/>
                </a:solidFill>
                <a:latin typeface="Arial"/>
              </a:defRPr>
            </a:pPr>
            <a:r>
              <a:rPr sz="1400" dirty="0">
                <a:latin typeface="Tahoma" panose="020B0604030504040204" pitchFamily="34" charset="0"/>
              </a:rPr>
              <a:t>Công ty [</a:t>
            </a:r>
            <a:r>
              <a:rPr sz="1400" dirty="0" err="1">
                <a:latin typeface="Tahoma" panose="020B0604030504040204" pitchFamily="34" charset="0"/>
              </a:rPr>
              <a:t>Tất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cả</a:t>
            </a:r>
            <a:r>
              <a:rPr sz="1400" dirty="0">
                <a:latin typeface="Tahoma" panose="020B0604030504040204" pitchFamily="34" charset="0"/>
              </a:rPr>
              <a:t>]  |  </a:t>
            </a:r>
            <a:r>
              <a:rPr sz="1400" dirty="0" err="1">
                <a:latin typeface="Tahoma" panose="020B0604030504040204" pitchFamily="34" charset="0"/>
              </a:rPr>
              <a:t>Địa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điểm</a:t>
            </a:r>
            <a:r>
              <a:rPr sz="1400" dirty="0">
                <a:latin typeface="Tahoma" panose="020B0604030504040204" pitchFamily="34" charset="0"/>
              </a:rPr>
              <a:t> [</a:t>
            </a:r>
            <a:r>
              <a:rPr sz="1400" dirty="0" err="1">
                <a:latin typeface="Tahoma" panose="020B0604030504040204" pitchFamily="34" charset="0"/>
              </a:rPr>
              <a:t>Tất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cả</a:t>
            </a:r>
            <a:r>
              <a:rPr sz="1400" dirty="0">
                <a:latin typeface="Tahoma" panose="020B0604030504040204" pitchFamily="34" charset="0"/>
              </a:rPr>
              <a:t>]  |  </a:t>
            </a:r>
            <a:r>
              <a:rPr sz="1400" dirty="0" err="1">
                <a:latin typeface="Tahoma" panose="020B0604030504040204" pitchFamily="34" charset="0"/>
              </a:rPr>
              <a:t>Trạng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thái</a:t>
            </a:r>
            <a:r>
              <a:rPr sz="1400" dirty="0">
                <a:latin typeface="Tahoma" panose="020B0604030504040204" pitchFamily="34" charset="0"/>
              </a:rPr>
              <a:t> [</a:t>
            </a:r>
            <a:r>
              <a:rPr sz="1400" dirty="0" err="1">
                <a:latin typeface="Tahoma" panose="020B0604030504040204" pitchFamily="34" charset="0"/>
              </a:rPr>
              <a:t>Đang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hoạt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động</a:t>
            </a:r>
            <a:r>
              <a:rPr sz="1400" dirty="0">
                <a:latin typeface="Tahoma" panose="020B0604030504040204" pitchFamily="34" charset="0"/>
              </a:rPr>
              <a:t>]  |  </a:t>
            </a:r>
            <a:r>
              <a:rPr sz="1400" dirty="0" err="1">
                <a:latin typeface="Tahoma" panose="020B0604030504040204" pitchFamily="34" charset="0"/>
              </a:rPr>
              <a:t>Tìm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kiếm</a:t>
            </a:r>
            <a:r>
              <a:rPr sz="1400" dirty="0">
                <a:latin typeface="Tahoma" panose="020B0604030504040204" pitchFamily="34" charset="0"/>
              </a:rPr>
              <a:t> [</a:t>
            </a:r>
            <a:r>
              <a:rPr sz="1400" dirty="0" err="1">
                <a:latin typeface="Tahoma" panose="020B0604030504040204" pitchFamily="34" charset="0"/>
              </a:rPr>
              <a:t>Tên</a:t>
            </a:r>
            <a:r>
              <a:rPr sz="1400" dirty="0">
                <a:latin typeface="Tahoma" panose="020B0604030504040204" pitchFamily="34" charset="0"/>
              </a:rPr>
              <a:t>/</a:t>
            </a:r>
            <a:r>
              <a:rPr sz="1400" dirty="0" err="1">
                <a:latin typeface="Tahoma" panose="020B0604030504040204" pitchFamily="34" charset="0"/>
              </a:rPr>
              <a:t>Mã</a:t>
            </a:r>
            <a:r>
              <a:rPr sz="1400" dirty="0">
                <a:latin typeface="Tahoma" panose="020B0604030504040204" pitchFamily="34" charset="0"/>
              </a:rPr>
              <a:t> NV]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697479" y="2625779"/>
            <a:ext cx="960120" cy="457200"/>
          </a:xfrm>
          <a:prstGeom prst="rect">
            <a:avLst/>
          </a:prstGeom>
          <a:solidFill>
            <a:srgbClr val="051F71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2734055" y="2689787"/>
            <a:ext cx="886968" cy="307777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rial"/>
              </a:defRPr>
            </a:pPr>
            <a:r>
              <a:rPr sz="1400" dirty="0" err="1">
                <a:latin typeface="Tahoma" panose="020B0604030504040204" pitchFamily="34" charset="0"/>
              </a:rPr>
              <a:t>Mã</a:t>
            </a:r>
            <a:r>
              <a:rPr sz="1400" dirty="0">
                <a:latin typeface="Tahoma" panose="020B0604030504040204" pitchFamily="34" charset="0"/>
              </a:rPr>
              <a:t> NV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0" y="2625779"/>
            <a:ext cx="2148840" cy="457200"/>
          </a:xfrm>
          <a:prstGeom prst="rect">
            <a:avLst/>
          </a:prstGeom>
          <a:solidFill>
            <a:srgbClr val="051F71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3694176" y="2689787"/>
            <a:ext cx="2075688" cy="307777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rial"/>
              </a:defRPr>
            </a:pPr>
            <a:r>
              <a:rPr sz="1400" dirty="0" err="1">
                <a:latin typeface="Tahoma" panose="020B0604030504040204" pitchFamily="34" charset="0"/>
              </a:rPr>
              <a:t>Họ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tên</a:t>
            </a:r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5806440" y="2625779"/>
            <a:ext cx="1005840" cy="457200"/>
          </a:xfrm>
          <a:prstGeom prst="rect">
            <a:avLst/>
          </a:prstGeom>
          <a:solidFill>
            <a:srgbClr val="051F71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5843016" y="2689787"/>
            <a:ext cx="932688" cy="307777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rial"/>
              </a:defRPr>
            </a:pPr>
            <a:r>
              <a:rPr sz="1400" dirty="0">
                <a:latin typeface="Tahoma" panose="020B0604030504040204" pitchFamily="34" charset="0"/>
              </a:rPr>
              <a:t>Công ty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812280" y="2625779"/>
            <a:ext cx="1234440" cy="457200"/>
          </a:xfrm>
          <a:prstGeom prst="rect">
            <a:avLst/>
          </a:prstGeom>
          <a:solidFill>
            <a:srgbClr val="051F71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6848856" y="2689787"/>
            <a:ext cx="1161288" cy="307777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rial"/>
              </a:defRPr>
            </a:pPr>
            <a:r>
              <a:rPr sz="1400" dirty="0" err="1">
                <a:latin typeface="Tahoma" panose="020B0604030504040204" pitchFamily="34" charset="0"/>
              </a:rPr>
              <a:t>CĐ</a:t>
            </a:r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8046720" y="2625779"/>
            <a:ext cx="1234440" cy="457200"/>
          </a:xfrm>
          <a:prstGeom prst="rect">
            <a:avLst/>
          </a:prstGeom>
          <a:solidFill>
            <a:srgbClr val="051F71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8083295" y="2689787"/>
            <a:ext cx="1161288" cy="307777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rial"/>
              </a:defRPr>
            </a:pPr>
            <a:r>
              <a:rPr sz="1400" dirty="0" err="1">
                <a:latin typeface="Tahoma" panose="020B0604030504040204" pitchFamily="34" charset="0"/>
              </a:rPr>
              <a:t>Địa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điểm</a:t>
            </a:r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9281160" y="2625779"/>
            <a:ext cx="1417320" cy="457200"/>
          </a:xfrm>
          <a:prstGeom prst="rect">
            <a:avLst/>
          </a:prstGeom>
          <a:solidFill>
            <a:srgbClr val="051F71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9317735" y="2689787"/>
            <a:ext cx="1344168" cy="307777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rial"/>
              </a:defRPr>
            </a:pPr>
            <a:r>
              <a:rPr sz="1400" dirty="0" err="1">
                <a:latin typeface="Tahoma" panose="020B0604030504040204" pitchFamily="34" charset="0"/>
              </a:rPr>
              <a:t>Trạng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thái</a:t>
            </a:r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2697479" y="3082979"/>
            <a:ext cx="960120" cy="457200"/>
          </a:xfrm>
          <a:prstGeom prst="rect">
            <a:avLst/>
          </a:prstGeom>
          <a:solidFill>
            <a:srgbClr val="FFFFFF"/>
          </a:solidFill>
          <a:ln>
            <a:solidFill>
              <a:srgbClr val="D9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2734055" y="3137842"/>
            <a:ext cx="886968" cy="307777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defRPr sz="780" b="0">
                <a:solidFill>
                  <a:srgbClr val="202838"/>
                </a:solidFill>
                <a:latin typeface="Arial"/>
              </a:defRPr>
            </a:pPr>
            <a:r>
              <a:rPr sz="1400" dirty="0" err="1">
                <a:latin typeface="Tahoma" panose="020B0604030504040204" pitchFamily="34" charset="0"/>
              </a:rPr>
              <a:t>NV3811</a:t>
            </a:r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3657600" y="3082979"/>
            <a:ext cx="2148840" cy="457200"/>
          </a:xfrm>
          <a:prstGeom prst="rect">
            <a:avLst/>
          </a:prstGeom>
          <a:solidFill>
            <a:srgbClr val="FFFFFF"/>
          </a:solidFill>
          <a:ln>
            <a:solidFill>
              <a:srgbClr val="D9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3694176" y="3137842"/>
            <a:ext cx="2075688" cy="307777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780" b="0">
                <a:solidFill>
                  <a:srgbClr val="202838"/>
                </a:solidFill>
                <a:latin typeface="Arial"/>
              </a:defRPr>
            </a:pPr>
            <a:r>
              <a:rPr sz="1400" dirty="0">
                <a:latin typeface="Tahoma" panose="020B0604030504040204" pitchFamily="34" charset="0"/>
              </a:rPr>
              <a:t>Nguyễn </a:t>
            </a:r>
            <a:r>
              <a:rPr sz="1400" dirty="0" err="1">
                <a:latin typeface="Tahoma" panose="020B0604030504040204" pitchFamily="34" charset="0"/>
              </a:rPr>
              <a:t>Trần</a:t>
            </a:r>
            <a:r>
              <a:rPr sz="1400" dirty="0">
                <a:latin typeface="Tahoma" panose="020B0604030504040204" pitchFamily="34" charset="0"/>
              </a:rPr>
              <a:t> Hải Yến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806440" y="3082979"/>
            <a:ext cx="1005840" cy="457200"/>
          </a:xfrm>
          <a:prstGeom prst="rect">
            <a:avLst/>
          </a:prstGeom>
          <a:solidFill>
            <a:srgbClr val="FFFFFF"/>
          </a:solidFill>
          <a:ln>
            <a:solidFill>
              <a:srgbClr val="D9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5843016" y="3137842"/>
            <a:ext cx="932688" cy="307777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780" b="0">
                <a:solidFill>
                  <a:srgbClr val="202838"/>
                </a:solidFill>
                <a:latin typeface="Arial"/>
              </a:defRPr>
            </a:pPr>
            <a:r>
              <a:rPr sz="1400" dirty="0">
                <a:latin typeface="Tahoma" panose="020B0604030504040204" pitchFamily="34" charset="0"/>
              </a:rPr>
              <a:t>VCS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812280" y="3082979"/>
            <a:ext cx="1234440" cy="457200"/>
          </a:xfrm>
          <a:prstGeom prst="rect">
            <a:avLst/>
          </a:prstGeom>
          <a:solidFill>
            <a:srgbClr val="FFFFFF"/>
          </a:solidFill>
          <a:ln>
            <a:solidFill>
              <a:srgbClr val="D9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6848856" y="3137842"/>
            <a:ext cx="1161288" cy="307777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780" b="0">
                <a:solidFill>
                  <a:srgbClr val="202838"/>
                </a:solidFill>
                <a:latin typeface="Arial"/>
              </a:defRPr>
            </a:pPr>
            <a:r>
              <a:rPr sz="1400" dirty="0">
                <a:latin typeface="Tahoma" panose="020B0604030504040204" pitchFamily="34" charset="0"/>
              </a:rPr>
              <a:t>Đoàn </a:t>
            </a:r>
            <a:r>
              <a:rPr sz="1400" dirty="0" err="1">
                <a:latin typeface="Tahoma" panose="020B0604030504040204" pitchFamily="34" charset="0"/>
              </a:rPr>
              <a:t>viên</a:t>
            </a:r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8046720" y="3082979"/>
            <a:ext cx="1234440" cy="457200"/>
          </a:xfrm>
          <a:prstGeom prst="rect">
            <a:avLst/>
          </a:prstGeom>
          <a:solidFill>
            <a:srgbClr val="FFFFFF"/>
          </a:solidFill>
          <a:ln>
            <a:solidFill>
              <a:srgbClr val="D9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8083295" y="3137842"/>
            <a:ext cx="1161288" cy="307777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780" b="0">
                <a:solidFill>
                  <a:srgbClr val="202838"/>
                </a:solidFill>
                <a:latin typeface="Arial"/>
              </a:defRPr>
            </a:pPr>
            <a:r>
              <a:rPr sz="1400" dirty="0">
                <a:latin typeface="Tahoma" panose="020B0604030504040204" pitchFamily="34" charset="0"/>
              </a:rPr>
              <a:t>VP-TCT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281160" y="3082979"/>
            <a:ext cx="1417320" cy="457200"/>
          </a:xfrm>
          <a:prstGeom prst="rect">
            <a:avLst/>
          </a:prstGeom>
          <a:solidFill>
            <a:srgbClr val="FFFFFF"/>
          </a:solidFill>
          <a:ln>
            <a:solidFill>
              <a:srgbClr val="D9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9317735" y="3137842"/>
            <a:ext cx="1344168" cy="307777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780" b="0">
                <a:solidFill>
                  <a:srgbClr val="202838"/>
                </a:solidFill>
                <a:latin typeface="Arial"/>
              </a:defRPr>
            </a:pPr>
            <a:r>
              <a:rPr sz="1400" dirty="0" err="1">
                <a:latin typeface="Tahoma" panose="020B0604030504040204" pitchFamily="34" charset="0"/>
              </a:rPr>
              <a:t>Đang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hoạt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động</a:t>
            </a:r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2697479" y="3540179"/>
            <a:ext cx="960120" cy="457200"/>
          </a:xfrm>
          <a:prstGeom prst="rect">
            <a:avLst/>
          </a:prstGeom>
          <a:solidFill>
            <a:srgbClr val="F7F9FD"/>
          </a:solidFill>
          <a:ln>
            <a:solidFill>
              <a:srgbClr val="D9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2734055" y="3595042"/>
            <a:ext cx="886968" cy="307777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defRPr sz="780" b="0">
                <a:solidFill>
                  <a:srgbClr val="202838"/>
                </a:solidFill>
                <a:latin typeface="Arial"/>
              </a:defRPr>
            </a:pPr>
            <a:r>
              <a:rPr sz="1400" dirty="0" err="1">
                <a:latin typeface="Tahoma" panose="020B0604030504040204" pitchFamily="34" charset="0"/>
              </a:rPr>
              <a:t>NV1182</a:t>
            </a:r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47" name="Rectangle 46"/>
          <p:cNvSpPr/>
          <p:nvPr/>
        </p:nvSpPr>
        <p:spPr>
          <a:xfrm>
            <a:off x="3657600" y="3540179"/>
            <a:ext cx="2148840" cy="457200"/>
          </a:xfrm>
          <a:prstGeom prst="rect">
            <a:avLst/>
          </a:prstGeom>
          <a:solidFill>
            <a:srgbClr val="F7F9FD"/>
          </a:solidFill>
          <a:ln>
            <a:solidFill>
              <a:srgbClr val="D9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3694176" y="3595042"/>
            <a:ext cx="2075688" cy="307777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780" b="0">
                <a:solidFill>
                  <a:srgbClr val="202838"/>
                </a:solidFill>
                <a:latin typeface="Arial"/>
              </a:defRPr>
            </a:pPr>
            <a:r>
              <a:rPr sz="1400" dirty="0">
                <a:latin typeface="Tahoma" panose="020B0604030504040204" pitchFamily="34" charset="0"/>
              </a:rPr>
              <a:t>Nguyễn Văn Quang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806440" y="3540179"/>
            <a:ext cx="1005840" cy="457200"/>
          </a:xfrm>
          <a:prstGeom prst="rect">
            <a:avLst/>
          </a:prstGeom>
          <a:solidFill>
            <a:srgbClr val="F7F9FD"/>
          </a:solidFill>
          <a:ln>
            <a:solidFill>
              <a:srgbClr val="D9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5843016" y="3595042"/>
            <a:ext cx="932688" cy="307777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780" b="0">
                <a:solidFill>
                  <a:srgbClr val="202838"/>
                </a:solidFill>
                <a:latin typeface="Arial"/>
              </a:defRPr>
            </a:pPr>
            <a:r>
              <a:rPr sz="1400" dirty="0">
                <a:latin typeface="Tahoma" panose="020B0604030504040204" pitchFamily="34" charset="0"/>
              </a:rPr>
              <a:t>VCS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812280" y="3540179"/>
            <a:ext cx="1234440" cy="457200"/>
          </a:xfrm>
          <a:prstGeom prst="rect">
            <a:avLst/>
          </a:prstGeom>
          <a:solidFill>
            <a:srgbClr val="F7F9FD"/>
          </a:solidFill>
          <a:ln>
            <a:solidFill>
              <a:srgbClr val="D9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6848856" y="3595042"/>
            <a:ext cx="1161288" cy="307777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780" b="0">
                <a:solidFill>
                  <a:srgbClr val="202838"/>
                </a:solidFill>
                <a:latin typeface="Arial"/>
              </a:defRPr>
            </a:pPr>
            <a:r>
              <a:rPr sz="1400" dirty="0">
                <a:latin typeface="Tahoma" panose="020B0604030504040204" pitchFamily="34" charset="0"/>
              </a:rPr>
              <a:t>Đoàn </a:t>
            </a:r>
            <a:r>
              <a:rPr sz="1400" dirty="0" err="1">
                <a:latin typeface="Tahoma" panose="020B0604030504040204" pitchFamily="34" charset="0"/>
              </a:rPr>
              <a:t>viên</a:t>
            </a:r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53" name="Rectangle 52"/>
          <p:cNvSpPr/>
          <p:nvPr/>
        </p:nvSpPr>
        <p:spPr>
          <a:xfrm>
            <a:off x="8046720" y="3540179"/>
            <a:ext cx="1234440" cy="457200"/>
          </a:xfrm>
          <a:prstGeom prst="rect">
            <a:avLst/>
          </a:prstGeom>
          <a:solidFill>
            <a:srgbClr val="F7F9FD"/>
          </a:solidFill>
          <a:ln>
            <a:solidFill>
              <a:srgbClr val="D9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8083295" y="3595042"/>
            <a:ext cx="1161288" cy="307777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780" b="0">
                <a:solidFill>
                  <a:srgbClr val="202838"/>
                </a:solidFill>
                <a:latin typeface="Arial"/>
              </a:defRPr>
            </a:pPr>
            <a:r>
              <a:rPr sz="1400" dirty="0">
                <a:latin typeface="Tahoma" panose="020B0604030504040204" pitchFamily="34" charset="0"/>
              </a:rPr>
              <a:t>VP-TCT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281160" y="3540179"/>
            <a:ext cx="1417320" cy="457200"/>
          </a:xfrm>
          <a:prstGeom prst="rect">
            <a:avLst/>
          </a:prstGeom>
          <a:solidFill>
            <a:srgbClr val="F7F9FD"/>
          </a:solidFill>
          <a:ln>
            <a:solidFill>
              <a:srgbClr val="D9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9317735" y="3595042"/>
            <a:ext cx="1344168" cy="307777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780" b="0">
                <a:solidFill>
                  <a:srgbClr val="202838"/>
                </a:solidFill>
                <a:latin typeface="Arial"/>
              </a:defRPr>
            </a:pPr>
            <a:r>
              <a:rPr sz="1400" dirty="0" err="1">
                <a:latin typeface="Tahoma" panose="020B0604030504040204" pitchFamily="34" charset="0"/>
              </a:rPr>
              <a:t>Đang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hoạt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động</a:t>
            </a:r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57" name="Rectangle 56"/>
          <p:cNvSpPr/>
          <p:nvPr/>
        </p:nvSpPr>
        <p:spPr>
          <a:xfrm>
            <a:off x="2697479" y="3997379"/>
            <a:ext cx="960120" cy="457200"/>
          </a:xfrm>
          <a:prstGeom prst="rect">
            <a:avLst/>
          </a:prstGeom>
          <a:solidFill>
            <a:srgbClr val="FFFFFF"/>
          </a:solidFill>
          <a:ln>
            <a:solidFill>
              <a:srgbClr val="D9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2734055" y="4052243"/>
            <a:ext cx="886968" cy="307777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defRPr sz="780" b="0">
                <a:solidFill>
                  <a:srgbClr val="202838"/>
                </a:solidFill>
                <a:latin typeface="Arial"/>
              </a:defRPr>
            </a:pPr>
            <a:r>
              <a:rPr sz="1400" dirty="0" err="1">
                <a:latin typeface="Tahoma" panose="020B0604030504040204" pitchFamily="34" charset="0"/>
              </a:rPr>
              <a:t>NVxxxx</a:t>
            </a:r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59" name="Rectangle 58"/>
          <p:cNvSpPr/>
          <p:nvPr/>
        </p:nvSpPr>
        <p:spPr>
          <a:xfrm>
            <a:off x="3657600" y="3997379"/>
            <a:ext cx="2148840" cy="457200"/>
          </a:xfrm>
          <a:prstGeom prst="rect">
            <a:avLst/>
          </a:prstGeom>
          <a:solidFill>
            <a:srgbClr val="FFFFFF"/>
          </a:solidFill>
          <a:ln>
            <a:solidFill>
              <a:srgbClr val="D9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3694176" y="4052243"/>
            <a:ext cx="2075688" cy="307777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780" b="0">
                <a:solidFill>
                  <a:srgbClr val="202838"/>
                </a:solidFill>
                <a:latin typeface="Arial"/>
              </a:defRPr>
            </a:pPr>
            <a:r>
              <a:rPr sz="1400" dirty="0">
                <a:latin typeface="Tahoma" panose="020B0604030504040204" pitchFamily="34" charset="0"/>
              </a:rPr>
              <a:t>Nguyễn A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806440" y="3997379"/>
            <a:ext cx="1005840" cy="457200"/>
          </a:xfrm>
          <a:prstGeom prst="rect">
            <a:avLst/>
          </a:prstGeom>
          <a:solidFill>
            <a:srgbClr val="FFFFFF"/>
          </a:solidFill>
          <a:ln>
            <a:solidFill>
              <a:srgbClr val="D9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5843016" y="4052243"/>
            <a:ext cx="932688" cy="307777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780" b="0">
                <a:solidFill>
                  <a:srgbClr val="202838"/>
                </a:solidFill>
                <a:latin typeface="Arial"/>
              </a:defRPr>
            </a:pPr>
            <a:r>
              <a:rPr sz="1400" dirty="0">
                <a:latin typeface="Tahoma" panose="020B0604030504040204" pitchFamily="34" charset="0"/>
              </a:rPr>
              <a:t>GPL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812280" y="3997379"/>
            <a:ext cx="1234440" cy="457200"/>
          </a:xfrm>
          <a:prstGeom prst="rect">
            <a:avLst/>
          </a:prstGeom>
          <a:solidFill>
            <a:srgbClr val="FFFFFF"/>
          </a:solidFill>
          <a:ln>
            <a:solidFill>
              <a:srgbClr val="D9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6848856" y="4052243"/>
            <a:ext cx="1161288" cy="307777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780" b="0">
                <a:solidFill>
                  <a:srgbClr val="202838"/>
                </a:solidFill>
                <a:latin typeface="Arial"/>
              </a:defRPr>
            </a:pPr>
            <a:r>
              <a:rPr sz="1400" dirty="0" err="1">
                <a:latin typeface="Tahoma" panose="020B0604030504040204" pitchFamily="34" charset="0"/>
              </a:rPr>
              <a:t>Chưa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gia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nhập</a:t>
            </a:r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65" name="Rectangle 64"/>
          <p:cNvSpPr/>
          <p:nvPr/>
        </p:nvSpPr>
        <p:spPr>
          <a:xfrm>
            <a:off x="8046720" y="3997379"/>
            <a:ext cx="1234440" cy="457200"/>
          </a:xfrm>
          <a:prstGeom prst="rect">
            <a:avLst/>
          </a:prstGeom>
          <a:solidFill>
            <a:srgbClr val="FFFFFF"/>
          </a:solidFill>
          <a:ln>
            <a:solidFill>
              <a:srgbClr val="D9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66" name="TextBox 65"/>
          <p:cNvSpPr txBox="1"/>
          <p:nvPr/>
        </p:nvSpPr>
        <p:spPr>
          <a:xfrm>
            <a:off x="8083295" y="4052243"/>
            <a:ext cx="1161288" cy="307777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780" b="0">
                <a:solidFill>
                  <a:srgbClr val="202838"/>
                </a:solidFill>
                <a:latin typeface="Arial"/>
              </a:defRPr>
            </a:pPr>
            <a:r>
              <a:rPr sz="1400" dirty="0">
                <a:latin typeface="Tahoma" panose="020B0604030504040204" pitchFamily="34" charset="0"/>
              </a:rPr>
              <a:t>Linh Xuân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281160" y="3997379"/>
            <a:ext cx="1417320" cy="457200"/>
          </a:xfrm>
          <a:prstGeom prst="rect">
            <a:avLst/>
          </a:prstGeom>
          <a:solidFill>
            <a:srgbClr val="FFFFFF"/>
          </a:solidFill>
          <a:ln>
            <a:solidFill>
              <a:srgbClr val="D9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68" name="TextBox 67"/>
          <p:cNvSpPr txBox="1"/>
          <p:nvPr/>
        </p:nvSpPr>
        <p:spPr>
          <a:xfrm>
            <a:off x="9317735" y="4052243"/>
            <a:ext cx="1344168" cy="307777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780" b="0">
                <a:solidFill>
                  <a:srgbClr val="202838"/>
                </a:solidFill>
                <a:latin typeface="Arial"/>
              </a:defRPr>
            </a:pPr>
            <a:r>
              <a:rPr sz="1400" dirty="0" err="1">
                <a:latin typeface="Tahoma" panose="020B0604030504040204" pitchFamily="34" charset="0"/>
              </a:rPr>
              <a:t>Đang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hoạt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động</a:t>
            </a:r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69" name="Rectangle 68"/>
          <p:cNvSpPr/>
          <p:nvPr/>
        </p:nvSpPr>
        <p:spPr>
          <a:xfrm>
            <a:off x="2697479" y="4454579"/>
            <a:ext cx="960120" cy="457200"/>
          </a:xfrm>
          <a:prstGeom prst="rect">
            <a:avLst/>
          </a:prstGeom>
          <a:solidFill>
            <a:srgbClr val="F7F9FD"/>
          </a:solidFill>
          <a:ln>
            <a:solidFill>
              <a:srgbClr val="D9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70" name="TextBox 69"/>
          <p:cNvSpPr txBox="1"/>
          <p:nvPr/>
        </p:nvSpPr>
        <p:spPr>
          <a:xfrm>
            <a:off x="2734055" y="4509443"/>
            <a:ext cx="886968" cy="307777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defRPr sz="780" b="0">
                <a:solidFill>
                  <a:srgbClr val="202838"/>
                </a:solidFill>
                <a:latin typeface="Arial"/>
              </a:defRPr>
            </a:pPr>
            <a:r>
              <a:rPr sz="1400" dirty="0" err="1">
                <a:latin typeface="Tahoma" panose="020B0604030504040204" pitchFamily="34" charset="0"/>
              </a:rPr>
              <a:t>NVyyyy</a:t>
            </a:r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71" name="Rectangle 70"/>
          <p:cNvSpPr/>
          <p:nvPr/>
        </p:nvSpPr>
        <p:spPr>
          <a:xfrm>
            <a:off x="3657600" y="4454579"/>
            <a:ext cx="2148840" cy="457200"/>
          </a:xfrm>
          <a:prstGeom prst="rect">
            <a:avLst/>
          </a:prstGeom>
          <a:solidFill>
            <a:srgbClr val="F7F9FD"/>
          </a:solidFill>
          <a:ln>
            <a:solidFill>
              <a:srgbClr val="D9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72" name="TextBox 71"/>
          <p:cNvSpPr txBox="1"/>
          <p:nvPr/>
        </p:nvSpPr>
        <p:spPr>
          <a:xfrm>
            <a:off x="3694176" y="4509443"/>
            <a:ext cx="2075688" cy="307777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780" b="0">
                <a:solidFill>
                  <a:srgbClr val="202838"/>
                </a:solidFill>
                <a:latin typeface="Arial"/>
              </a:defRPr>
            </a:pPr>
            <a:r>
              <a:rPr sz="1400" dirty="0" err="1">
                <a:latin typeface="Tahoma" panose="020B0604030504040204" pitchFamily="34" charset="0"/>
              </a:rPr>
              <a:t>Trần</a:t>
            </a:r>
            <a:r>
              <a:rPr sz="1400" dirty="0">
                <a:latin typeface="Tahoma" panose="020B0604030504040204" pitchFamily="34" charset="0"/>
              </a:rPr>
              <a:t> B</a:t>
            </a:r>
          </a:p>
        </p:txBody>
      </p:sp>
      <p:sp>
        <p:nvSpPr>
          <p:cNvPr id="73" name="Rectangle 72"/>
          <p:cNvSpPr/>
          <p:nvPr/>
        </p:nvSpPr>
        <p:spPr>
          <a:xfrm>
            <a:off x="5806440" y="4454579"/>
            <a:ext cx="1005840" cy="457200"/>
          </a:xfrm>
          <a:prstGeom prst="rect">
            <a:avLst/>
          </a:prstGeom>
          <a:solidFill>
            <a:srgbClr val="F7F9FD"/>
          </a:solidFill>
          <a:ln>
            <a:solidFill>
              <a:srgbClr val="D9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74" name="TextBox 73"/>
          <p:cNvSpPr txBox="1"/>
          <p:nvPr/>
        </p:nvSpPr>
        <p:spPr>
          <a:xfrm>
            <a:off x="5843016" y="4509443"/>
            <a:ext cx="932688" cy="307777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780" b="0">
                <a:solidFill>
                  <a:srgbClr val="202838"/>
                </a:solidFill>
                <a:latin typeface="Arial"/>
              </a:defRPr>
            </a:pPr>
            <a:r>
              <a:rPr sz="1400" dirty="0">
                <a:latin typeface="Tahoma" panose="020B0604030504040204" pitchFamily="34" charset="0"/>
              </a:rPr>
              <a:t>AZC</a:t>
            </a:r>
          </a:p>
        </p:txBody>
      </p:sp>
      <p:sp>
        <p:nvSpPr>
          <p:cNvPr id="75" name="Rectangle 74"/>
          <p:cNvSpPr/>
          <p:nvPr/>
        </p:nvSpPr>
        <p:spPr>
          <a:xfrm>
            <a:off x="6812280" y="4454579"/>
            <a:ext cx="1234440" cy="457200"/>
          </a:xfrm>
          <a:prstGeom prst="rect">
            <a:avLst/>
          </a:prstGeom>
          <a:solidFill>
            <a:srgbClr val="F7F9FD"/>
          </a:solidFill>
          <a:ln>
            <a:solidFill>
              <a:srgbClr val="D9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76" name="TextBox 75"/>
          <p:cNvSpPr txBox="1"/>
          <p:nvPr/>
        </p:nvSpPr>
        <p:spPr>
          <a:xfrm>
            <a:off x="6848856" y="4509443"/>
            <a:ext cx="1161288" cy="307777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780" b="0">
                <a:solidFill>
                  <a:srgbClr val="202838"/>
                </a:solidFill>
                <a:latin typeface="Arial"/>
              </a:defRPr>
            </a:pPr>
            <a:r>
              <a:rPr sz="1400" dirty="0">
                <a:latin typeface="Tahoma" panose="020B0604030504040204" pitchFamily="34" charset="0"/>
              </a:rPr>
              <a:t>Đoàn </a:t>
            </a:r>
            <a:r>
              <a:rPr sz="1400" dirty="0" err="1">
                <a:latin typeface="Tahoma" panose="020B0604030504040204" pitchFamily="34" charset="0"/>
              </a:rPr>
              <a:t>viên</a:t>
            </a:r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77" name="Rectangle 76"/>
          <p:cNvSpPr/>
          <p:nvPr/>
        </p:nvSpPr>
        <p:spPr>
          <a:xfrm>
            <a:off x="8046720" y="4454579"/>
            <a:ext cx="1234440" cy="457200"/>
          </a:xfrm>
          <a:prstGeom prst="rect">
            <a:avLst/>
          </a:prstGeom>
          <a:solidFill>
            <a:srgbClr val="F7F9FD"/>
          </a:solidFill>
          <a:ln>
            <a:solidFill>
              <a:srgbClr val="D9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78" name="TextBox 77"/>
          <p:cNvSpPr txBox="1"/>
          <p:nvPr/>
        </p:nvSpPr>
        <p:spPr>
          <a:xfrm>
            <a:off x="8083295" y="4509443"/>
            <a:ext cx="1161288" cy="307777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780" b="0">
                <a:solidFill>
                  <a:srgbClr val="202838"/>
                </a:solidFill>
                <a:latin typeface="Arial"/>
              </a:defRPr>
            </a:pPr>
            <a:r>
              <a:rPr sz="1400" dirty="0">
                <a:latin typeface="Tahoma" panose="020B0604030504040204" pitchFamily="34" charset="0"/>
              </a:rPr>
              <a:t>Hải </a:t>
            </a:r>
            <a:r>
              <a:rPr sz="1400" dirty="0" err="1">
                <a:latin typeface="Tahoma" panose="020B0604030504040204" pitchFamily="34" charset="0"/>
              </a:rPr>
              <a:t>Phòng</a:t>
            </a:r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79" name="Rectangle 78"/>
          <p:cNvSpPr/>
          <p:nvPr/>
        </p:nvSpPr>
        <p:spPr>
          <a:xfrm>
            <a:off x="9281160" y="4454579"/>
            <a:ext cx="1417320" cy="457200"/>
          </a:xfrm>
          <a:prstGeom prst="rect">
            <a:avLst/>
          </a:prstGeom>
          <a:solidFill>
            <a:srgbClr val="F7F9FD"/>
          </a:solidFill>
          <a:ln>
            <a:solidFill>
              <a:srgbClr val="D9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80" name="TextBox 79"/>
          <p:cNvSpPr txBox="1"/>
          <p:nvPr/>
        </p:nvSpPr>
        <p:spPr>
          <a:xfrm>
            <a:off x="9317735" y="4509443"/>
            <a:ext cx="1344168" cy="307777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780" b="0">
                <a:solidFill>
                  <a:srgbClr val="202838"/>
                </a:solidFill>
                <a:latin typeface="Arial"/>
              </a:defRPr>
            </a:pPr>
            <a:r>
              <a:rPr sz="1400" dirty="0" err="1">
                <a:latin typeface="Tahoma" panose="020B0604030504040204" pitchFamily="34" charset="0"/>
              </a:rPr>
              <a:t>Đang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hoạt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động</a:t>
            </a:r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81" name="Rounded Rectangle 80"/>
          <p:cNvSpPr/>
          <p:nvPr/>
        </p:nvSpPr>
        <p:spPr>
          <a:xfrm>
            <a:off x="2697479" y="4957499"/>
            <a:ext cx="416052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9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82" name="TextBox 81"/>
          <p:cNvSpPr txBox="1"/>
          <p:nvPr/>
        </p:nvSpPr>
        <p:spPr>
          <a:xfrm>
            <a:off x="2898648" y="5085515"/>
            <a:ext cx="3794760" cy="307777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310" b="1">
                <a:solidFill>
                  <a:srgbClr val="118F91"/>
                </a:solidFill>
                <a:latin typeface="Arial"/>
              </a:defRPr>
            </a:pPr>
            <a:r>
              <a:rPr sz="1400" dirty="0" err="1">
                <a:latin typeface="Tahoma" panose="020B0604030504040204" pitchFamily="34" charset="0"/>
              </a:rPr>
              <a:t>TÁC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VỤ</a:t>
            </a:r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83" name="TextBox 82"/>
          <p:cNvSpPr txBox="1"/>
          <p:nvPr/>
        </p:nvSpPr>
        <p:spPr>
          <a:xfrm>
            <a:off x="2898648" y="5290249"/>
            <a:ext cx="372160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50"/>
              </a:spcAft>
              <a:defRPr sz="819">
                <a:solidFill>
                  <a:srgbClr val="202838"/>
                </a:solidFill>
                <a:latin typeface="Arial"/>
              </a:defRPr>
            </a:pPr>
            <a:r>
              <a:rPr sz="1400" dirty="0">
                <a:latin typeface="Tahoma" panose="020B0604030504040204" pitchFamily="34" charset="0"/>
              </a:rPr>
              <a:t>• </a:t>
            </a:r>
            <a:r>
              <a:rPr sz="1400" dirty="0" err="1">
                <a:latin typeface="Tahoma" panose="020B0604030504040204" pitchFamily="34" charset="0"/>
              </a:rPr>
              <a:t>Thêm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đoàn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viên</a:t>
            </a:r>
            <a:r>
              <a:rPr sz="1400" dirty="0">
                <a:latin typeface="Tahoma" panose="020B0604030504040204" pitchFamily="34" charset="0"/>
              </a:rPr>
              <a:t> • </a:t>
            </a:r>
            <a:r>
              <a:rPr sz="1400" dirty="0" err="1">
                <a:latin typeface="Tahoma" panose="020B0604030504040204" pitchFamily="34" charset="0"/>
              </a:rPr>
              <a:t>cập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nhật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biến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động</a:t>
            </a:r>
            <a:r>
              <a:rPr sz="1400" dirty="0">
                <a:latin typeface="Tahoma" panose="020B0604030504040204" pitchFamily="34" charset="0"/>
              </a:rPr>
              <a:t> • </a:t>
            </a:r>
            <a:r>
              <a:rPr sz="1400" dirty="0" err="1">
                <a:latin typeface="Tahoma" panose="020B0604030504040204" pitchFamily="34" charset="0"/>
              </a:rPr>
              <a:t>xuất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danh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sách</a:t>
            </a:r>
            <a:r>
              <a:rPr sz="1400" dirty="0">
                <a:latin typeface="Tahoma" panose="020B0604030504040204" pitchFamily="34" charset="0"/>
              </a:rPr>
              <a:t> • </a:t>
            </a:r>
            <a:r>
              <a:rPr sz="1400" dirty="0" err="1">
                <a:latin typeface="Tahoma" panose="020B0604030504040204" pitchFamily="34" charset="0"/>
              </a:rPr>
              <a:t>kiểm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tra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dữ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liệu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thiếu</a:t>
            </a:r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84" name="Rounded Rectangle 83"/>
          <p:cNvSpPr/>
          <p:nvPr/>
        </p:nvSpPr>
        <p:spPr>
          <a:xfrm>
            <a:off x="7086599" y="4957499"/>
            <a:ext cx="425196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9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85" name="TextBox 84"/>
          <p:cNvSpPr txBox="1"/>
          <p:nvPr/>
        </p:nvSpPr>
        <p:spPr>
          <a:xfrm>
            <a:off x="7287768" y="5085515"/>
            <a:ext cx="3886200" cy="307777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310" b="1">
                <a:solidFill>
                  <a:srgbClr val="E87823"/>
                </a:solidFill>
                <a:latin typeface="Arial"/>
              </a:defRPr>
            </a:pPr>
            <a:r>
              <a:rPr sz="1400" dirty="0">
                <a:latin typeface="Tahoma" panose="020B0604030504040204" pitchFamily="34" charset="0"/>
              </a:rPr>
              <a:t>HỒ </a:t>
            </a:r>
            <a:r>
              <a:rPr sz="1400" dirty="0" err="1">
                <a:latin typeface="Tahoma" panose="020B0604030504040204" pitchFamily="34" charset="0"/>
              </a:rPr>
              <a:t>SƠ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GẮN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KÈM</a:t>
            </a:r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86" name="TextBox 85"/>
          <p:cNvSpPr txBox="1"/>
          <p:nvPr/>
        </p:nvSpPr>
        <p:spPr>
          <a:xfrm>
            <a:off x="7306055" y="5271961"/>
            <a:ext cx="381304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50"/>
              </a:spcAft>
              <a:defRPr sz="819">
                <a:solidFill>
                  <a:srgbClr val="202838"/>
                </a:solidFill>
                <a:latin typeface="Arial"/>
              </a:defRPr>
            </a:pPr>
            <a:r>
              <a:rPr sz="1400" dirty="0">
                <a:latin typeface="Tahoma" panose="020B0604030504040204" pitchFamily="34" charset="0"/>
              </a:rPr>
              <a:t>• </a:t>
            </a:r>
            <a:r>
              <a:rPr sz="1400" dirty="0" err="1">
                <a:latin typeface="Tahoma" panose="020B0604030504040204" pitchFamily="34" charset="0"/>
              </a:rPr>
              <a:t>Đơn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gia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nhập</a:t>
            </a:r>
            <a:r>
              <a:rPr sz="1400" dirty="0">
                <a:latin typeface="Tahoma" panose="020B0604030504040204" pitchFamily="34" charset="0"/>
              </a:rPr>
              <a:t> • </a:t>
            </a:r>
            <a:r>
              <a:rPr sz="1400" dirty="0" err="1">
                <a:latin typeface="Tahoma" panose="020B0604030504040204" pitchFamily="34" charset="0"/>
              </a:rPr>
              <a:t>quyết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định</a:t>
            </a:r>
            <a:r>
              <a:rPr sz="1400" dirty="0">
                <a:latin typeface="Tahoma" panose="020B0604030504040204" pitchFamily="34" charset="0"/>
              </a:rPr>
              <a:t> • </a:t>
            </a:r>
            <a:r>
              <a:rPr sz="1400" dirty="0" err="1">
                <a:latin typeface="Tahoma" panose="020B0604030504040204" pitchFamily="34" charset="0"/>
              </a:rPr>
              <a:t>tài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liệu</a:t>
            </a:r>
            <a:r>
              <a:rPr sz="1400" dirty="0">
                <a:latin typeface="Tahoma" panose="020B0604030504040204" pitchFamily="34" charset="0"/>
              </a:rPr>
              <a:t> BCH • </a:t>
            </a:r>
            <a:r>
              <a:rPr sz="1400" dirty="0" err="1">
                <a:latin typeface="Tahoma" panose="020B0604030504040204" pitchFamily="34" charset="0"/>
              </a:rPr>
              <a:t>lịch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sử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chính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sách</a:t>
            </a:r>
            <a:r>
              <a:rPr sz="1400" dirty="0">
                <a:latin typeface="Tahoma" panose="020B0604030504040204" pitchFamily="34" charset="0"/>
              </a:rPr>
              <a:t>/</a:t>
            </a:r>
            <a:r>
              <a:rPr sz="1400" dirty="0" err="1">
                <a:latin typeface="Tahoma" panose="020B0604030504040204" pitchFamily="34" charset="0"/>
              </a:rPr>
              <a:t>hoạt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động</a:t>
            </a:r>
            <a:endParaRPr sz="1400" dirty="0">
              <a:latin typeface="Tahoma" panose="020B060403050404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608" y="82296"/>
            <a:ext cx="960120" cy="548640"/>
          </a:xfrm>
          <a:prstGeom prst="rect">
            <a:avLst/>
          </a:prstGeom>
        </p:spPr>
      </p:pic>
      <p:pic>
        <p:nvPicPr>
          <p:cNvPr id="3" name="Picture 2" descr="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64008"/>
            <a:ext cx="646818" cy="585216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274320" y="749808"/>
            <a:ext cx="11649456" cy="22860"/>
          </a:xfrm>
          <a:prstGeom prst="rect">
            <a:avLst/>
          </a:prstGeom>
          <a:solidFill>
            <a:srgbClr val="051F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Tahoma" panose="020B0604030504040204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20040" y="6483096"/>
            <a:ext cx="2077813" cy="22313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051F71"/>
                </a:solidFill>
                <a:latin typeface="Arial"/>
              </a:defRPr>
            </a:pPr>
            <a:r>
              <a:rPr dirty="0">
                <a:latin typeface="Tahoma" panose="020B0604030504040204" pitchFamily="34" charset="0"/>
              </a:rPr>
              <a:t>CÔNG ĐOÀN GPG | GPG TRADE UNION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43352" y="6473952"/>
            <a:ext cx="1029448" cy="21839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19">
                <a:solidFill>
                  <a:srgbClr val="677180"/>
                </a:solidFill>
                <a:latin typeface="Arial"/>
              </a:defRPr>
            </a:pPr>
            <a:r>
              <a:rPr dirty="0">
                <a:latin typeface="Tahoma" panose="020B0604030504040204" pitchFamily="34" charset="0"/>
              </a:rPr>
              <a:t>V. </a:t>
            </a:r>
            <a:r>
              <a:rPr dirty="0" err="1">
                <a:latin typeface="Tahoma" panose="020B0604030504040204" pitchFamily="34" charset="0"/>
              </a:rPr>
              <a:t>SỐ</a:t>
            </a:r>
            <a:r>
              <a:rPr dirty="0">
                <a:latin typeface="Tahoma" panose="020B0604030504040204" pitchFamily="34" charset="0"/>
              </a:rPr>
              <a:t> </a:t>
            </a:r>
            <a:r>
              <a:rPr dirty="0" err="1">
                <a:latin typeface="Tahoma" panose="020B0604030504040204" pitchFamily="34" charset="0"/>
              </a:rPr>
              <a:t>HÓA</a:t>
            </a:r>
            <a:r>
              <a:rPr dirty="0">
                <a:latin typeface="Tahoma" panose="020B0604030504040204" pitchFamily="34" charset="0"/>
              </a:rPr>
              <a:t> HỒ </a:t>
            </a:r>
            <a:r>
              <a:rPr dirty="0" err="1">
                <a:latin typeface="Tahoma" panose="020B0604030504040204" pitchFamily="34" charset="0"/>
              </a:rPr>
              <a:t>SƠ</a:t>
            </a:r>
            <a:endParaRPr dirty="0">
              <a:latin typeface="Tahoma" panose="020B0604030504040204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393198" y="6455664"/>
            <a:ext cx="338554" cy="2385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051F71"/>
                </a:solidFill>
                <a:latin typeface="Arial"/>
              </a:defRPr>
            </a:pPr>
            <a:r>
              <a:rPr dirty="0">
                <a:latin typeface="Tahoma" panose="020B0604030504040204" pitchFamily="34" charset="0"/>
              </a:rPr>
              <a:t>31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7276" y="162803"/>
            <a:ext cx="9905276" cy="50013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50" b="1">
                <a:solidFill>
                  <a:srgbClr val="051F71"/>
                </a:solidFill>
                <a:latin typeface="Arial Narrow"/>
              </a:defRPr>
            </a:pPr>
            <a:r>
              <a:rPr dirty="0" err="1">
                <a:latin typeface="Tahoma" panose="020B0604030504040204" pitchFamily="34" charset="0"/>
              </a:rPr>
              <a:t>MÀN</a:t>
            </a:r>
            <a:r>
              <a:rPr dirty="0">
                <a:latin typeface="Tahoma" panose="020B0604030504040204" pitchFamily="34" charset="0"/>
              </a:rPr>
              <a:t> </a:t>
            </a:r>
            <a:r>
              <a:rPr dirty="0" err="1">
                <a:latin typeface="Tahoma" panose="020B0604030504040204" pitchFamily="34" charset="0"/>
              </a:rPr>
              <a:t>HÌNH</a:t>
            </a:r>
            <a:r>
              <a:rPr dirty="0">
                <a:latin typeface="Tahoma" panose="020B0604030504040204" pitchFamily="34" charset="0"/>
              </a:rPr>
              <a:t> </a:t>
            </a:r>
            <a:r>
              <a:rPr dirty="0" err="1">
                <a:latin typeface="Tahoma" panose="020B0604030504040204" pitchFamily="34" charset="0"/>
              </a:rPr>
              <a:t>ĐỀ</a:t>
            </a:r>
            <a:r>
              <a:rPr dirty="0">
                <a:latin typeface="Tahoma" panose="020B0604030504040204" pitchFamily="34" charset="0"/>
              </a:rPr>
              <a:t> </a:t>
            </a:r>
            <a:r>
              <a:rPr dirty="0" err="1">
                <a:latin typeface="Tahoma" panose="020B0604030504040204" pitchFamily="34" charset="0"/>
              </a:rPr>
              <a:t>XUẤT</a:t>
            </a:r>
            <a:r>
              <a:rPr dirty="0">
                <a:latin typeface="Tahoma" panose="020B0604030504040204" pitchFamily="34" charset="0"/>
              </a:rPr>
              <a:t> 03 – QUẢN LÝ </a:t>
            </a:r>
            <a:r>
              <a:rPr dirty="0" err="1">
                <a:latin typeface="Tahoma" panose="020B0604030504040204" pitchFamily="34" charset="0"/>
              </a:rPr>
              <a:t>KIẾN</a:t>
            </a:r>
            <a:r>
              <a:rPr dirty="0">
                <a:latin typeface="Tahoma" panose="020B0604030504040204" pitchFamily="34" charset="0"/>
              </a:rPr>
              <a:t> </a:t>
            </a:r>
            <a:r>
              <a:rPr dirty="0" err="1">
                <a:latin typeface="Tahoma" panose="020B0604030504040204" pitchFamily="34" charset="0"/>
              </a:rPr>
              <a:t>NGHỊ</a:t>
            </a:r>
            <a:r>
              <a:rPr dirty="0">
                <a:latin typeface="Tahoma" panose="020B0604030504040204" pitchFamily="34" charset="0"/>
              </a:rPr>
              <a:t> / </a:t>
            </a:r>
            <a:r>
              <a:rPr dirty="0" err="1">
                <a:latin typeface="Tahoma" panose="020B0604030504040204" pitchFamily="34" charset="0"/>
              </a:rPr>
              <a:t>VỤ</a:t>
            </a:r>
            <a:r>
              <a:rPr dirty="0">
                <a:latin typeface="Tahoma" panose="020B0604030504040204" pitchFamily="34" charset="0"/>
              </a:rPr>
              <a:t> </a:t>
            </a:r>
            <a:r>
              <a:rPr dirty="0" err="1">
                <a:latin typeface="Tahoma" panose="020B0604030504040204" pitchFamily="34" charset="0"/>
              </a:rPr>
              <a:t>VIỆC</a:t>
            </a:r>
            <a:endParaRPr dirty="0">
              <a:latin typeface="Tahoma" panose="020B0604030504040204" pitchFamily="34" charset="0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438912" y="977122"/>
            <a:ext cx="10972800" cy="4590288"/>
          </a:xfrm>
          <a:prstGeom prst="roundRect">
            <a:avLst/>
          </a:prstGeom>
          <a:solidFill>
            <a:srgbClr val="FFFFFF"/>
          </a:solidFill>
          <a:ln>
            <a:solidFill>
              <a:srgbClr val="D9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438912" y="977122"/>
            <a:ext cx="10972800" cy="475488"/>
          </a:xfrm>
          <a:prstGeom prst="rect">
            <a:avLst/>
          </a:prstGeom>
          <a:solidFill>
            <a:srgbClr val="051F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67512" y="1095994"/>
            <a:ext cx="10515600" cy="307777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050" b="1">
                <a:solidFill>
                  <a:srgbClr val="FFFFFF"/>
                </a:solidFill>
                <a:latin typeface="Arial"/>
              </a:defRPr>
            </a:pPr>
            <a:r>
              <a:rPr sz="1400" dirty="0">
                <a:latin typeface="Tahoma" panose="020B0604030504040204" pitchFamily="34" charset="0"/>
              </a:rPr>
              <a:t>GPG UNION PORTAL | Case Management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8912" y="1452610"/>
            <a:ext cx="1874519" cy="4114800"/>
          </a:xfrm>
          <a:prstGeom prst="rect">
            <a:avLst/>
          </a:prstGeom>
          <a:solidFill>
            <a:srgbClr val="F7F9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03504" y="1690354"/>
            <a:ext cx="1508760" cy="5232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869" b="1">
                <a:solidFill>
                  <a:srgbClr val="051F71"/>
                </a:solidFill>
                <a:latin typeface="Arial"/>
              </a:defRPr>
            </a:pPr>
            <a:r>
              <a:rPr sz="1400" dirty="0">
                <a:latin typeface="Tahoma" panose="020B0604030504040204" pitchFamily="34" charset="0"/>
              </a:rPr>
              <a:t>Danh </a:t>
            </a:r>
            <a:r>
              <a:rPr sz="1400" dirty="0" err="1">
                <a:latin typeface="Tahoma" panose="020B0604030504040204" pitchFamily="34" charset="0"/>
              </a:rPr>
              <a:t>sách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vụ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việc</a:t>
            </a:r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03504" y="2147554"/>
            <a:ext cx="1508760" cy="307777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869" b="0">
                <a:solidFill>
                  <a:srgbClr val="677180"/>
                </a:solidFill>
                <a:latin typeface="Arial"/>
              </a:defRPr>
            </a:pPr>
            <a:r>
              <a:rPr sz="1400" dirty="0" err="1">
                <a:latin typeface="Tahoma" panose="020B0604030504040204" pitchFamily="34" charset="0"/>
              </a:rPr>
              <a:t>Tạo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mới</a:t>
            </a:r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03504" y="2604754"/>
            <a:ext cx="1508760" cy="307777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869" b="0">
                <a:solidFill>
                  <a:srgbClr val="677180"/>
                </a:solidFill>
                <a:latin typeface="Arial"/>
              </a:defRPr>
            </a:pPr>
            <a:r>
              <a:rPr sz="1400" dirty="0" err="1">
                <a:latin typeface="Tahoma" panose="020B0604030504040204" pitchFamily="34" charset="0"/>
              </a:rPr>
              <a:t>Quá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hạn</a:t>
            </a:r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03504" y="3061954"/>
            <a:ext cx="1508760" cy="307777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869" b="0">
                <a:solidFill>
                  <a:srgbClr val="677180"/>
                </a:solidFill>
                <a:latin typeface="Arial"/>
              </a:defRPr>
            </a:pPr>
            <a:r>
              <a:rPr sz="1400" dirty="0">
                <a:latin typeface="Tahoma" panose="020B0604030504040204" pitchFamily="34" charset="0"/>
              </a:rPr>
              <a:t>Báo </a:t>
            </a:r>
            <a:r>
              <a:rPr sz="1400" dirty="0" err="1">
                <a:latin typeface="Tahoma" panose="020B0604030504040204" pitchFamily="34" charset="0"/>
              </a:rPr>
              <a:t>cáo</a:t>
            </a:r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03504" y="3519154"/>
            <a:ext cx="1508760" cy="307777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869" b="0">
                <a:solidFill>
                  <a:srgbClr val="677180"/>
                </a:solidFill>
                <a:latin typeface="Arial"/>
              </a:defRPr>
            </a:pPr>
            <a:r>
              <a:rPr sz="1400" dirty="0" err="1">
                <a:latin typeface="Tahoma" panose="020B0604030504040204" pitchFamily="34" charset="0"/>
              </a:rPr>
              <a:t>Phân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tích</a:t>
            </a:r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2587751" y="1772650"/>
            <a:ext cx="914400" cy="475488"/>
          </a:xfrm>
          <a:prstGeom prst="rect">
            <a:avLst/>
          </a:prstGeom>
          <a:solidFill>
            <a:srgbClr val="051F71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624327" y="1836658"/>
            <a:ext cx="841248" cy="307777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rial"/>
              </a:defRPr>
            </a:pPr>
            <a:r>
              <a:rPr sz="1400" dirty="0" err="1">
                <a:latin typeface="Tahoma" panose="020B0604030504040204" pitchFamily="34" charset="0"/>
              </a:rPr>
              <a:t>Mã</a:t>
            </a:r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3502151" y="1772650"/>
            <a:ext cx="914400" cy="475488"/>
          </a:xfrm>
          <a:prstGeom prst="rect">
            <a:avLst/>
          </a:prstGeom>
          <a:solidFill>
            <a:srgbClr val="051F71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3538727" y="1836658"/>
            <a:ext cx="841248" cy="307777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rial"/>
              </a:defRPr>
            </a:pPr>
            <a:r>
              <a:rPr sz="1400" dirty="0" err="1">
                <a:latin typeface="Tahoma" panose="020B0604030504040204" pitchFamily="34" charset="0"/>
              </a:rPr>
              <a:t>Đơn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vị</a:t>
            </a:r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4416552" y="1772650"/>
            <a:ext cx="1645920" cy="475488"/>
          </a:xfrm>
          <a:prstGeom prst="rect">
            <a:avLst/>
          </a:prstGeom>
          <a:solidFill>
            <a:srgbClr val="051F71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4453128" y="1836658"/>
            <a:ext cx="1572768" cy="307777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rial"/>
              </a:defRPr>
            </a:pPr>
            <a:r>
              <a:rPr sz="1400" dirty="0" err="1">
                <a:latin typeface="Tahoma" panose="020B0604030504040204" pitchFamily="34" charset="0"/>
              </a:rPr>
              <a:t>Nhóm</a:t>
            </a:r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6062472" y="1772650"/>
            <a:ext cx="731520" cy="475488"/>
          </a:xfrm>
          <a:prstGeom prst="rect">
            <a:avLst/>
          </a:prstGeom>
          <a:solidFill>
            <a:srgbClr val="051F71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099048" y="1836658"/>
            <a:ext cx="658368" cy="307777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rial"/>
              </a:defRPr>
            </a:pPr>
            <a:r>
              <a:rPr sz="1400" dirty="0" err="1">
                <a:latin typeface="Tahoma" panose="020B0604030504040204" pitchFamily="34" charset="0"/>
              </a:rPr>
              <a:t>Mức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độ</a:t>
            </a:r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6793992" y="1772650"/>
            <a:ext cx="1645920" cy="475488"/>
          </a:xfrm>
          <a:prstGeom prst="rect">
            <a:avLst/>
          </a:prstGeom>
          <a:solidFill>
            <a:srgbClr val="051F71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6830568" y="1836658"/>
            <a:ext cx="1572768" cy="307777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rial"/>
              </a:defRPr>
            </a:pPr>
            <a:r>
              <a:rPr sz="1400" dirty="0">
                <a:latin typeface="Tahoma" panose="020B0604030504040204" pitchFamily="34" charset="0"/>
              </a:rPr>
              <a:t>PIC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439912" y="1772650"/>
            <a:ext cx="1005840" cy="475488"/>
          </a:xfrm>
          <a:prstGeom prst="rect">
            <a:avLst/>
          </a:prstGeom>
          <a:solidFill>
            <a:srgbClr val="051F71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8476488" y="1836658"/>
            <a:ext cx="932688" cy="307777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rial"/>
              </a:defRPr>
            </a:pPr>
            <a:r>
              <a:rPr sz="1400" dirty="0">
                <a:latin typeface="Tahoma" panose="020B0604030504040204" pitchFamily="34" charset="0"/>
              </a:rPr>
              <a:t>Deadline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445752" y="1772650"/>
            <a:ext cx="1325880" cy="475488"/>
          </a:xfrm>
          <a:prstGeom prst="rect">
            <a:avLst/>
          </a:prstGeom>
          <a:solidFill>
            <a:srgbClr val="051F71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9482328" y="1836658"/>
            <a:ext cx="1252728" cy="307777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rial"/>
              </a:defRPr>
            </a:pPr>
            <a:r>
              <a:rPr sz="1400" dirty="0" err="1">
                <a:latin typeface="Tahoma" panose="020B0604030504040204" pitchFamily="34" charset="0"/>
              </a:rPr>
              <a:t>Trạng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thái</a:t>
            </a:r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2587751" y="2248138"/>
            <a:ext cx="91440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9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2624327" y="2303002"/>
            <a:ext cx="841248" cy="307777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defRPr sz="770" b="0">
                <a:solidFill>
                  <a:srgbClr val="202838"/>
                </a:solidFill>
                <a:latin typeface="Arial"/>
              </a:defRPr>
            </a:pPr>
            <a:r>
              <a:rPr sz="1400" dirty="0">
                <a:latin typeface="Tahoma" panose="020B0604030504040204" pitchFamily="34" charset="0"/>
              </a:rPr>
              <a:t>UV-003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502151" y="2248138"/>
            <a:ext cx="91440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9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3538727" y="2303002"/>
            <a:ext cx="841248" cy="307777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770" b="0">
                <a:solidFill>
                  <a:srgbClr val="202838"/>
                </a:solidFill>
                <a:latin typeface="Arial"/>
              </a:defRPr>
            </a:pPr>
            <a:r>
              <a:rPr sz="1400" dirty="0">
                <a:latin typeface="Tahoma" panose="020B0604030504040204" pitchFamily="34" charset="0"/>
              </a:rPr>
              <a:t>AZC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416552" y="2248138"/>
            <a:ext cx="164592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9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4453128" y="2303002"/>
            <a:ext cx="1572768" cy="307777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770" b="0">
                <a:solidFill>
                  <a:srgbClr val="202838"/>
                </a:solidFill>
                <a:latin typeface="Arial"/>
              </a:defRPr>
            </a:pPr>
            <a:r>
              <a:rPr sz="1400" dirty="0">
                <a:latin typeface="Tahoma" panose="020B0604030504040204" pitchFamily="34" charset="0"/>
              </a:rPr>
              <a:t>Ca </a:t>
            </a:r>
            <a:r>
              <a:rPr sz="1400" dirty="0" err="1">
                <a:latin typeface="Tahoma" panose="020B0604030504040204" pitchFamily="34" charset="0"/>
              </a:rPr>
              <a:t>làm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việc</a:t>
            </a:r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6062472" y="2248138"/>
            <a:ext cx="73152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9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6099048" y="2303002"/>
            <a:ext cx="658368" cy="307777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770" b="0">
                <a:solidFill>
                  <a:srgbClr val="202838"/>
                </a:solidFill>
                <a:latin typeface="Arial"/>
              </a:defRPr>
            </a:pPr>
            <a:r>
              <a:rPr sz="1400" dirty="0">
                <a:latin typeface="Tahoma" panose="020B0604030504040204" pitchFamily="34" charset="0"/>
              </a:rPr>
              <a:t>Cao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793992" y="2248138"/>
            <a:ext cx="164592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9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6830568" y="2303002"/>
            <a:ext cx="1572768" cy="307777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770" b="0">
                <a:solidFill>
                  <a:srgbClr val="202838"/>
                </a:solidFill>
                <a:latin typeface="Arial"/>
              </a:defRPr>
            </a:pPr>
            <a:r>
              <a:rPr sz="1400" dirty="0">
                <a:latin typeface="Tahoma" panose="020B0604030504040204" pitchFamily="34" charset="0"/>
              </a:rPr>
              <a:t>HR + </a:t>
            </a:r>
            <a:r>
              <a:rPr sz="1400" dirty="0" err="1">
                <a:latin typeface="Tahoma" panose="020B0604030504040204" pitchFamily="34" charset="0"/>
              </a:rPr>
              <a:t>CĐ</a:t>
            </a:r>
            <a:r>
              <a:rPr sz="1400" dirty="0">
                <a:latin typeface="Tahoma" panose="020B0604030504040204" pitchFamily="34" charset="0"/>
              </a:rPr>
              <a:t> GPG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439912" y="2248138"/>
            <a:ext cx="100584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9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8476488" y="2303002"/>
            <a:ext cx="932688" cy="307777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770" b="0">
                <a:solidFill>
                  <a:srgbClr val="202838"/>
                </a:solidFill>
                <a:latin typeface="Arial"/>
              </a:defRPr>
            </a:pPr>
            <a:r>
              <a:rPr sz="1400" dirty="0">
                <a:latin typeface="Tahoma" panose="020B0604030504040204" pitchFamily="34" charset="0"/>
              </a:rPr>
              <a:t>15/08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445752" y="2248138"/>
            <a:ext cx="132588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9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9482328" y="2303002"/>
            <a:ext cx="1252728" cy="307777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770" b="0">
                <a:solidFill>
                  <a:srgbClr val="202838"/>
                </a:solidFill>
                <a:latin typeface="Arial"/>
              </a:defRPr>
            </a:pPr>
            <a:r>
              <a:rPr sz="1400" dirty="0" err="1">
                <a:latin typeface="Tahoma" panose="020B0604030504040204" pitchFamily="34" charset="0"/>
              </a:rPr>
              <a:t>Đang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xử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lý</a:t>
            </a:r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46" name="Rectangle 45"/>
          <p:cNvSpPr/>
          <p:nvPr/>
        </p:nvSpPr>
        <p:spPr>
          <a:xfrm>
            <a:off x="2587751" y="2723626"/>
            <a:ext cx="914400" cy="475488"/>
          </a:xfrm>
          <a:prstGeom prst="rect">
            <a:avLst/>
          </a:prstGeom>
          <a:solidFill>
            <a:srgbClr val="F7F9FD"/>
          </a:solidFill>
          <a:ln>
            <a:solidFill>
              <a:srgbClr val="D9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2624327" y="2778490"/>
            <a:ext cx="841248" cy="307777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defRPr sz="770" b="0">
                <a:solidFill>
                  <a:srgbClr val="202838"/>
                </a:solidFill>
                <a:latin typeface="Arial"/>
              </a:defRPr>
            </a:pPr>
            <a:r>
              <a:rPr sz="1400" dirty="0">
                <a:latin typeface="Tahoma" panose="020B0604030504040204" pitchFamily="34" charset="0"/>
              </a:rPr>
              <a:t>UV-006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502151" y="2723626"/>
            <a:ext cx="914400" cy="475488"/>
          </a:xfrm>
          <a:prstGeom prst="rect">
            <a:avLst/>
          </a:prstGeom>
          <a:solidFill>
            <a:srgbClr val="F7F9FD"/>
          </a:solidFill>
          <a:ln>
            <a:solidFill>
              <a:srgbClr val="D9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3538727" y="2778490"/>
            <a:ext cx="841248" cy="307777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770" b="0">
                <a:solidFill>
                  <a:srgbClr val="202838"/>
                </a:solidFill>
                <a:latin typeface="Arial"/>
              </a:defRPr>
            </a:pPr>
            <a:r>
              <a:rPr sz="1400" dirty="0">
                <a:latin typeface="Tahoma" panose="020B0604030504040204" pitchFamily="34" charset="0"/>
              </a:rPr>
              <a:t>GPL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416552" y="2723626"/>
            <a:ext cx="1645920" cy="475488"/>
          </a:xfrm>
          <a:prstGeom prst="rect">
            <a:avLst/>
          </a:prstGeom>
          <a:solidFill>
            <a:srgbClr val="F7F9FD"/>
          </a:solidFill>
          <a:ln>
            <a:solidFill>
              <a:srgbClr val="D9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4453128" y="2778490"/>
            <a:ext cx="1572768" cy="307777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770" b="0">
                <a:solidFill>
                  <a:srgbClr val="202838"/>
                </a:solidFill>
                <a:latin typeface="Arial"/>
              </a:defRPr>
            </a:pPr>
            <a:r>
              <a:rPr sz="1400" dirty="0">
                <a:latin typeface="Tahoma" panose="020B0604030504040204" pitchFamily="34" charset="0"/>
              </a:rPr>
              <a:t>Phúc </a:t>
            </a:r>
            <a:r>
              <a:rPr sz="1400" dirty="0" err="1">
                <a:latin typeface="Tahoma" panose="020B0604030504040204" pitchFamily="34" charset="0"/>
              </a:rPr>
              <a:t>lợi</a:t>
            </a:r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52" name="Rectangle 51"/>
          <p:cNvSpPr/>
          <p:nvPr/>
        </p:nvSpPr>
        <p:spPr>
          <a:xfrm>
            <a:off x="6062472" y="2723626"/>
            <a:ext cx="731520" cy="475488"/>
          </a:xfrm>
          <a:prstGeom prst="rect">
            <a:avLst/>
          </a:prstGeom>
          <a:solidFill>
            <a:srgbClr val="F7F9FD"/>
          </a:solidFill>
          <a:ln>
            <a:solidFill>
              <a:srgbClr val="D9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6099048" y="2778490"/>
            <a:ext cx="658368" cy="307777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770" b="0">
                <a:solidFill>
                  <a:srgbClr val="202838"/>
                </a:solidFill>
                <a:latin typeface="Arial"/>
              </a:defRPr>
            </a:pPr>
            <a:r>
              <a:rPr sz="1400" dirty="0">
                <a:latin typeface="Tahoma" panose="020B0604030504040204" pitchFamily="34" charset="0"/>
              </a:rPr>
              <a:t>TB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793992" y="2723626"/>
            <a:ext cx="1645920" cy="475488"/>
          </a:xfrm>
          <a:prstGeom prst="rect">
            <a:avLst/>
          </a:prstGeom>
          <a:solidFill>
            <a:srgbClr val="F7F9FD"/>
          </a:solidFill>
          <a:ln>
            <a:solidFill>
              <a:srgbClr val="D9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6830568" y="2778490"/>
            <a:ext cx="1572768" cy="307777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770" b="0">
                <a:solidFill>
                  <a:srgbClr val="202838"/>
                </a:solidFill>
                <a:latin typeface="Arial"/>
              </a:defRPr>
            </a:pPr>
            <a:r>
              <a:rPr sz="1400" dirty="0" err="1">
                <a:latin typeface="Tahoma" panose="020B0604030504040204" pitchFamily="34" charset="0"/>
              </a:rPr>
              <a:t>CĐCS</a:t>
            </a:r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56" name="Rectangle 55"/>
          <p:cNvSpPr/>
          <p:nvPr/>
        </p:nvSpPr>
        <p:spPr>
          <a:xfrm>
            <a:off x="8439912" y="2723626"/>
            <a:ext cx="1005840" cy="475488"/>
          </a:xfrm>
          <a:prstGeom prst="rect">
            <a:avLst/>
          </a:prstGeom>
          <a:solidFill>
            <a:srgbClr val="F7F9FD"/>
          </a:solidFill>
          <a:ln>
            <a:solidFill>
              <a:srgbClr val="D9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8476488" y="2778490"/>
            <a:ext cx="932688" cy="307777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770" b="0">
                <a:solidFill>
                  <a:srgbClr val="202838"/>
                </a:solidFill>
                <a:latin typeface="Arial"/>
              </a:defRPr>
            </a:pPr>
            <a:r>
              <a:rPr sz="1400" dirty="0">
                <a:latin typeface="Tahoma" panose="020B0604030504040204" pitchFamily="34" charset="0"/>
              </a:rPr>
              <a:t>16/08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445752" y="2723626"/>
            <a:ext cx="1325880" cy="475488"/>
          </a:xfrm>
          <a:prstGeom prst="rect">
            <a:avLst/>
          </a:prstGeom>
          <a:solidFill>
            <a:srgbClr val="F7F9FD"/>
          </a:solidFill>
          <a:ln>
            <a:solidFill>
              <a:srgbClr val="D9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9482328" y="2778490"/>
            <a:ext cx="1252728" cy="307777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770" b="0">
                <a:solidFill>
                  <a:srgbClr val="202838"/>
                </a:solidFill>
                <a:latin typeface="Arial"/>
              </a:defRPr>
            </a:pPr>
            <a:r>
              <a:rPr sz="1400" dirty="0" err="1">
                <a:latin typeface="Tahoma" panose="020B0604030504040204" pitchFamily="34" charset="0"/>
              </a:rPr>
              <a:t>Chờ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phản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hồi</a:t>
            </a:r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60" name="Rectangle 59"/>
          <p:cNvSpPr/>
          <p:nvPr/>
        </p:nvSpPr>
        <p:spPr>
          <a:xfrm>
            <a:off x="2587751" y="3199114"/>
            <a:ext cx="91440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9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2624327" y="3253978"/>
            <a:ext cx="841248" cy="307777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defRPr sz="770" b="0">
                <a:solidFill>
                  <a:srgbClr val="202838"/>
                </a:solidFill>
                <a:latin typeface="Arial"/>
              </a:defRPr>
            </a:pPr>
            <a:r>
              <a:rPr sz="1400" dirty="0">
                <a:latin typeface="Tahoma" panose="020B0604030504040204" pitchFamily="34" charset="0"/>
              </a:rPr>
              <a:t>UV-008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502151" y="3199114"/>
            <a:ext cx="91440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9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3538727" y="3253978"/>
            <a:ext cx="841248" cy="307777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770" b="0">
                <a:solidFill>
                  <a:srgbClr val="202838"/>
                </a:solidFill>
                <a:latin typeface="Arial"/>
              </a:defRPr>
            </a:pPr>
            <a:r>
              <a:rPr sz="1400" dirty="0">
                <a:latin typeface="Tahoma" panose="020B0604030504040204" pitchFamily="34" charset="0"/>
              </a:rPr>
              <a:t>VCS</a:t>
            </a:r>
          </a:p>
        </p:txBody>
      </p:sp>
      <p:sp>
        <p:nvSpPr>
          <p:cNvPr id="64" name="Rectangle 63"/>
          <p:cNvSpPr/>
          <p:nvPr/>
        </p:nvSpPr>
        <p:spPr>
          <a:xfrm>
            <a:off x="4416552" y="3199114"/>
            <a:ext cx="164592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9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4453128" y="3253978"/>
            <a:ext cx="1572768" cy="307777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770" b="0">
                <a:solidFill>
                  <a:srgbClr val="202838"/>
                </a:solidFill>
                <a:latin typeface="Arial"/>
              </a:defRPr>
            </a:pPr>
            <a:r>
              <a:rPr sz="1400" dirty="0" err="1">
                <a:latin typeface="Tahoma" panose="020B0604030504040204" pitchFamily="34" charset="0"/>
              </a:rPr>
              <a:t>Điều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kiện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làm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việc</a:t>
            </a:r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66" name="Rectangle 65"/>
          <p:cNvSpPr/>
          <p:nvPr/>
        </p:nvSpPr>
        <p:spPr>
          <a:xfrm>
            <a:off x="6062472" y="3199114"/>
            <a:ext cx="73152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9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67" name="TextBox 66"/>
          <p:cNvSpPr txBox="1"/>
          <p:nvPr/>
        </p:nvSpPr>
        <p:spPr>
          <a:xfrm>
            <a:off x="6099048" y="3253978"/>
            <a:ext cx="658368" cy="307777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770" b="0">
                <a:solidFill>
                  <a:srgbClr val="202838"/>
                </a:solidFill>
                <a:latin typeface="Arial"/>
              </a:defRPr>
            </a:pPr>
            <a:r>
              <a:rPr sz="1400" dirty="0">
                <a:latin typeface="Tahoma" panose="020B0604030504040204" pitchFamily="34" charset="0"/>
              </a:rPr>
              <a:t>Cao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793992" y="3199114"/>
            <a:ext cx="164592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9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69" name="TextBox 68"/>
          <p:cNvSpPr txBox="1"/>
          <p:nvPr/>
        </p:nvSpPr>
        <p:spPr>
          <a:xfrm>
            <a:off x="6830568" y="3253978"/>
            <a:ext cx="1572768" cy="307777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770" b="0">
                <a:solidFill>
                  <a:srgbClr val="202838"/>
                </a:solidFill>
                <a:latin typeface="Arial"/>
              </a:defRPr>
            </a:pPr>
            <a:r>
              <a:rPr sz="1400" dirty="0">
                <a:latin typeface="Tahoma" panose="020B0604030504040204" pitchFamily="34" charset="0"/>
              </a:rPr>
              <a:t>BNC + </a:t>
            </a:r>
            <a:r>
              <a:rPr sz="1400" dirty="0" err="1">
                <a:latin typeface="Tahoma" panose="020B0604030504040204" pitchFamily="34" charset="0"/>
              </a:rPr>
              <a:t>CĐCS</a:t>
            </a:r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70" name="Rectangle 69"/>
          <p:cNvSpPr/>
          <p:nvPr/>
        </p:nvSpPr>
        <p:spPr>
          <a:xfrm>
            <a:off x="8439912" y="3199114"/>
            <a:ext cx="100584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9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71" name="TextBox 70"/>
          <p:cNvSpPr txBox="1"/>
          <p:nvPr/>
        </p:nvSpPr>
        <p:spPr>
          <a:xfrm>
            <a:off x="8476488" y="3253978"/>
            <a:ext cx="932688" cy="307777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770" b="0">
                <a:solidFill>
                  <a:srgbClr val="202838"/>
                </a:solidFill>
                <a:latin typeface="Arial"/>
              </a:defRPr>
            </a:pPr>
            <a:r>
              <a:rPr sz="1400" dirty="0">
                <a:latin typeface="Tahoma" panose="020B0604030504040204" pitchFamily="34" charset="0"/>
              </a:rPr>
              <a:t>14/08</a:t>
            </a:r>
          </a:p>
        </p:txBody>
      </p:sp>
      <p:sp>
        <p:nvSpPr>
          <p:cNvPr id="72" name="Rectangle 71"/>
          <p:cNvSpPr/>
          <p:nvPr/>
        </p:nvSpPr>
        <p:spPr>
          <a:xfrm>
            <a:off x="9445752" y="3199114"/>
            <a:ext cx="132588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9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73" name="TextBox 72"/>
          <p:cNvSpPr txBox="1"/>
          <p:nvPr/>
        </p:nvSpPr>
        <p:spPr>
          <a:xfrm>
            <a:off x="9482328" y="3253978"/>
            <a:ext cx="1252728" cy="307777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770" b="0">
                <a:solidFill>
                  <a:srgbClr val="202838"/>
                </a:solidFill>
                <a:latin typeface="Arial"/>
              </a:defRPr>
            </a:pPr>
            <a:r>
              <a:rPr sz="1400" dirty="0" err="1">
                <a:latin typeface="Tahoma" panose="020B0604030504040204" pitchFamily="34" charset="0"/>
              </a:rPr>
              <a:t>Quá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hạn</a:t>
            </a:r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74" name="Rectangle 73"/>
          <p:cNvSpPr/>
          <p:nvPr/>
        </p:nvSpPr>
        <p:spPr>
          <a:xfrm>
            <a:off x="2587751" y="3674602"/>
            <a:ext cx="914400" cy="475488"/>
          </a:xfrm>
          <a:prstGeom prst="rect">
            <a:avLst/>
          </a:prstGeom>
          <a:solidFill>
            <a:srgbClr val="F7F9FD"/>
          </a:solidFill>
          <a:ln>
            <a:solidFill>
              <a:srgbClr val="D9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75" name="TextBox 74"/>
          <p:cNvSpPr txBox="1"/>
          <p:nvPr/>
        </p:nvSpPr>
        <p:spPr>
          <a:xfrm>
            <a:off x="2624327" y="3729466"/>
            <a:ext cx="841248" cy="307777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defRPr sz="770" b="0">
                <a:solidFill>
                  <a:srgbClr val="202838"/>
                </a:solidFill>
                <a:latin typeface="Arial"/>
              </a:defRPr>
            </a:pPr>
            <a:r>
              <a:rPr sz="1400" dirty="0">
                <a:latin typeface="Tahoma" panose="020B0604030504040204" pitchFamily="34" charset="0"/>
              </a:rPr>
              <a:t>UV-010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502151" y="3674602"/>
            <a:ext cx="914400" cy="475488"/>
          </a:xfrm>
          <a:prstGeom prst="rect">
            <a:avLst/>
          </a:prstGeom>
          <a:solidFill>
            <a:srgbClr val="F7F9FD"/>
          </a:solidFill>
          <a:ln>
            <a:solidFill>
              <a:srgbClr val="D9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77" name="TextBox 76"/>
          <p:cNvSpPr txBox="1"/>
          <p:nvPr/>
        </p:nvSpPr>
        <p:spPr>
          <a:xfrm>
            <a:off x="3538727" y="3729466"/>
            <a:ext cx="841248" cy="307777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770" b="0">
                <a:solidFill>
                  <a:srgbClr val="202838"/>
                </a:solidFill>
                <a:latin typeface="Arial"/>
              </a:defRPr>
            </a:pPr>
            <a:r>
              <a:rPr sz="1400" dirty="0">
                <a:latin typeface="Tahoma" panose="020B0604030504040204" pitchFamily="34" charset="0"/>
              </a:rPr>
              <a:t>GPD</a:t>
            </a:r>
          </a:p>
        </p:txBody>
      </p:sp>
      <p:sp>
        <p:nvSpPr>
          <p:cNvPr id="78" name="Rectangle 77"/>
          <p:cNvSpPr/>
          <p:nvPr/>
        </p:nvSpPr>
        <p:spPr>
          <a:xfrm>
            <a:off x="4416552" y="3674602"/>
            <a:ext cx="1645920" cy="475488"/>
          </a:xfrm>
          <a:prstGeom prst="rect">
            <a:avLst/>
          </a:prstGeom>
          <a:solidFill>
            <a:srgbClr val="F7F9FD"/>
          </a:solidFill>
          <a:ln>
            <a:solidFill>
              <a:srgbClr val="D9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79" name="TextBox 78"/>
          <p:cNvSpPr txBox="1"/>
          <p:nvPr/>
        </p:nvSpPr>
        <p:spPr>
          <a:xfrm>
            <a:off x="4453128" y="3729466"/>
            <a:ext cx="1572768" cy="307777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770" b="0">
                <a:solidFill>
                  <a:srgbClr val="202838"/>
                </a:solidFill>
                <a:latin typeface="Arial"/>
              </a:defRPr>
            </a:pPr>
            <a:r>
              <a:rPr sz="1400" dirty="0" err="1">
                <a:latin typeface="Tahoma" panose="020B0604030504040204" pitchFamily="34" charset="0"/>
              </a:rPr>
              <a:t>Đề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xuất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hoạt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động</a:t>
            </a:r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80" name="Rectangle 79"/>
          <p:cNvSpPr/>
          <p:nvPr/>
        </p:nvSpPr>
        <p:spPr>
          <a:xfrm>
            <a:off x="6062472" y="3674602"/>
            <a:ext cx="731520" cy="475488"/>
          </a:xfrm>
          <a:prstGeom prst="rect">
            <a:avLst/>
          </a:prstGeom>
          <a:solidFill>
            <a:srgbClr val="F7F9FD"/>
          </a:solidFill>
          <a:ln>
            <a:solidFill>
              <a:srgbClr val="D9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81" name="TextBox 80"/>
          <p:cNvSpPr txBox="1"/>
          <p:nvPr/>
        </p:nvSpPr>
        <p:spPr>
          <a:xfrm>
            <a:off x="6099048" y="3729466"/>
            <a:ext cx="658368" cy="307777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770" b="0">
                <a:solidFill>
                  <a:srgbClr val="202838"/>
                </a:solidFill>
                <a:latin typeface="Arial"/>
              </a:defRPr>
            </a:pPr>
            <a:r>
              <a:rPr sz="1400" dirty="0" err="1">
                <a:latin typeface="Tahoma" panose="020B0604030504040204" pitchFamily="34" charset="0"/>
              </a:rPr>
              <a:t>Thấp</a:t>
            </a:r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82" name="Rectangle 81"/>
          <p:cNvSpPr/>
          <p:nvPr/>
        </p:nvSpPr>
        <p:spPr>
          <a:xfrm>
            <a:off x="6793992" y="3674602"/>
            <a:ext cx="1645920" cy="475488"/>
          </a:xfrm>
          <a:prstGeom prst="rect">
            <a:avLst/>
          </a:prstGeom>
          <a:solidFill>
            <a:srgbClr val="F7F9FD"/>
          </a:solidFill>
          <a:ln>
            <a:solidFill>
              <a:srgbClr val="D9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83" name="TextBox 82"/>
          <p:cNvSpPr txBox="1"/>
          <p:nvPr/>
        </p:nvSpPr>
        <p:spPr>
          <a:xfrm>
            <a:off x="6830568" y="3729466"/>
            <a:ext cx="1572768" cy="307777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770" b="0">
                <a:solidFill>
                  <a:srgbClr val="202838"/>
                </a:solidFill>
                <a:latin typeface="Arial"/>
              </a:defRPr>
            </a:pPr>
            <a:r>
              <a:rPr sz="1400" dirty="0" err="1">
                <a:latin typeface="Tahoma" panose="020B0604030504040204" pitchFamily="34" charset="0"/>
              </a:rPr>
              <a:t>CĐCS</a:t>
            </a:r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84" name="Rectangle 83"/>
          <p:cNvSpPr/>
          <p:nvPr/>
        </p:nvSpPr>
        <p:spPr>
          <a:xfrm>
            <a:off x="8439912" y="3674602"/>
            <a:ext cx="1005840" cy="475488"/>
          </a:xfrm>
          <a:prstGeom prst="rect">
            <a:avLst/>
          </a:prstGeom>
          <a:solidFill>
            <a:srgbClr val="F7F9FD"/>
          </a:solidFill>
          <a:ln>
            <a:solidFill>
              <a:srgbClr val="D9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85" name="TextBox 84"/>
          <p:cNvSpPr txBox="1"/>
          <p:nvPr/>
        </p:nvSpPr>
        <p:spPr>
          <a:xfrm>
            <a:off x="8476488" y="3729466"/>
            <a:ext cx="932688" cy="307777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770" b="0">
                <a:solidFill>
                  <a:srgbClr val="202838"/>
                </a:solidFill>
                <a:latin typeface="Arial"/>
              </a:defRPr>
            </a:pPr>
            <a:r>
              <a:rPr sz="1400" dirty="0">
                <a:latin typeface="Tahoma" panose="020B0604030504040204" pitchFamily="34" charset="0"/>
              </a:rPr>
              <a:t>30/08</a:t>
            </a:r>
          </a:p>
        </p:txBody>
      </p:sp>
      <p:sp>
        <p:nvSpPr>
          <p:cNvPr id="86" name="Rectangle 85"/>
          <p:cNvSpPr/>
          <p:nvPr/>
        </p:nvSpPr>
        <p:spPr>
          <a:xfrm>
            <a:off x="9445752" y="3674602"/>
            <a:ext cx="1325880" cy="475488"/>
          </a:xfrm>
          <a:prstGeom prst="rect">
            <a:avLst/>
          </a:prstGeom>
          <a:solidFill>
            <a:srgbClr val="F7F9FD"/>
          </a:solidFill>
          <a:ln>
            <a:solidFill>
              <a:srgbClr val="D9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87" name="TextBox 86"/>
          <p:cNvSpPr txBox="1"/>
          <p:nvPr/>
        </p:nvSpPr>
        <p:spPr>
          <a:xfrm>
            <a:off x="9482328" y="3729466"/>
            <a:ext cx="1252728" cy="307777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770" b="0">
                <a:solidFill>
                  <a:srgbClr val="202838"/>
                </a:solidFill>
                <a:latin typeface="Arial"/>
              </a:defRPr>
            </a:pPr>
            <a:r>
              <a:rPr sz="1400" dirty="0" err="1">
                <a:latin typeface="Tahoma" panose="020B0604030504040204" pitchFamily="34" charset="0"/>
              </a:rPr>
              <a:t>Kế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hoạch</a:t>
            </a:r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88" name="Rounded Rectangle 87"/>
          <p:cNvSpPr/>
          <p:nvPr/>
        </p:nvSpPr>
        <p:spPr>
          <a:xfrm>
            <a:off x="2587751" y="4470130"/>
            <a:ext cx="242316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D9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89" name="TextBox 88"/>
          <p:cNvSpPr txBox="1"/>
          <p:nvPr/>
        </p:nvSpPr>
        <p:spPr>
          <a:xfrm>
            <a:off x="2788920" y="4598146"/>
            <a:ext cx="2057399" cy="307777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950" b="1">
                <a:solidFill>
                  <a:srgbClr val="051F71"/>
                </a:solidFill>
                <a:latin typeface="Arial"/>
              </a:defRPr>
            </a:pPr>
            <a:r>
              <a:rPr sz="1400" dirty="0">
                <a:latin typeface="Tahoma" panose="020B0604030504040204" pitchFamily="34" charset="0"/>
              </a:rPr>
              <a:t>THÔNG TIN </a:t>
            </a:r>
            <a:r>
              <a:rPr sz="1400" dirty="0" err="1">
                <a:latin typeface="Tahoma" panose="020B0604030504040204" pitchFamily="34" charset="0"/>
              </a:rPr>
              <a:t>BẮT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BUỘC</a:t>
            </a:r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90" name="TextBox 89"/>
          <p:cNvSpPr txBox="1"/>
          <p:nvPr/>
        </p:nvSpPr>
        <p:spPr>
          <a:xfrm>
            <a:off x="2788920" y="4837890"/>
            <a:ext cx="1984248" cy="738664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810" b="0">
                <a:solidFill>
                  <a:srgbClr val="202838"/>
                </a:solidFill>
                <a:latin typeface="Arial"/>
              </a:defRPr>
            </a:pPr>
            <a:r>
              <a:rPr lang="vi-VN" sz="1400" dirty="0">
                <a:latin typeface="Tahoma" panose="020B0604030504040204" pitchFamily="34" charset="0"/>
              </a:rPr>
              <a:t>• </a:t>
            </a:r>
            <a:r>
              <a:rPr sz="1400" dirty="0" err="1">
                <a:latin typeface="Tahoma" panose="020B0604030504040204" pitchFamily="34" charset="0"/>
              </a:rPr>
              <a:t>Nguồn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tiếp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nhận</a:t>
            </a:r>
            <a:r>
              <a:rPr sz="1400" dirty="0">
                <a:latin typeface="Tahoma" panose="020B0604030504040204" pitchFamily="34" charset="0"/>
              </a:rPr>
              <a:t> • </a:t>
            </a:r>
            <a:r>
              <a:rPr sz="1400" dirty="0" err="1">
                <a:latin typeface="Tahoma" panose="020B0604030504040204" pitchFamily="34" charset="0"/>
              </a:rPr>
              <a:t>mô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tả</a:t>
            </a:r>
            <a:r>
              <a:rPr sz="1400" dirty="0">
                <a:latin typeface="Tahoma" panose="020B0604030504040204" pitchFamily="34" charset="0"/>
              </a:rPr>
              <a:t> • </a:t>
            </a:r>
            <a:r>
              <a:rPr sz="1400" dirty="0" err="1">
                <a:latin typeface="Tahoma" panose="020B0604030504040204" pitchFamily="34" charset="0"/>
              </a:rPr>
              <a:t>người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bị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ảnh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hưởng</a:t>
            </a:r>
            <a:r>
              <a:rPr sz="1400" dirty="0">
                <a:latin typeface="Tahoma" panose="020B0604030504040204" pitchFamily="34" charset="0"/>
              </a:rPr>
              <a:t> • </a:t>
            </a:r>
            <a:r>
              <a:rPr sz="1400" dirty="0" err="1">
                <a:latin typeface="Tahoma" panose="020B0604030504040204" pitchFamily="34" charset="0"/>
              </a:rPr>
              <a:t>mức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độ</a:t>
            </a:r>
            <a:r>
              <a:rPr sz="1400" dirty="0">
                <a:latin typeface="Tahoma" panose="020B0604030504040204" pitchFamily="34" charset="0"/>
              </a:rPr>
              <a:t> • </a:t>
            </a:r>
            <a:r>
              <a:rPr sz="1400" dirty="0" err="1">
                <a:latin typeface="Tahoma" panose="020B0604030504040204" pitchFamily="34" charset="0"/>
              </a:rPr>
              <a:t>tài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liệu</a:t>
            </a:r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91" name="Rounded Rectangle 90"/>
          <p:cNvSpPr/>
          <p:nvPr/>
        </p:nvSpPr>
        <p:spPr>
          <a:xfrm>
            <a:off x="5285231" y="4470130"/>
            <a:ext cx="242316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D9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92" name="TextBox 91"/>
          <p:cNvSpPr txBox="1"/>
          <p:nvPr/>
        </p:nvSpPr>
        <p:spPr>
          <a:xfrm>
            <a:off x="5486399" y="4598146"/>
            <a:ext cx="2057400" cy="307777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950" b="1">
                <a:solidFill>
                  <a:srgbClr val="118F91"/>
                </a:solidFill>
                <a:latin typeface="Arial"/>
              </a:defRPr>
            </a:pPr>
            <a:r>
              <a:rPr sz="1400" dirty="0">
                <a:latin typeface="Tahoma" panose="020B0604030504040204" pitchFamily="34" charset="0"/>
              </a:rPr>
              <a:t>WORKFLOW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5523701" y="4759590"/>
            <a:ext cx="1984248" cy="738664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810" b="0">
                <a:solidFill>
                  <a:srgbClr val="202838"/>
                </a:solidFill>
                <a:latin typeface="Arial"/>
              </a:defRPr>
            </a:pPr>
            <a:r>
              <a:rPr sz="1400" dirty="0" err="1">
                <a:latin typeface="Tahoma" panose="020B0604030504040204" pitchFamily="34" charset="0"/>
              </a:rPr>
              <a:t>Xác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minh</a:t>
            </a:r>
            <a:r>
              <a:rPr sz="1400" dirty="0">
                <a:latin typeface="Tahoma" panose="020B0604030504040204" pitchFamily="34" charset="0"/>
              </a:rPr>
              <a:t> → </a:t>
            </a:r>
            <a:r>
              <a:rPr sz="1400" dirty="0" err="1">
                <a:latin typeface="Tahoma" panose="020B0604030504040204" pitchFamily="34" charset="0"/>
              </a:rPr>
              <a:t>phân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loại</a:t>
            </a:r>
            <a:r>
              <a:rPr sz="1400" dirty="0">
                <a:latin typeface="Tahoma" panose="020B0604030504040204" pitchFamily="34" charset="0"/>
              </a:rPr>
              <a:t> → </a:t>
            </a:r>
            <a:r>
              <a:rPr sz="1400" dirty="0" err="1">
                <a:latin typeface="Tahoma" panose="020B0604030504040204" pitchFamily="34" charset="0"/>
              </a:rPr>
              <a:t>giao</a:t>
            </a:r>
            <a:r>
              <a:rPr sz="1400" dirty="0">
                <a:latin typeface="Tahoma" panose="020B0604030504040204" pitchFamily="34" charset="0"/>
              </a:rPr>
              <a:t> PIC → </a:t>
            </a:r>
            <a:r>
              <a:rPr sz="1400" dirty="0" err="1">
                <a:latin typeface="Tahoma" panose="020B0604030504040204" pitchFamily="34" charset="0"/>
              </a:rPr>
              <a:t>xử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lý</a:t>
            </a:r>
            <a:r>
              <a:rPr sz="1400" dirty="0">
                <a:latin typeface="Tahoma" panose="020B0604030504040204" pitchFamily="34" charset="0"/>
              </a:rPr>
              <a:t> → </a:t>
            </a:r>
            <a:r>
              <a:rPr sz="1400" dirty="0" err="1">
                <a:latin typeface="Tahoma" panose="020B0604030504040204" pitchFamily="34" charset="0"/>
              </a:rPr>
              <a:t>phản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hồi</a:t>
            </a:r>
            <a:r>
              <a:rPr sz="1400" dirty="0">
                <a:latin typeface="Tahoma" panose="020B0604030504040204" pitchFamily="34" charset="0"/>
              </a:rPr>
              <a:t> → </a:t>
            </a:r>
            <a:r>
              <a:rPr sz="1400" dirty="0" err="1">
                <a:latin typeface="Tahoma" panose="020B0604030504040204" pitchFamily="34" charset="0"/>
              </a:rPr>
              <a:t>đóng</a:t>
            </a:r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94" name="Rounded Rectangle 93"/>
          <p:cNvSpPr/>
          <p:nvPr/>
        </p:nvSpPr>
        <p:spPr>
          <a:xfrm>
            <a:off x="7982712" y="4470130"/>
            <a:ext cx="324612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D9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95" name="TextBox 94"/>
          <p:cNvSpPr txBox="1"/>
          <p:nvPr/>
        </p:nvSpPr>
        <p:spPr>
          <a:xfrm>
            <a:off x="8183880" y="4598146"/>
            <a:ext cx="2880359" cy="307777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950" b="1">
                <a:solidFill>
                  <a:srgbClr val="E87823"/>
                </a:solidFill>
                <a:latin typeface="Arial"/>
              </a:defRPr>
            </a:pPr>
            <a:r>
              <a:rPr sz="1400" dirty="0" err="1">
                <a:latin typeface="Tahoma" panose="020B0604030504040204" pitchFamily="34" charset="0"/>
              </a:rPr>
              <a:t>CẢNH</a:t>
            </a:r>
            <a:r>
              <a:rPr sz="1400" dirty="0">
                <a:latin typeface="Tahoma" panose="020B0604030504040204" pitchFamily="34" charset="0"/>
              </a:rPr>
              <a:t> BÁO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8165592" y="4871293"/>
            <a:ext cx="2807208" cy="5232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810" b="0">
                <a:solidFill>
                  <a:srgbClr val="202838"/>
                </a:solidFill>
                <a:latin typeface="Arial"/>
              </a:defRPr>
            </a:pPr>
            <a:r>
              <a:rPr sz="1400" dirty="0" err="1">
                <a:latin typeface="Tahoma" panose="020B0604030504040204" pitchFamily="34" charset="0"/>
              </a:rPr>
              <a:t>Đến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hạn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24h</a:t>
            </a:r>
            <a:r>
              <a:rPr sz="1400" dirty="0">
                <a:latin typeface="Tahoma" panose="020B0604030504040204" pitchFamily="34" charset="0"/>
              </a:rPr>
              <a:t> • </a:t>
            </a:r>
            <a:r>
              <a:rPr sz="1400" dirty="0" err="1">
                <a:latin typeface="Tahoma" panose="020B0604030504040204" pitchFamily="34" charset="0"/>
              </a:rPr>
              <a:t>quá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hạn</a:t>
            </a:r>
            <a:r>
              <a:rPr sz="1400" dirty="0">
                <a:latin typeface="Tahoma" panose="020B0604030504040204" pitchFamily="34" charset="0"/>
              </a:rPr>
              <a:t> • </a:t>
            </a:r>
            <a:r>
              <a:rPr sz="1400" dirty="0" err="1">
                <a:latin typeface="Tahoma" panose="020B0604030504040204" pitchFamily="34" charset="0"/>
              </a:rPr>
              <a:t>vụ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việc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lặp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lại</a:t>
            </a:r>
            <a:r>
              <a:rPr sz="1400" dirty="0">
                <a:latin typeface="Tahoma" panose="020B0604030504040204" pitchFamily="34" charset="0"/>
              </a:rPr>
              <a:t> • </a:t>
            </a:r>
            <a:r>
              <a:rPr sz="1400" dirty="0" err="1">
                <a:latin typeface="Tahoma" panose="020B0604030504040204" pitchFamily="34" charset="0"/>
              </a:rPr>
              <a:t>ảnh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hưởng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nhiều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NLĐ</a:t>
            </a:r>
            <a:endParaRPr sz="1400" dirty="0">
              <a:latin typeface="Tahoma" panose="020B0604030504040204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608" y="82296"/>
            <a:ext cx="960120" cy="548640"/>
          </a:xfrm>
          <a:prstGeom prst="rect">
            <a:avLst/>
          </a:prstGeom>
        </p:spPr>
      </p:pic>
      <p:pic>
        <p:nvPicPr>
          <p:cNvPr id="3" name="Picture 2" descr="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64008"/>
            <a:ext cx="646818" cy="585216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274320" y="749808"/>
            <a:ext cx="11649456" cy="22860"/>
          </a:xfrm>
          <a:prstGeom prst="rect">
            <a:avLst/>
          </a:prstGeom>
          <a:solidFill>
            <a:srgbClr val="051F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Tahoma" panose="020B0604030504040204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20040" y="6483096"/>
            <a:ext cx="2077813" cy="22313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051F71"/>
                </a:solidFill>
                <a:latin typeface="Arial"/>
              </a:defRPr>
            </a:pPr>
            <a:r>
              <a:rPr dirty="0">
                <a:latin typeface="Tahoma" panose="020B0604030504040204" pitchFamily="34" charset="0"/>
              </a:rPr>
              <a:t>CÔNG ĐOÀN GPG | GPG TRADE UNION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43352" y="6473952"/>
            <a:ext cx="1029448" cy="21839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19">
                <a:solidFill>
                  <a:srgbClr val="677180"/>
                </a:solidFill>
                <a:latin typeface="Arial"/>
              </a:defRPr>
            </a:pPr>
            <a:r>
              <a:rPr dirty="0">
                <a:latin typeface="Tahoma" panose="020B0604030504040204" pitchFamily="34" charset="0"/>
              </a:rPr>
              <a:t>V. </a:t>
            </a:r>
            <a:r>
              <a:rPr dirty="0" err="1">
                <a:latin typeface="Tahoma" panose="020B0604030504040204" pitchFamily="34" charset="0"/>
              </a:rPr>
              <a:t>SỐ</a:t>
            </a:r>
            <a:r>
              <a:rPr dirty="0">
                <a:latin typeface="Tahoma" panose="020B0604030504040204" pitchFamily="34" charset="0"/>
              </a:rPr>
              <a:t> </a:t>
            </a:r>
            <a:r>
              <a:rPr dirty="0" err="1">
                <a:latin typeface="Tahoma" panose="020B0604030504040204" pitchFamily="34" charset="0"/>
              </a:rPr>
              <a:t>HÓA</a:t>
            </a:r>
            <a:r>
              <a:rPr dirty="0">
                <a:latin typeface="Tahoma" panose="020B0604030504040204" pitchFamily="34" charset="0"/>
              </a:rPr>
              <a:t> HỒ </a:t>
            </a:r>
            <a:r>
              <a:rPr dirty="0" err="1">
                <a:latin typeface="Tahoma" panose="020B0604030504040204" pitchFamily="34" charset="0"/>
              </a:rPr>
              <a:t>SƠ</a:t>
            </a:r>
            <a:endParaRPr dirty="0">
              <a:latin typeface="Tahoma" panose="020B0604030504040204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393198" y="6455664"/>
            <a:ext cx="338554" cy="2385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051F71"/>
                </a:solidFill>
                <a:latin typeface="Arial"/>
              </a:defRPr>
            </a:pPr>
            <a:r>
              <a:rPr dirty="0">
                <a:latin typeface="Tahoma" panose="020B0604030504040204" pitchFamily="34" charset="0"/>
              </a:rPr>
              <a:t>32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9212" y="163601"/>
            <a:ext cx="10843033" cy="50013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50" b="1">
                <a:solidFill>
                  <a:srgbClr val="051F71"/>
                </a:solidFill>
                <a:latin typeface="Arial Narrow"/>
              </a:defRPr>
            </a:pPr>
            <a:r>
              <a:rPr dirty="0" err="1">
                <a:latin typeface="Tahoma" panose="020B0604030504040204" pitchFamily="34" charset="0"/>
              </a:rPr>
              <a:t>MÀN</a:t>
            </a:r>
            <a:r>
              <a:rPr dirty="0">
                <a:latin typeface="Tahoma" panose="020B0604030504040204" pitchFamily="34" charset="0"/>
              </a:rPr>
              <a:t> </a:t>
            </a:r>
            <a:r>
              <a:rPr dirty="0" err="1">
                <a:latin typeface="Tahoma" panose="020B0604030504040204" pitchFamily="34" charset="0"/>
              </a:rPr>
              <a:t>HÌNH</a:t>
            </a:r>
            <a:r>
              <a:rPr dirty="0">
                <a:latin typeface="Tahoma" panose="020B0604030504040204" pitchFamily="34" charset="0"/>
              </a:rPr>
              <a:t> </a:t>
            </a:r>
            <a:r>
              <a:rPr dirty="0" err="1">
                <a:latin typeface="Tahoma" panose="020B0604030504040204" pitchFamily="34" charset="0"/>
              </a:rPr>
              <a:t>ĐỀ</a:t>
            </a:r>
            <a:r>
              <a:rPr dirty="0">
                <a:latin typeface="Tahoma" panose="020B0604030504040204" pitchFamily="34" charset="0"/>
              </a:rPr>
              <a:t> </a:t>
            </a:r>
            <a:r>
              <a:rPr dirty="0" err="1">
                <a:latin typeface="Tahoma" panose="020B0604030504040204" pitchFamily="34" charset="0"/>
              </a:rPr>
              <a:t>XUẤT</a:t>
            </a:r>
            <a:r>
              <a:rPr dirty="0">
                <a:latin typeface="Tahoma" panose="020B0604030504040204" pitchFamily="34" charset="0"/>
              </a:rPr>
              <a:t> 04 – </a:t>
            </a:r>
            <a:r>
              <a:rPr dirty="0" err="1">
                <a:latin typeface="Tahoma" panose="020B0604030504040204" pitchFamily="34" charset="0"/>
              </a:rPr>
              <a:t>CHĂM</a:t>
            </a:r>
            <a:r>
              <a:rPr dirty="0">
                <a:latin typeface="Tahoma" panose="020B0604030504040204" pitchFamily="34" charset="0"/>
              </a:rPr>
              <a:t> LO / PHÚC LỢI / CHÍNH </a:t>
            </a:r>
            <a:r>
              <a:rPr dirty="0" err="1">
                <a:latin typeface="Tahoma" panose="020B0604030504040204" pitchFamily="34" charset="0"/>
              </a:rPr>
              <a:t>SÁCH</a:t>
            </a:r>
            <a:endParaRPr dirty="0">
              <a:latin typeface="Tahoma" panose="020B0604030504040204" pitchFamily="34" charset="0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09600" y="1084040"/>
            <a:ext cx="10972800" cy="4667060"/>
          </a:xfrm>
          <a:prstGeom prst="roundRect">
            <a:avLst/>
          </a:prstGeom>
          <a:solidFill>
            <a:srgbClr val="FFFFFF"/>
          </a:solidFill>
          <a:ln>
            <a:solidFill>
              <a:srgbClr val="D9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609600" y="1084040"/>
            <a:ext cx="10972800" cy="475488"/>
          </a:xfrm>
          <a:prstGeom prst="rect">
            <a:avLst/>
          </a:prstGeom>
          <a:solidFill>
            <a:srgbClr val="051F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38200" y="1202912"/>
            <a:ext cx="10515600" cy="307777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050" b="1">
                <a:solidFill>
                  <a:srgbClr val="FFFFFF"/>
                </a:solidFill>
                <a:latin typeface="Arial"/>
              </a:defRPr>
            </a:pPr>
            <a:r>
              <a:rPr sz="1400" dirty="0">
                <a:latin typeface="Tahoma" panose="020B0604030504040204" pitchFamily="34" charset="0"/>
              </a:rPr>
              <a:t>GPG UNION PORTAL | Welfare &amp; Policy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9600" y="1559528"/>
            <a:ext cx="1874519" cy="4114800"/>
          </a:xfrm>
          <a:prstGeom prst="rect">
            <a:avLst/>
          </a:prstGeom>
          <a:solidFill>
            <a:srgbClr val="F7F9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74192" y="1797272"/>
            <a:ext cx="1508760" cy="307777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869" b="1">
                <a:solidFill>
                  <a:srgbClr val="051F71"/>
                </a:solidFill>
                <a:latin typeface="Arial"/>
              </a:defRPr>
            </a:pPr>
            <a:r>
              <a:rPr sz="1400" dirty="0" err="1">
                <a:latin typeface="Tahoma" panose="020B0604030504040204" pitchFamily="34" charset="0"/>
              </a:rPr>
              <a:t>Chăm</a:t>
            </a:r>
            <a:r>
              <a:rPr sz="1400" dirty="0">
                <a:latin typeface="Tahoma" panose="020B0604030504040204" pitchFamily="34" charset="0"/>
              </a:rPr>
              <a:t> lo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4192" y="2254472"/>
            <a:ext cx="1508760" cy="307777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869" b="0">
                <a:solidFill>
                  <a:srgbClr val="677180"/>
                </a:solidFill>
                <a:latin typeface="Arial"/>
              </a:defRPr>
            </a:pPr>
            <a:r>
              <a:rPr sz="1400" dirty="0" err="1">
                <a:latin typeface="Tahoma" panose="020B0604030504040204" pitchFamily="34" charset="0"/>
              </a:rPr>
              <a:t>Chính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sách</a:t>
            </a:r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74192" y="2711672"/>
            <a:ext cx="1508760" cy="307777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869" b="0">
                <a:solidFill>
                  <a:srgbClr val="677180"/>
                </a:solidFill>
                <a:latin typeface="Arial"/>
              </a:defRPr>
            </a:pPr>
            <a:r>
              <a:rPr sz="1400" dirty="0" err="1">
                <a:latin typeface="Tahoma" panose="020B0604030504040204" pitchFamily="34" charset="0"/>
              </a:rPr>
              <a:t>Yêu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cầu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mới</a:t>
            </a:r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74192" y="3181624"/>
            <a:ext cx="1508760" cy="307777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869" b="0">
                <a:solidFill>
                  <a:srgbClr val="677180"/>
                </a:solidFill>
                <a:latin typeface="Arial"/>
              </a:defRPr>
            </a:pPr>
            <a:r>
              <a:rPr sz="1400" dirty="0" err="1">
                <a:latin typeface="Tahoma" panose="020B0604030504040204" pitchFamily="34" charset="0"/>
              </a:rPr>
              <a:t>Đến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hạn</a:t>
            </a:r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74192" y="3638824"/>
            <a:ext cx="1508760" cy="307777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869" b="0">
                <a:solidFill>
                  <a:srgbClr val="677180"/>
                </a:solidFill>
                <a:latin typeface="Arial"/>
              </a:defRPr>
            </a:pPr>
            <a:r>
              <a:rPr sz="1400" dirty="0" err="1">
                <a:latin typeface="Tahoma" panose="020B0604030504040204" pitchFamily="34" charset="0"/>
              </a:rPr>
              <a:t>Chứng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từ</a:t>
            </a:r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2758439" y="1833848"/>
            <a:ext cx="1783080" cy="822960"/>
          </a:xfrm>
          <a:prstGeom prst="roundRect">
            <a:avLst/>
          </a:prstGeom>
          <a:solidFill>
            <a:srgbClr val="F7F9FD"/>
          </a:solidFill>
          <a:ln>
            <a:solidFill>
              <a:srgbClr val="D9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804159" y="1961864"/>
            <a:ext cx="1691640" cy="307777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defRPr sz="1800" b="1">
                <a:solidFill>
                  <a:srgbClr val="051F71"/>
                </a:solidFill>
                <a:latin typeface="Arial Narrow"/>
              </a:defRPr>
            </a:pPr>
            <a:r>
              <a:rPr sz="1400" dirty="0">
                <a:latin typeface="Tahoma" panose="020B0604030504040204" pitchFamily="34" charset="0"/>
              </a:rPr>
              <a:t>12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04159" y="2309336"/>
            <a:ext cx="1691640" cy="5232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defRPr sz="740" b="1">
                <a:solidFill>
                  <a:srgbClr val="677180"/>
                </a:solidFill>
                <a:latin typeface="Arial"/>
              </a:defRPr>
            </a:pPr>
            <a:r>
              <a:rPr sz="1400" dirty="0">
                <a:latin typeface="Tahoma" panose="020B0604030504040204" pitchFamily="34" charset="0"/>
              </a:rPr>
              <a:t>Sinh </a:t>
            </a:r>
            <a:r>
              <a:rPr sz="1400" dirty="0" err="1">
                <a:latin typeface="Tahoma" panose="020B0604030504040204" pitchFamily="34" charset="0"/>
              </a:rPr>
              <a:t>nhật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tháng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này</a:t>
            </a:r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4770119" y="1833848"/>
            <a:ext cx="1783080" cy="822960"/>
          </a:xfrm>
          <a:prstGeom prst="roundRect">
            <a:avLst/>
          </a:prstGeom>
          <a:solidFill>
            <a:srgbClr val="F7F9FD"/>
          </a:solidFill>
          <a:ln>
            <a:solidFill>
              <a:srgbClr val="D9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4815839" y="1961864"/>
            <a:ext cx="1691640" cy="307777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defRPr sz="1800" b="1">
                <a:solidFill>
                  <a:srgbClr val="118F91"/>
                </a:solidFill>
                <a:latin typeface="Arial Narrow"/>
              </a:defRPr>
            </a:pPr>
            <a:r>
              <a:rPr sz="1400" dirty="0">
                <a:latin typeface="Tahoma" panose="020B0604030504040204" pitchFamily="34" charset="0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15839" y="2309336"/>
            <a:ext cx="1691640" cy="307777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defRPr sz="740" b="1">
                <a:solidFill>
                  <a:srgbClr val="677180"/>
                </a:solidFill>
                <a:latin typeface="Arial"/>
              </a:defRPr>
            </a:pPr>
            <a:r>
              <a:rPr sz="1400" dirty="0" err="1">
                <a:latin typeface="Tahoma" panose="020B0604030504040204" pitchFamily="34" charset="0"/>
              </a:rPr>
              <a:t>Thăm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hỏi</a:t>
            </a:r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6781800" y="1833848"/>
            <a:ext cx="1783080" cy="822960"/>
          </a:xfrm>
          <a:prstGeom prst="roundRect">
            <a:avLst/>
          </a:prstGeom>
          <a:solidFill>
            <a:srgbClr val="F7F9FD"/>
          </a:solidFill>
          <a:ln>
            <a:solidFill>
              <a:srgbClr val="D9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827520" y="1961864"/>
            <a:ext cx="1691640" cy="307777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defRPr sz="1800" b="1">
                <a:solidFill>
                  <a:srgbClr val="E87823"/>
                </a:solidFill>
                <a:latin typeface="Arial Narrow"/>
              </a:defRPr>
            </a:pPr>
            <a:r>
              <a:rPr sz="1400" dirty="0">
                <a:latin typeface="Tahoma" panose="020B0604030504040204" pitchFamily="34" charset="0"/>
              </a:rPr>
              <a:t>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27520" y="2309336"/>
            <a:ext cx="1691640" cy="307777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defRPr sz="740" b="1">
                <a:solidFill>
                  <a:srgbClr val="677180"/>
                </a:solidFill>
                <a:latin typeface="Arial"/>
              </a:defRPr>
            </a:pPr>
            <a:r>
              <a:rPr sz="1400" dirty="0" err="1">
                <a:latin typeface="Tahoma" panose="020B0604030504040204" pitchFamily="34" charset="0"/>
              </a:rPr>
              <a:t>Hiếu</a:t>
            </a:r>
            <a:r>
              <a:rPr sz="1400" dirty="0">
                <a:latin typeface="Tahoma" panose="020B0604030504040204" pitchFamily="34" charset="0"/>
              </a:rPr>
              <a:t>/</a:t>
            </a:r>
            <a:r>
              <a:rPr sz="1400" dirty="0" err="1">
                <a:latin typeface="Tahoma" panose="020B0604030504040204" pitchFamily="34" charset="0"/>
              </a:rPr>
              <a:t>hỷ</a:t>
            </a:r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8793480" y="1833848"/>
            <a:ext cx="1783080" cy="822960"/>
          </a:xfrm>
          <a:prstGeom prst="roundRect">
            <a:avLst/>
          </a:prstGeom>
          <a:solidFill>
            <a:srgbClr val="F7F9FD"/>
          </a:solidFill>
          <a:ln>
            <a:solidFill>
              <a:srgbClr val="D9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8839200" y="1961864"/>
            <a:ext cx="1691640" cy="307777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defRPr sz="1800" b="1">
                <a:solidFill>
                  <a:srgbClr val="C53A3A"/>
                </a:solidFill>
                <a:latin typeface="Arial Narrow"/>
              </a:defRPr>
            </a:pPr>
            <a:r>
              <a:rPr sz="1400" dirty="0">
                <a:latin typeface="Tahoma" panose="020B0604030504040204" pitchFamily="34" charset="0"/>
              </a:rPr>
              <a:t>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39200" y="2309336"/>
            <a:ext cx="1691640" cy="307777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defRPr sz="740" b="1">
                <a:solidFill>
                  <a:srgbClr val="677180"/>
                </a:solidFill>
                <a:latin typeface="Arial"/>
              </a:defRPr>
            </a:pPr>
            <a:r>
              <a:rPr sz="1400" dirty="0" err="1">
                <a:latin typeface="Tahoma" panose="020B0604030504040204" pitchFamily="34" charset="0"/>
              </a:rPr>
              <a:t>Chưa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hoàn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tất</a:t>
            </a:r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2758439" y="2758951"/>
            <a:ext cx="1143000" cy="475488"/>
          </a:xfrm>
          <a:prstGeom prst="rect">
            <a:avLst/>
          </a:prstGeom>
          <a:solidFill>
            <a:srgbClr val="051F71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2795015" y="2822959"/>
            <a:ext cx="1069848" cy="307777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rial"/>
              </a:defRPr>
            </a:pPr>
            <a:r>
              <a:rPr sz="1400" dirty="0" err="1">
                <a:latin typeface="Tahoma" panose="020B0604030504040204" pitchFamily="34" charset="0"/>
              </a:rPr>
              <a:t>Mã</a:t>
            </a:r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3901440" y="2758951"/>
            <a:ext cx="1234440" cy="475488"/>
          </a:xfrm>
          <a:prstGeom prst="rect">
            <a:avLst/>
          </a:prstGeom>
          <a:solidFill>
            <a:srgbClr val="051F71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3938016" y="2822959"/>
            <a:ext cx="1161288" cy="307777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rial"/>
              </a:defRPr>
            </a:pPr>
            <a:r>
              <a:rPr sz="1400" dirty="0" err="1">
                <a:latin typeface="Tahoma" panose="020B0604030504040204" pitchFamily="34" charset="0"/>
              </a:rPr>
              <a:t>Loại</a:t>
            </a:r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5135880" y="2758951"/>
            <a:ext cx="1005840" cy="475488"/>
          </a:xfrm>
          <a:prstGeom prst="rect">
            <a:avLst/>
          </a:prstGeom>
          <a:solidFill>
            <a:srgbClr val="051F71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5172456" y="2822959"/>
            <a:ext cx="932688" cy="307777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rial"/>
              </a:defRPr>
            </a:pPr>
            <a:r>
              <a:rPr sz="1400" dirty="0" err="1">
                <a:latin typeface="Tahoma" panose="020B0604030504040204" pitchFamily="34" charset="0"/>
              </a:rPr>
              <a:t>Đơn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vị</a:t>
            </a:r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6141719" y="2758951"/>
            <a:ext cx="1097280" cy="475488"/>
          </a:xfrm>
          <a:prstGeom prst="rect">
            <a:avLst/>
          </a:prstGeom>
          <a:solidFill>
            <a:srgbClr val="051F71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6178295" y="2822959"/>
            <a:ext cx="1024127" cy="307777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rial"/>
              </a:defRPr>
            </a:pPr>
            <a:r>
              <a:rPr sz="1400" dirty="0" err="1">
                <a:latin typeface="Tahoma" panose="020B0604030504040204" pitchFamily="34" charset="0"/>
              </a:rPr>
              <a:t>Ngày</a:t>
            </a:r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7238999" y="2758951"/>
            <a:ext cx="1508760" cy="475488"/>
          </a:xfrm>
          <a:prstGeom prst="rect">
            <a:avLst/>
          </a:prstGeom>
          <a:solidFill>
            <a:srgbClr val="051F71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7275576" y="2822959"/>
            <a:ext cx="1435607" cy="307777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rial"/>
              </a:defRPr>
            </a:pPr>
            <a:r>
              <a:rPr sz="1400" dirty="0" err="1">
                <a:latin typeface="Tahoma" panose="020B0604030504040204" pitchFamily="34" charset="0"/>
              </a:rPr>
              <a:t>Trạng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thái</a:t>
            </a:r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8747759" y="2758951"/>
            <a:ext cx="1417320" cy="475488"/>
          </a:xfrm>
          <a:prstGeom prst="rect">
            <a:avLst/>
          </a:prstGeom>
          <a:solidFill>
            <a:srgbClr val="051F71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8784335" y="2822959"/>
            <a:ext cx="1344168" cy="307777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rial"/>
              </a:defRPr>
            </a:pPr>
            <a:r>
              <a:rPr sz="1400" dirty="0">
                <a:latin typeface="Tahoma" panose="020B0604030504040204" pitchFamily="34" charset="0"/>
              </a:rPr>
              <a:t>Hồ </a:t>
            </a:r>
            <a:r>
              <a:rPr sz="1400" dirty="0" err="1">
                <a:latin typeface="Tahoma" panose="020B0604030504040204" pitchFamily="34" charset="0"/>
              </a:rPr>
              <a:t>sơ</a:t>
            </a:r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2758439" y="3234438"/>
            <a:ext cx="114300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9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2795015" y="3289302"/>
            <a:ext cx="1069848" cy="307777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defRPr sz="780" b="0">
                <a:solidFill>
                  <a:srgbClr val="202838"/>
                </a:solidFill>
                <a:latin typeface="Arial"/>
              </a:defRPr>
            </a:pPr>
            <a:r>
              <a:rPr sz="1400" dirty="0">
                <a:latin typeface="Tahoma" panose="020B0604030504040204" pitchFamily="34" charset="0"/>
              </a:rPr>
              <a:t>CS-0826-01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901440" y="3234438"/>
            <a:ext cx="123444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9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3938016" y="3289302"/>
            <a:ext cx="1161288" cy="307777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780" b="0">
                <a:solidFill>
                  <a:srgbClr val="202838"/>
                </a:solidFill>
                <a:latin typeface="Arial"/>
              </a:defRPr>
            </a:pPr>
            <a:r>
              <a:rPr sz="1400" dirty="0">
                <a:latin typeface="Tahoma" panose="020B0604030504040204" pitchFamily="34" charset="0"/>
              </a:rPr>
              <a:t>Sinh </a:t>
            </a:r>
            <a:r>
              <a:rPr sz="1400" dirty="0" err="1">
                <a:latin typeface="Tahoma" panose="020B0604030504040204" pitchFamily="34" charset="0"/>
              </a:rPr>
              <a:t>nhật</a:t>
            </a:r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46" name="Rectangle 45"/>
          <p:cNvSpPr/>
          <p:nvPr/>
        </p:nvSpPr>
        <p:spPr>
          <a:xfrm>
            <a:off x="5135880" y="3234438"/>
            <a:ext cx="100584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9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5172456" y="3289302"/>
            <a:ext cx="932688" cy="307777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780" b="0">
                <a:solidFill>
                  <a:srgbClr val="202838"/>
                </a:solidFill>
                <a:latin typeface="Arial"/>
              </a:defRPr>
            </a:pPr>
            <a:r>
              <a:rPr sz="1400" dirty="0">
                <a:latin typeface="Tahoma" panose="020B0604030504040204" pitchFamily="34" charset="0"/>
              </a:rPr>
              <a:t>GPL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141719" y="3234438"/>
            <a:ext cx="109728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9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6178295" y="3289302"/>
            <a:ext cx="1024127" cy="307777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780" b="0">
                <a:solidFill>
                  <a:srgbClr val="202838"/>
                </a:solidFill>
                <a:latin typeface="Arial"/>
              </a:defRPr>
            </a:pPr>
            <a:r>
              <a:rPr sz="1400" dirty="0">
                <a:latin typeface="Tahoma" panose="020B0604030504040204" pitchFamily="34" charset="0"/>
              </a:rPr>
              <a:t>13/08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238999" y="3234438"/>
            <a:ext cx="150876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9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7275576" y="3289302"/>
            <a:ext cx="1435607" cy="307777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780" b="0">
                <a:solidFill>
                  <a:srgbClr val="202838"/>
                </a:solidFill>
                <a:latin typeface="Arial"/>
              </a:defRPr>
            </a:pPr>
            <a:r>
              <a:rPr sz="1400" dirty="0" err="1">
                <a:latin typeface="Tahoma" panose="020B0604030504040204" pitchFamily="34" charset="0"/>
              </a:rPr>
              <a:t>Đã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chuẩn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bị</a:t>
            </a:r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52" name="Rectangle 51"/>
          <p:cNvSpPr/>
          <p:nvPr/>
        </p:nvSpPr>
        <p:spPr>
          <a:xfrm>
            <a:off x="8747759" y="3234438"/>
            <a:ext cx="141732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9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8784335" y="3289302"/>
            <a:ext cx="1344168" cy="307777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780" b="0">
                <a:solidFill>
                  <a:srgbClr val="202838"/>
                </a:solidFill>
                <a:latin typeface="Arial"/>
              </a:defRPr>
            </a:pPr>
            <a:r>
              <a:rPr sz="1400" dirty="0" err="1">
                <a:latin typeface="Tahoma" panose="020B0604030504040204" pitchFamily="34" charset="0"/>
              </a:rPr>
              <a:t>Đủ</a:t>
            </a:r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54" name="Rectangle 53"/>
          <p:cNvSpPr/>
          <p:nvPr/>
        </p:nvSpPr>
        <p:spPr>
          <a:xfrm>
            <a:off x="2758439" y="3709926"/>
            <a:ext cx="1143000" cy="475488"/>
          </a:xfrm>
          <a:prstGeom prst="rect">
            <a:avLst/>
          </a:prstGeom>
          <a:solidFill>
            <a:srgbClr val="F7F9FD"/>
          </a:solidFill>
          <a:ln>
            <a:solidFill>
              <a:srgbClr val="D9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2795015" y="3764790"/>
            <a:ext cx="1069848" cy="307777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defRPr sz="780" b="0">
                <a:solidFill>
                  <a:srgbClr val="202838"/>
                </a:solidFill>
                <a:latin typeface="Arial"/>
              </a:defRPr>
            </a:pPr>
            <a:r>
              <a:rPr sz="1400" dirty="0">
                <a:latin typeface="Tahoma" panose="020B0604030504040204" pitchFamily="34" charset="0"/>
              </a:rPr>
              <a:t>CS-0826-02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901440" y="3709926"/>
            <a:ext cx="1234440" cy="475488"/>
          </a:xfrm>
          <a:prstGeom prst="rect">
            <a:avLst/>
          </a:prstGeom>
          <a:solidFill>
            <a:srgbClr val="F7F9FD"/>
          </a:solidFill>
          <a:ln>
            <a:solidFill>
              <a:srgbClr val="D9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3938016" y="3764790"/>
            <a:ext cx="1161288" cy="307777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780" b="0">
                <a:solidFill>
                  <a:srgbClr val="202838"/>
                </a:solidFill>
                <a:latin typeface="Arial"/>
              </a:defRPr>
            </a:pPr>
            <a:r>
              <a:rPr sz="1400" dirty="0" err="1">
                <a:latin typeface="Tahoma" panose="020B0604030504040204" pitchFamily="34" charset="0"/>
              </a:rPr>
              <a:t>Thăm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hỏi</a:t>
            </a:r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58" name="Rectangle 57"/>
          <p:cNvSpPr/>
          <p:nvPr/>
        </p:nvSpPr>
        <p:spPr>
          <a:xfrm>
            <a:off x="5135880" y="3709926"/>
            <a:ext cx="1005840" cy="475488"/>
          </a:xfrm>
          <a:prstGeom prst="rect">
            <a:avLst/>
          </a:prstGeom>
          <a:solidFill>
            <a:srgbClr val="F7F9FD"/>
          </a:solidFill>
          <a:ln>
            <a:solidFill>
              <a:srgbClr val="D9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5172456" y="3764790"/>
            <a:ext cx="932688" cy="307777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780" b="0">
                <a:solidFill>
                  <a:srgbClr val="202838"/>
                </a:solidFill>
                <a:latin typeface="Arial"/>
              </a:defRPr>
            </a:pPr>
            <a:r>
              <a:rPr sz="1400" dirty="0">
                <a:latin typeface="Tahoma" panose="020B0604030504040204" pitchFamily="34" charset="0"/>
              </a:rPr>
              <a:t>VCS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141719" y="3709926"/>
            <a:ext cx="1097280" cy="475488"/>
          </a:xfrm>
          <a:prstGeom prst="rect">
            <a:avLst/>
          </a:prstGeom>
          <a:solidFill>
            <a:srgbClr val="F7F9FD"/>
          </a:solidFill>
          <a:ln>
            <a:solidFill>
              <a:srgbClr val="D9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6178295" y="3764790"/>
            <a:ext cx="1024127" cy="307777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780" b="0">
                <a:solidFill>
                  <a:srgbClr val="202838"/>
                </a:solidFill>
                <a:latin typeface="Arial"/>
              </a:defRPr>
            </a:pPr>
            <a:r>
              <a:rPr sz="1400" dirty="0">
                <a:latin typeface="Tahoma" panose="020B0604030504040204" pitchFamily="34" charset="0"/>
              </a:rPr>
              <a:t>14/08</a:t>
            </a:r>
          </a:p>
        </p:txBody>
      </p:sp>
      <p:sp>
        <p:nvSpPr>
          <p:cNvPr id="62" name="Rectangle 61"/>
          <p:cNvSpPr/>
          <p:nvPr/>
        </p:nvSpPr>
        <p:spPr>
          <a:xfrm>
            <a:off x="7238999" y="3709926"/>
            <a:ext cx="1508760" cy="475488"/>
          </a:xfrm>
          <a:prstGeom prst="rect">
            <a:avLst/>
          </a:prstGeom>
          <a:solidFill>
            <a:srgbClr val="F7F9FD"/>
          </a:solidFill>
          <a:ln>
            <a:solidFill>
              <a:srgbClr val="D9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7275576" y="3764790"/>
            <a:ext cx="1435607" cy="307777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780" b="0">
                <a:solidFill>
                  <a:srgbClr val="202838"/>
                </a:solidFill>
                <a:latin typeface="Arial"/>
              </a:defRPr>
            </a:pPr>
            <a:r>
              <a:rPr sz="1400" dirty="0" err="1">
                <a:latin typeface="Tahoma" panose="020B0604030504040204" pitchFamily="34" charset="0"/>
              </a:rPr>
              <a:t>Chờ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duyệt</a:t>
            </a:r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64" name="Rectangle 63"/>
          <p:cNvSpPr/>
          <p:nvPr/>
        </p:nvSpPr>
        <p:spPr>
          <a:xfrm>
            <a:off x="8747759" y="3709926"/>
            <a:ext cx="1417320" cy="475488"/>
          </a:xfrm>
          <a:prstGeom prst="rect">
            <a:avLst/>
          </a:prstGeom>
          <a:solidFill>
            <a:srgbClr val="F7F9FD"/>
          </a:solidFill>
          <a:ln>
            <a:solidFill>
              <a:srgbClr val="D9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8784335" y="3764790"/>
            <a:ext cx="1344168" cy="307777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780" b="0">
                <a:solidFill>
                  <a:srgbClr val="202838"/>
                </a:solidFill>
                <a:latin typeface="Arial"/>
              </a:defRPr>
            </a:pPr>
            <a:r>
              <a:rPr sz="1400" dirty="0" err="1">
                <a:latin typeface="Tahoma" panose="020B0604030504040204" pitchFamily="34" charset="0"/>
              </a:rPr>
              <a:t>Đủ</a:t>
            </a:r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66" name="Rectangle 65"/>
          <p:cNvSpPr/>
          <p:nvPr/>
        </p:nvSpPr>
        <p:spPr>
          <a:xfrm>
            <a:off x="2758439" y="4185414"/>
            <a:ext cx="114300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9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67" name="TextBox 66"/>
          <p:cNvSpPr txBox="1"/>
          <p:nvPr/>
        </p:nvSpPr>
        <p:spPr>
          <a:xfrm>
            <a:off x="2795015" y="4240278"/>
            <a:ext cx="1069848" cy="307777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defRPr sz="780" b="0">
                <a:solidFill>
                  <a:srgbClr val="202838"/>
                </a:solidFill>
                <a:latin typeface="Arial"/>
              </a:defRPr>
            </a:pPr>
            <a:r>
              <a:rPr sz="1400" dirty="0">
                <a:latin typeface="Tahoma" panose="020B0604030504040204" pitchFamily="34" charset="0"/>
              </a:rPr>
              <a:t>CS-0826-03</a:t>
            </a:r>
          </a:p>
        </p:txBody>
      </p:sp>
      <p:sp>
        <p:nvSpPr>
          <p:cNvPr id="68" name="Rectangle 67"/>
          <p:cNvSpPr/>
          <p:nvPr/>
        </p:nvSpPr>
        <p:spPr>
          <a:xfrm>
            <a:off x="3901440" y="4185414"/>
            <a:ext cx="123444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9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69" name="TextBox 68"/>
          <p:cNvSpPr txBox="1"/>
          <p:nvPr/>
        </p:nvSpPr>
        <p:spPr>
          <a:xfrm>
            <a:off x="3938016" y="4240278"/>
            <a:ext cx="1161288" cy="307777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780" b="0">
                <a:solidFill>
                  <a:srgbClr val="202838"/>
                </a:solidFill>
                <a:latin typeface="Arial"/>
              </a:defRPr>
            </a:pPr>
            <a:r>
              <a:rPr sz="1400" dirty="0" err="1">
                <a:latin typeface="Tahoma" panose="020B0604030504040204" pitchFamily="34" charset="0"/>
              </a:rPr>
              <a:t>Hiếu</a:t>
            </a:r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70" name="Rectangle 69"/>
          <p:cNvSpPr/>
          <p:nvPr/>
        </p:nvSpPr>
        <p:spPr>
          <a:xfrm>
            <a:off x="5135880" y="4185414"/>
            <a:ext cx="100584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9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71" name="TextBox 70"/>
          <p:cNvSpPr txBox="1"/>
          <p:nvPr/>
        </p:nvSpPr>
        <p:spPr>
          <a:xfrm>
            <a:off x="5172456" y="4240278"/>
            <a:ext cx="932688" cy="307777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780" b="0">
                <a:solidFill>
                  <a:srgbClr val="202838"/>
                </a:solidFill>
                <a:latin typeface="Arial"/>
              </a:defRPr>
            </a:pPr>
            <a:r>
              <a:rPr sz="1400" dirty="0">
                <a:latin typeface="Tahoma" panose="020B0604030504040204" pitchFamily="34" charset="0"/>
              </a:rPr>
              <a:t>AZC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141719" y="4185414"/>
            <a:ext cx="109728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9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73" name="TextBox 72"/>
          <p:cNvSpPr txBox="1"/>
          <p:nvPr/>
        </p:nvSpPr>
        <p:spPr>
          <a:xfrm>
            <a:off x="6178295" y="4240278"/>
            <a:ext cx="1024127" cy="307777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780" b="0">
                <a:solidFill>
                  <a:srgbClr val="202838"/>
                </a:solidFill>
                <a:latin typeface="Arial"/>
              </a:defRPr>
            </a:pPr>
            <a:r>
              <a:rPr sz="1400" dirty="0">
                <a:latin typeface="Tahoma" panose="020B0604030504040204" pitchFamily="34" charset="0"/>
              </a:rPr>
              <a:t>11/08</a:t>
            </a:r>
          </a:p>
        </p:txBody>
      </p:sp>
      <p:sp>
        <p:nvSpPr>
          <p:cNvPr id="74" name="Rectangle 73"/>
          <p:cNvSpPr/>
          <p:nvPr/>
        </p:nvSpPr>
        <p:spPr>
          <a:xfrm>
            <a:off x="7238999" y="4185414"/>
            <a:ext cx="150876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9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75" name="TextBox 74"/>
          <p:cNvSpPr txBox="1"/>
          <p:nvPr/>
        </p:nvSpPr>
        <p:spPr>
          <a:xfrm>
            <a:off x="7275576" y="4240278"/>
            <a:ext cx="1435607" cy="307777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780" b="0">
                <a:solidFill>
                  <a:srgbClr val="202838"/>
                </a:solidFill>
                <a:latin typeface="Arial"/>
              </a:defRPr>
            </a:pPr>
            <a:r>
              <a:rPr sz="1400" dirty="0" err="1">
                <a:latin typeface="Tahoma" panose="020B0604030504040204" pitchFamily="34" charset="0"/>
              </a:rPr>
              <a:t>Đã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thực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hiện</a:t>
            </a:r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76" name="Rectangle 75"/>
          <p:cNvSpPr/>
          <p:nvPr/>
        </p:nvSpPr>
        <p:spPr>
          <a:xfrm>
            <a:off x="8747759" y="4185414"/>
            <a:ext cx="141732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9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77" name="TextBox 76"/>
          <p:cNvSpPr txBox="1"/>
          <p:nvPr/>
        </p:nvSpPr>
        <p:spPr>
          <a:xfrm>
            <a:off x="8784335" y="4240278"/>
            <a:ext cx="1344168" cy="307777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780" b="0">
                <a:solidFill>
                  <a:srgbClr val="202838"/>
                </a:solidFill>
                <a:latin typeface="Arial"/>
              </a:defRPr>
            </a:pPr>
            <a:r>
              <a:rPr sz="1400" dirty="0" err="1">
                <a:latin typeface="Tahoma" panose="020B0604030504040204" pitchFamily="34" charset="0"/>
              </a:rPr>
              <a:t>Thiếu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ảnh</a:t>
            </a:r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78" name="Rounded Rectangle 77"/>
          <p:cNvSpPr/>
          <p:nvPr/>
        </p:nvSpPr>
        <p:spPr>
          <a:xfrm>
            <a:off x="2758439" y="4805648"/>
            <a:ext cx="365760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9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79" name="TextBox 78"/>
          <p:cNvSpPr txBox="1"/>
          <p:nvPr/>
        </p:nvSpPr>
        <p:spPr>
          <a:xfrm>
            <a:off x="2959608" y="4933664"/>
            <a:ext cx="3291839" cy="307777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310" b="1">
                <a:solidFill>
                  <a:srgbClr val="E87823"/>
                </a:solidFill>
                <a:latin typeface="Arial"/>
              </a:defRPr>
            </a:pPr>
            <a:r>
              <a:rPr sz="1400" dirty="0" err="1">
                <a:latin typeface="Tahoma" panose="020B0604030504040204" pitchFamily="34" charset="0"/>
              </a:rPr>
              <a:t>TỰ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ĐỘNG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NHẮC</a:t>
            </a:r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80" name="TextBox 79"/>
          <p:cNvSpPr txBox="1"/>
          <p:nvPr/>
        </p:nvSpPr>
        <p:spPr>
          <a:xfrm>
            <a:off x="2886455" y="5128141"/>
            <a:ext cx="366674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50"/>
              </a:spcAft>
              <a:defRPr sz="810">
                <a:solidFill>
                  <a:srgbClr val="202838"/>
                </a:solidFill>
                <a:latin typeface="Arial"/>
              </a:defRPr>
            </a:pPr>
            <a:r>
              <a:rPr sz="1400" dirty="0">
                <a:latin typeface="Tahoma" panose="020B0604030504040204" pitchFamily="34" charset="0"/>
              </a:rPr>
              <a:t>• Sinh </a:t>
            </a:r>
            <a:r>
              <a:rPr sz="1400" dirty="0" err="1">
                <a:latin typeface="Tahoma" panose="020B0604030504040204" pitchFamily="34" charset="0"/>
              </a:rPr>
              <a:t>nhật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trước</a:t>
            </a:r>
            <a:r>
              <a:rPr sz="1400" dirty="0">
                <a:latin typeface="Tahoma" panose="020B0604030504040204" pitchFamily="34" charset="0"/>
              </a:rPr>
              <a:t> 7 </a:t>
            </a:r>
            <a:r>
              <a:rPr sz="1400" dirty="0" err="1">
                <a:latin typeface="Tahoma" panose="020B0604030504040204" pitchFamily="34" charset="0"/>
              </a:rPr>
              <a:t>ngày</a:t>
            </a:r>
            <a:r>
              <a:rPr sz="1400" dirty="0">
                <a:latin typeface="Tahoma" panose="020B0604030504040204" pitchFamily="34" charset="0"/>
              </a:rPr>
              <a:t> • </a:t>
            </a:r>
            <a:r>
              <a:rPr sz="1400" dirty="0" err="1">
                <a:latin typeface="Tahoma" panose="020B0604030504040204" pitchFamily="34" charset="0"/>
              </a:rPr>
              <a:t>hồ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sơ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hiếu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hỷ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chưa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hoàn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tất</a:t>
            </a:r>
            <a:r>
              <a:rPr sz="1400" dirty="0">
                <a:latin typeface="Tahoma" panose="020B0604030504040204" pitchFamily="34" charset="0"/>
              </a:rPr>
              <a:t> • </a:t>
            </a:r>
            <a:r>
              <a:rPr sz="1400" dirty="0" err="1">
                <a:latin typeface="Tahoma" panose="020B0604030504040204" pitchFamily="34" charset="0"/>
              </a:rPr>
              <a:t>thanh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toán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chưa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quyết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toán</a:t>
            </a:r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81" name="Rounded Rectangle 80"/>
          <p:cNvSpPr/>
          <p:nvPr/>
        </p:nvSpPr>
        <p:spPr>
          <a:xfrm>
            <a:off x="6690359" y="4805648"/>
            <a:ext cx="470916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9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82" name="TextBox 81"/>
          <p:cNvSpPr txBox="1"/>
          <p:nvPr/>
        </p:nvSpPr>
        <p:spPr>
          <a:xfrm>
            <a:off x="6891527" y="4933664"/>
            <a:ext cx="4343400" cy="307777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310" b="1">
                <a:solidFill>
                  <a:srgbClr val="118F91"/>
                </a:solidFill>
                <a:latin typeface="Arial"/>
              </a:defRPr>
            </a:pPr>
            <a:r>
              <a:rPr sz="1400" dirty="0" err="1">
                <a:latin typeface="Tahoma" panose="020B0604030504040204" pitchFamily="34" charset="0"/>
              </a:rPr>
              <a:t>KIỂM</a:t>
            </a:r>
            <a:r>
              <a:rPr sz="1400" dirty="0">
                <a:latin typeface="Tahoma" panose="020B0604030504040204" pitchFamily="34" charset="0"/>
              </a:rPr>
              <a:t> SOÁT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795589" y="5170956"/>
            <a:ext cx="427024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50"/>
              </a:spcAft>
              <a:defRPr sz="810">
                <a:solidFill>
                  <a:srgbClr val="202838"/>
                </a:solidFill>
                <a:latin typeface="Arial"/>
              </a:defRPr>
            </a:pPr>
            <a:r>
              <a:rPr sz="1400" dirty="0">
                <a:latin typeface="Tahoma" panose="020B0604030504040204" pitchFamily="34" charset="0"/>
              </a:rPr>
              <a:t>• </a:t>
            </a:r>
            <a:r>
              <a:rPr sz="1400" dirty="0" err="1">
                <a:latin typeface="Tahoma" panose="020B0604030504040204" pitchFamily="34" charset="0"/>
              </a:rPr>
              <a:t>Đúng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đối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tượng</a:t>
            </a:r>
            <a:r>
              <a:rPr sz="1400" dirty="0">
                <a:latin typeface="Tahoma" panose="020B0604030504040204" pitchFamily="34" charset="0"/>
              </a:rPr>
              <a:t> • </a:t>
            </a:r>
            <a:r>
              <a:rPr sz="1400" dirty="0" err="1">
                <a:latin typeface="Tahoma" panose="020B0604030504040204" pitchFamily="34" charset="0"/>
              </a:rPr>
              <a:t>đúng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định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mức</a:t>
            </a:r>
            <a:r>
              <a:rPr sz="1400" dirty="0">
                <a:latin typeface="Tahoma" panose="020B0604030504040204" pitchFamily="34" charset="0"/>
              </a:rPr>
              <a:t> • </a:t>
            </a:r>
            <a:r>
              <a:rPr sz="1400" dirty="0" err="1">
                <a:latin typeface="Tahoma" panose="020B0604030504040204" pitchFamily="34" charset="0"/>
              </a:rPr>
              <a:t>đúng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hạn</a:t>
            </a:r>
            <a:r>
              <a:rPr sz="1400" dirty="0">
                <a:latin typeface="Tahoma" panose="020B0604030504040204" pitchFamily="34" charset="0"/>
              </a:rPr>
              <a:t> • </a:t>
            </a:r>
            <a:r>
              <a:rPr sz="1400" dirty="0" err="1">
                <a:latin typeface="Tahoma" panose="020B0604030504040204" pitchFamily="34" charset="0"/>
              </a:rPr>
              <a:t>đủ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chứng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từ</a:t>
            </a:r>
            <a:r>
              <a:rPr sz="1400" dirty="0">
                <a:latin typeface="Tahoma" panose="020B0604030504040204" pitchFamily="34" charset="0"/>
              </a:rPr>
              <a:t> • </a:t>
            </a:r>
            <a:r>
              <a:rPr sz="1400" dirty="0" err="1">
                <a:latin typeface="Tahoma" panose="020B0604030504040204" pitchFamily="34" charset="0"/>
              </a:rPr>
              <a:t>có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hình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ảnh</a:t>
            </a:r>
            <a:r>
              <a:rPr sz="1400" dirty="0">
                <a:latin typeface="Tahoma" panose="020B0604030504040204" pitchFamily="34" charset="0"/>
              </a:rPr>
              <a:t>/</a:t>
            </a:r>
            <a:r>
              <a:rPr sz="1400" dirty="0" err="1">
                <a:latin typeface="Tahoma" panose="020B0604030504040204" pitchFamily="34" charset="0"/>
              </a:rPr>
              <a:t>biên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nhận</a:t>
            </a:r>
            <a:endParaRPr sz="1400" dirty="0">
              <a:latin typeface="Tahoma" panose="020B0604030504040204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608" y="82296"/>
            <a:ext cx="960120" cy="548640"/>
          </a:xfrm>
          <a:prstGeom prst="rect">
            <a:avLst/>
          </a:prstGeom>
        </p:spPr>
      </p:pic>
      <p:pic>
        <p:nvPicPr>
          <p:cNvPr id="3" name="Picture 2" descr="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64008"/>
            <a:ext cx="646818" cy="585216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274320" y="749808"/>
            <a:ext cx="11649456" cy="22860"/>
          </a:xfrm>
          <a:prstGeom prst="rect">
            <a:avLst/>
          </a:prstGeom>
          <a:solidFill>
            <a:srgbClr val="051F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Tahoma" panose="020B0604030504040204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20040" y="6483096"/>
            <a:ext cx="2077813" cy="22313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051F71"/>
                </a:solidFill>
                <a:latin typeface="Arial"/>
              </a:defRPr>
            </a:pPr>
            <a:r>
              <a:rPr dirty="0">
                <a:latin typeface="Tahoma" panose="020B0604030504040204" pitchFamily="34" charset="0"/>
              </a:rPr>
              <a:t>CÔNG ĐOÀN GPG | GPG TRADE UNION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43352" y="6473952"/>
            <a:ext cx="1029448" cy="21839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19">
                <a:solidFill>
                  <a:srgbClr val="677180"/>
                </a:solidFill>
                <a:latin typeface="Arial"/>
              </a:defRPr>
            </a:pPr>
            <a:r>
              <a:rPr dirty="0">
                <a:latin typeface="Tahoma" panose="020B0604030504040204" pitchFamily="34" charset="0"/>
              </a:rPr>
              <a:t>V. </a:t>
            </a:r>
            <a:r>
              <a:rPr dirty="0" err="1">
                <a:latin typeface="Tahoma" panose="020B0604030504040204" pitchFamily="34" charset="0"/>
              </a:rPr>
              <a:t>SỐ</a:t>
            </a:r>
            <a:r>
              <a:rPr dirty="0">
                <a:latin typeface="Tahoma" panose="020B0604030504040204" pitchFamily="34" charset="0"/>
              </a:rPr>
              <a:t> </a:t>
            </a:r>
            <a:r>
              <a:rPr dirty="0" err="1">
                <a:latin typeface="Tahoma" panose="020B0604030504040204" pitchFamily="34" charset="0"/>
              </a:rPr>
              <a:t>HÓA</a:t>
            </a:r>
            <a:r>
              <a:rPr dirty="0">
                <a:latin typeface="Tahoma" panose="020B0604030504040204" pitchFamily="34" charset="0"/>
              </a:rPr>
              <a:t> HỒ </a:t>
            </a:r>
            <a:r>
              <a:rPr dirty="0" err="1">
                <a:latin typeface="Tahoma" panose="020B0604030504040204" pitchFamily="34" charset="0"/>
              </a:rPr>
              <a:t>SƠ</a:t>
            </a:r>
            <a:endParaRPr dirty="0">
              <a:latin typeface="Tahoma" panose="020B0604030504040204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393198" y="6455664"/>
            <a:ext cx="338554" cy="2385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051F71"/>
                </a:solidFill>
                <a:latin typeface="Arial"/>
              </a:defRPr>
            </a:pPr>
            <a:r>
              <a:rPr dirty="0">
                <a:latin typeface="Tahoma" panose="020B0604030504040204" pitchFamily="34" charset="0"/>
              </a:rPr>
              <a:t>33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0027" y="148317"/>
            <a:ext cx="12699310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50" b="1">
                <a:solidFill>
                  <a:srgbClr val="051F71"/>
                </a:solidFill>
                <a:latin typeface="Arial Narrow"/>
              </a:defRPr>
            </a:pPr>
            <a:r>
              <a:rPr sz="2400" dirty="0" err="1">
                <a:latin typeface="Tahoma" panose="020B0604030504040204" pitchFamily="34" charset="0"/>
              </a:rPr>
              <a:t>MÀN</a:t>
            </a:r>
            <a:r>
              <a:rPr sz="2400" dirty="0">
                <a:latin typeface="Tahoma" panose="020B0604030504040204" pitchFamily="34" charset="0"/>
              </a:rPr>
              <a:t> </a:t>
            </a:r>
            <a:r>
              <a:rPr sz="2400" dirty="0" err="1">
                <a:latin typeface="Tahoma" panose="020B0604030504040204" pitchFamily="34" charset="0"/>
              </a:rPr>
              <a:t>HÌNH</a:t>
            </a:r>
            <a:r>
              <a:rPr sz="2400" dirty="0">
                <a:latin typeface="Tahoma" panose="020B0604030504040204" pitchFamily="34" charset="0"/>
              </a:rPr>
              <a:t> </a:t>
            </a:r>
            <a:r>
              <a:rPr sz="2400" dirty="0" err="1">
                <a:latin typeface="Tahoma" panose="020B0604030504040204" pitchFamily="34" charset="0"/>
              </a:rPr>
              <a:t>ĐỀ</a:t>
            </a:r>
            <a:r>
              <a:rPr sz="2400" dirty="0">
                <a:latin typeface="Tahoma" panose="020B0604030504040204" pitchFamily="34" charset="0"/>
              </a:rPr>
              <a:t> </a:t>
            </a:r>
            <a:r>
              <a:rPr sz="2400" dirty="0" err="1">
                <a:latin typeface="Tahoma" panose="020B0604030504040204" pitchFamily="34" charset="0"/>
              </a:rPr>
              <a:t>XUẤT</a:t>
            </a:r>
            <a:r>
              <a:rPr sz="2400" dirty="0">
                <a:latin typeface="Tahoma" panose="020B0604030504040204" pitchFamily="34" charset="0"/>
              </a:rPr>
              <a:t> 05 – QUẢN LÝ </a:t>
            </a:r>
            <a:r>
              <a:rPr sz="2400" dirty="0" err="1">
                <a:latin typeface="Tahoma" panose="020B0604030504040204" pitchFamily="34" charset="0"/>
              </a:rPr>
              <a:t>HOẠT</a:t>
            </a:r>
            <a:r>
              <a:rPr sz="2400" dirty="0">
                <a:latin typeface="Tahoma" panose="020B0604030504040204" pitchFamily="34" charset="0"/>
              </a:rPr>
              <a:t> </a:t>
            </a:r>
            <a:r>
              <a:rPr sz="2400" dirty="0" err="1">
                <a:latin typeface="Tahoma" panose="020B0604030504040204" pitchFamily="34" charset="0"/>
              </a:rPr>
              <a:t>ĐỘNG</a:t>
            </a:r>
            <a:r>
              <a:rPr sz="2400" dirty="0">
                <a:latin typeface="Tahoma" panose="020B0604030504040204" pitchFamily="34" charset="0"/>
              </a:rPr>
              <a:t> &amp; BÁO CÁO SAU </a:t>
            </a:r>
            <a:r>
              <a:rPr sz="2400" dirty="0" err="1">
                <a:latin typeface="Tahoma" panose="020B0604030504040204" pitchFamily="34" charset="0"/>
              </a:rPr>
              <a:t>CHƯƠNG</a:t>
            </a:r>
            <a:r>
              <a:rPr sz="2400" dirty="0">
                <a:latin typeface="Tahoma" panose="020B0604030504040204" pitchFamily="34" charset="0"/>
              </a:rPr>
              <a:t> </a:t>
            </a:r>
            <a:r>
              <a:rPr sz="2400" dirty="0" err="1">
                <a:latin typeface="Tahoma" panose="020B0604030504040204" pitchFamily="34" charset="0"/>
              </a:rPr>
              <a:t>TRÌNH</a:t>
            </a:r>
            <a:endParaRPr sz="2400" dirty="0">
              <a:latin typeface="Tahoma" panose="020B0604030504040204" pitchFamily="34" charset="0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594360" y="1536192"/>
            <a:ext cx="10972800" cy="4590288"/>
          </a:xfrm>
          <a:prstGeom prst="roundRect">
            <a:avLst/>
          </a:prstGeom>
          <a:solidFill>
            <a:srgbClr val="FFFFFF"/>
          </a:solidFill>
          <a:ln>
            <a:solidFill>
              <a:srgbClr val="D9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Tahoma" panose="020B0604030504040204" pitchFamily="34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94360" y="1536192"/>
            <a:ext cx="10972800" cy="475488"/>
          </a:xfrm>
          <a:prstGeom prst="rect">
            <a:avLst/>
          </a:prstGeom>
          <a:solidFill>
            <a:srgbClr val="051F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Tahoma" panose="020B0604030504040204" pitchFamily="34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22960" y="1655064"/>
            <a:ext cx="10515600" cy="307777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050" b="1">
                <a:solidFill>
                  <a:srgbClr val="FFFFFF"/>
                </a:solidFill>
                <a:latin typeface="Arial"/>
              </a:defRPr>
            </a:pPr>
            <a:r>
              <a:rPr sz="1400" dirty="0">
                <a:latin typeface="Tahoma" panose="020B0604030504040204" pitchFamily="34" charset="0"/>
              </a:rPr>
              <a:t>GPG UNION PORTAL | Activities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" y="2011680"/>
            <a:ext cx="1874519" cy="4114800"/>
          </a:xfrm>
          <a:prstGeom prst="rect">
            <a:avLst/>
          </a:prstGeom>
          <a:solidFill>
            <a:srgbClr val="F7F9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Tahoma" panose="020B0604030504040204" pitchFamily="3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58952" y="2249424"/>
            <a:ext cx="1508760" cy="307777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869" b="1">
                <a:solidFill>
                  <a:srgbClr val="051F71"/>
                </a:solidFill>
                <a:latin typeface="Arial"/>
              </a:defRPr>
            </a:pPr>
            <a:r>
              <a:rPr sz="1400" dirty="0" err="1">
                <a:latin typeface="Tahoma" panose="020B0604030504040204" pitchFamily="34" charset="0"/>
              </a:rPr>
              <a:t>Kế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hoạch</a:t>
            </a:r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58952" y="2706624"/>
            <a:ext cx="1508760" cy="307777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869" b="0">
                <a:solidFill>
                  <a:srgbClr val="677180"/>
                </a:solidFill>
                <a:latin typeface="Arial"/>
              </a:defRPr>
            </a:pPr>
            <a:r>
              <a:rPr sz="1400" dirty="0" err="1">
                <a:latin typeface="Tahoma" panose="020B0604030504040204" pitchFamily="34" charset="0"/>
              </a:rPr>
              <a:t>Đang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triển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khai</a:t>
            </a:r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58952" y="3163824"/>
            <a:ext cx="1508760" cy="307777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869" b="0">
                <a:solidFill>
                  <a:srgbClr val="677180"/>
                </a:solidFill>
                <a:latin typeface="Arial"/>
              </a:defRPr>
            </a:pPr>
            <a:r>
              <a:rPr sz="1400" dirty="0" err="1">
                <a:latin typeface="Tahoma" panose="020B0604030504040204" pitchFamily="34" charset="0"/>
              </a:rPr>
              <a:t>Đã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hoàn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tất</a:t>
            </a:r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58952" y="3621024"/>
            <a:ext cx="1508760" cy="307777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869" b="0">
                <a:solidFill>
                  <a:srgbClr val="677180"/>
                </a:solidFill>
                <a:latin typeface="Arial"/>
              </a:defRPr>
            </a:pPr>
            <a:r>
              <a:rPr sz="1400" dirty="0">
                <a:latin typeface="Tahoma" panose="020B0604030504040204" pitchFamily="34" charset="0"/>
              </a:rPr>
              <a:t>Báo </a:t>
            </a:r>
            <a:r>
              <a:rPr sz="1400" dirty="0" err="1">
                <a:latin typeface="Tahoma" panose="020B0604030504040204" pitchFamily="34" charset="0"/>
              </a:rPr>
              <a:t>cáo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sau</a:t>
            </a:r>
            <a:r>
              <a:rPr sz="1400" dirty="0">
                <a:latin typeface="Tahoma" panose="020B0604030504040204" pitchFamily="34" charset="0"/>
              </a:rPr>
              <a:t> 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8952" y="4078224"/>
            <a:ext cx="1508760" cy="307777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869" b="0">
                <a:solidFill>
                  <a:srgbClr val="677180"/>
                </a:solidFill>
                <a:latin typeface="Arial"/>
              </a:defRPr>
            </a:pPr>
            <a:r>
              <a:rPr sz="1400" dirty="0">
                <a:latin typeface="Tahoma" panose="020B0604030504040204" pitchFamily="34" charset="0"/>
              </a:rPr>
              <a:t>Thư </a:t>
            </a:r>
            <a:r>
              <a:rPr sz="1400" dirty="0" err="1">
                <a:latin typeface="Tahoma" panose="020B0604030504040204" pitchFamily="34" charset="0"/>
              </a:rPr>
              <a:t>viện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ảnh</a:t>
            </a:r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2743199" y="2331720"/>
            <a:ext cx="1143000" cy="475488"/>
          </a:xfrm>
          <a:prstGeom prst="rect">
            <a:avLst/>
          </a:prstGeom>
          <a:solidFill>
            <a:srgbClr val="051F71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779775" y="2395728"/>
            <a:ext cx="1069848" cy="307777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rial"/>
              </a:defRPr>
            </a:pPr>
            <a:r>
              <a:rPr sz="1400" dirty="0" err="1">
                <a:latin typeface="Tahoma" panose="020B0604030504040204" pitchFamily="34" charset="0"/>
              </a:rPr>
              <a:t>Mã</a:t>
            </a:r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3886200" y="2331720"/>
            <a:ext cx="1874519" cy="475488"/>
          </a:xfrm>
          <a:prstGeom prst="rect">
            <a:avLst/>
          </a:prstGeom>
          <a:solidFill>
            <a:srgbClr val="051F71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3922776" y="2395728"/>
            <a:ext cx="1801367" cy="307777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rial"/>
              </a:defRPr>
            </a:pPr>
            <a:r>
              <a:rPr sz="1400" dirty="0" err="1">
                <a:latin typeface="Tahoma" panose="020B0604030504040204" pitchFamily="34" charset="0"/>
              </a:rPr>
              <a:t>Chương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trình</a:t>
            </a:r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5760720" y="2331720"/>
            <a:ext cx="960120" cy="475488"/>
          </a:xfrm>
          <a:prstGeom prst="rect">
            <a:avLst/>
          </a:prstGeom>
          <a:solidFill>
            <a:srgbClr val="051F71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5797296" y="2395728"/>
            <a:ext cx="886968" cy="307777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rial"/>
              </a:defRPr>
            </a:pPr>
            <a:r>
              <a:rPr sz="1400" dirty="0" err="1">
                <a:latin typeface="Tahoma" panose="020B0604030504040204" pitchFamily="34" charset="0"/>
              </a:rPr>
              <a:t>Đơn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vị</a:t>
            </a:r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6720840" y="2331720"/>
            <a:ext cx="1051560" cy="475488"/>
          </a:xfrm>
          <a:prstGeom prst="rect">
            <a:avLst/>
          </a:prstGeom>
          <a:solidFill>
            <a:srgbClr val="051F71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757416" y="2395728"/>
            <a:ext cx="978407" cy="307777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rial"/>
              </a:defRPr>
            </a:pPr>
            <a:r>
              <a:rPr sz="1400" dirty="0" err="1">
                <a:latin typeface="Tahoma" panose="020B0604030504040204" pitchFamily="34" charset="0"/>
              </a:rPr>
              <a:t>Ngày</a:t>
            </a:r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7772400" y="2331720"/>
            <a:ext cx="1188720" cy="475488"/>
          </a:xfrm>
          <a:prstGeom prst="rect">
            <a:avLst/>
          </a:prstGeom>
          <a:solidFill>
            <a:srgbClr val="051F71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7808975" y="2395728"/>
            <a:ext cx="1115568" cy="307777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rial"/>
              </a:defRPr>
            </a:pPr>
            <a:r>
              <a:rPr sz="1400" dirty="0" err="1">
                <a:latin typeface="Tahoma" panose="020B0604030504040204" pitchFamily="34" charset="0"/>
              </a:rPr>
              <a:t>Trạng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thái</a:t>
            </a:r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8961120" y="2331720"/>
            <a:ext cx="868680" cy="475488"/>
          </a:xfrm>
          <a:prstGeom prst="rect">
            <a:avLst/>
          </a:prstGeom>
          <a:solidFill>
            <a:srgbClr val="051F71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8997696" y="2395728"/>
            <a:ext cx="795528" cy="307777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rial"/>
              </a:defRPr>
            </a:pPr>
            <a:r>
              <a:rPr sz="1400" dirty="0" err="1">
                <a:latin typeface="Tahoma" panose="020B0604030504040204" pitchFamily="34" charset="0"/>
              </a:rPr>
              <a:t>Số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người</a:t>
            </a:r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9829800" y="2331720"/>
            <a:ext cx="1051560" cy="475488"/>
          </a:xfrm>
          <a:prstGeom prst="rect">
            <a:avLst/>
          </a:prstGeom>
          <a:solidFill>
            <a:srgbClr val="051F71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9866376" y="2395728"/>
            <a:ext cx="978407" cy="307777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rial"/>
              </a:defRPr>
            </a:pPr>
            <a:r>
              <a:rPr sz="1400" dirty="0" err="1">
                <a:latin typeface="Tahoma" panose="020B0604030504040204" pitchFamily="34" charset="0"/>
              </a:rPr>
              <a:t>Điểm</a:t>
            </a:r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2743199" y="2807208"/>
            <a:ext cx="114300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9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2779775" y="2862072"/>
            <a:ext cx="1069848" cy="307777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defRPr sz="760" b="0">
                <a:solidFill>
                  <a:srgbClr val="202838"/>
                </a:solidFill>
                <a:latin typeface="Arial"/>
              </a:defRPr>
            </a:pPr>
            <a:r>
              <a:rPr sz="1400" dirty="0">
                <a:latin typeface="Tahoma" panose="020B0604030504040204" pitchFamily="34" charset="0"/>
              </a:rPr>
              <a:t>ACT-0826-01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886200" y="2807208"/>
            <a:ext cx="1874519" cy="475488"/>
          </a:xfrm>
          <a:prstGeom prst="rect">
            <a:avLst/>
          </a:prstGeom>
          <a:solidFill>
            <a:srgbClr val="FFFFFF"/>
          </a:solidFill>
          <a:ln>
            <a:solidFill>
              <a:srgbClr val="D9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3922776" y="2862072"/>
            <a:ext cx="1801367" cy="307777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760" b="0">
                <a:solidFill>
                  <a:srgbClr val="202838"/>
                </a:solidFill>
                <a:latin typeface="Arial"/>
              </a:defRPr>
            </a:pPr>
            <a:r>
              <a:rPr sz="1400" dirty="0" err="1">
                <a:latin typeface="Tahoma" panose="020B0604030504040204" pitchFamily="34" charset="0"/>
              </a:rPr>
              <a:t>Bữa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trưa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kết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nối</a:t>
            </a:r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5760720" y="2807208"/>
            <a:ext cx="96012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9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5797296" y="2862072"/>
            <a:ext cx="886968" cy="307777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760" b="0">
                <a:solidFill>
                  <a:srgbClr val="202838"/>
                </a:solidFill>
                <a:latin typeface="Arial"/>
              </a:defRPr>
            </a:pPr>
            <a:r>
              <a:rPr sz="1400" dirty="0">
                <a:latin typeface="Tahoma" panose="020B0604030504040204" pitchFamily="34" charset="0"/>
              </a:rPr>
              <a:t>GPL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720840" y="2807208"/>
            <a:ext cx="105156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9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6757416" y="2862072"/>
            <a:ext cx="978407" cy="307777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760" b="0">
                <a:solidFill>
                  <a:srgbClr val="202838"/>
                </a:solidFill>
                <a:latin typeface="Arial"/>
              </a:defRPr>
            </a:pPr>
            <a:r>
              <a:rPr sz="1400" dirty="0">
                <a:latin typeface="Tahoma" panose="020B0604030504040204" pitchFamily="34" charset="0"/>
              </a:rPr>
              <a:t>25/08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772400" y="2807208"/>
            <a:ext cx="118872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9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7808975" y="2862072"/>
            <a:ext cx="1115568" cy="307777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760" b="0">
                <a:solidFill>
                  <a:srgbClr val="202838"/>
                </a:solidFill>
                <a:latin typeface="Arial"/>
              </a:defRPr>
            </a:pPr>
            <a:r>
              <a:rPr sz="1400" dirty="0" err="1">
                <a:latin typeface="Tahoma" panose="020B0604030504040204" pitchFamily="34" charset="0"/>
              </a:rPr>
              <a:t>Đã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duyệt</a:t>
            </a:r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8961120" y="2807208"/>
            <a:ext cx="86868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9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8997696" y="2862072"/>
            <a:ext cx="795528" cy="307777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760" b="0">
                <a:solidFill>
                  <a:srgbClr val="202838"/>
                </a:solidFill>
                <a:latin typeface="Arial"/>
              </a:defRPr>
            </a:pPr>
            <a:r>
              <a:rPr sz="1400" dirty="0">
                <a:latin typeface="Tahoma" panose="020B0604030504040204" pitchFamily="34" charset="0"/>
              </a:rPr>
              <a:t>32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829800" y="2807208"/>
            <a:ext cx="105156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9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9866376" y="2862072"/>
            <a:ext cx="978407" cy="307777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760" b="0">
                <a:solidFill>
                  <a:srgbClr val="202838"/>
                </a:solidFill>
                <a:latin typeface="Arial"/>
              </a:defRPr>
            </a:pPr>
            <a:r>
              <a:rPr sz="1400" dirty="0">
                <a:latin typeface="Tahoma" panose="020B0604030504040204" pitchFamily="34" charset="0"/>
              </a:rPr>
              <a:t>4,6/5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743199" y="3282696"/>
            <a:ext cx="1143000" cy="475488"/>
          </a:xfrm>
          <a:prstGeom prst="rect">
            <a:avLst/>
          </a:prstGeom>
          <a:solidFill>
            <a:srgbClr val="F7F9FD"/>
          </a:solidFill>
          <a:ln>
            <a:solidFill>
              <a:srgbClr val="D9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2779775" y="3337560"/>
            <a:ext cx="1069848" cy="307777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defRPr sz="760" b="0">
                <a:solidFill>
                  <a:srgbClr val="202838"/>
                </a:solidFill>
                <a:latin typeface="Arial"/>
              </a:defRPr>
            </a:pPr>
            <a:r>
              <a:rPr sz="1400" dirty="0">
                <a:latin typeface="Tahoma" panose="020B0604030504040204" pitchFamily="34" charset="0"/>
              </a:rPr>
              <a:t>ACT-0926-01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886200" y="3282696"/>
            <a:ext cx="1874519" cy="475488"/>
          </a:xfrm>
          <a:prstGeom prst="rect">
            <a:avLst/>
          </a:prstGeom>
          <a:solidFill>
            <a:srgbClr val="F7F9FD"/>
          </a:solidFill>
          <a:ln>
            <a:solidFill>
              <a:srgbClr val="D9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3922776" y="3337560"/>
            <a:ext cx="1801367" cy="307777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760" b="0">
                <a:solidFill>
                  <a:srgbClr val="202838"/>
                </a:solidFill>
                <a:latin typeface="Arial"/>
              </a:defRPr>
            </a:pPr>
            <a:r>
              <a:rPr sz="1400" dirty="0" err="1">
                <a:latin typeface="Tahoma" panose="020B0604030504040204" pitchFamily="34" charset="0"/>
              </a:rPr>
              <a:t>Lắng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nghe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tuyến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đầu</a:t>
            </a:r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50" name="Rectangle 49"/>
          <p:cNvSpPr/>
          <p:nvPr/>
        </p:nvSpPr>
        <p:spPr>
          <a:xfrm>
            <a:off x="5760720" y="3282696"/>
            <a:ext cx="960120" cy="475488"/>
          </a:xfrm>
          <a:prstGeom prst="rect">
            <a:avLst/>
          </a:prstGeom>
          <a:solidFill>
            <a:srgbClr val="F7F9FD"/>
          </a:solidFill>
          <a:ln>
            <a:solidFill>
              <a:srgbClr val="D9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5797296" y="3337560"/>
            <a:ext cx="886968" cy="307777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760" b="0">
                <a:solidFill>
                  <a:srgbClr val="202838"/>
                </a:solidFill>
                <a:latin typeface="Arial"/>
              </a:defRPr>
            </a:pPr>
            <a:r>
              <a:rPr sz="1400" dirty="0">
                <a:latin typeface="Tahoma" panose="020B0604030504040204" pitchFamily="34" charset="0"/>
              </a:rPr>
              <a:t>VCS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720840" y="3282696"/>
            <a:ext cx="1051560" cy="475488"/>
          </a:xfrm>
          <a:prstGeom prst="rect">
            <a:avLst/>
          </a:prstGeom>
          <a:solidFill>
            <a:srgbClr val="F7F9FD"/>
          </a:solidFill>
          <a:ln>
            <a:solidFill>
              <a:srgbClr val="D9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6757416" y="3337560"/>
            <a:ext cx="978407" cy="307777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760" b="0">
                <a:solidFill>
                  <a:srgbClr val="202838"/>
                </a:solidFill>
                <a:latin typeface="Arial"/>
              </a:defRPr>
            </a:pPr>
            <a:r>
              <a:rPr sz="1400" dirty="0">
                <a:latin typeface="Tahoma" panose="020B0604030504040204" pitchFamily="34" charset="0"/>
              </a:rPr>
              <a:t>10/09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772400" y="3282696"/>
            <a:ext cx="1188720" cy="475488"/>
          </a:xfrm>
          <a:prstGeom prst="rect">
            <a:avLst/>
          </a:prstGeom>
          <a:solidFill>
            <a:srgbClr val="F7F9FD"/>
          </a:solidFill>
          <a:ln>
            <a:solidFill>
              <a:srgbClr val="D9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7808975" y="3337560"/>
            <a:ext cx="1115568" cy="307777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760" b="0">
                <a:solidFill>
                  <a:srgbClr val="202838"/>
                </a:solidFill>
                <a:latin typeface="Arial"/>
              </a:defRPr>
            </a:pPr>
            <a:r>
              <a:rPr sz="1400" dirty="0" err="1">
                <a:latin typeface="Tahoma" panose="020B0604030504040204" pitchFamily="34" charset="0"/>
              </a:rPr>
              <a:t>Kế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hoạch</a:t>
            </a:r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56" name="Rectangle 55"/>
          <p:cNvSpPr/>
          <p:nvPr/>
        </p:nvSpPr>
        <p:spPr>
          <a:xfrm>
            <a:off x="8961120" y="3282696"/>
            <a:ext cx="868680" cy="475488"/>
          </a:xfrm>
          <a:prstGeom prst="rect">
            <a:avLst/>
          </a:prstGeom>
          <a:solidFill>
            <a:srgbClr val="F7F9FD"/>
          </a:solidFill>
          <a:ln>
            <a:solidFill>
              <a:srgbClr val="D9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8997696" y="3337560"/>
            <a:ext cx="795528" cy="307777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760" b="0">
                <a:solidFill>
                  <a:srgbClr val="202838"/>
                </a:solidFill>
                <a:latin typeface="Arial"/>
              </a:defRPr>
            </a:pPr>
            <a:r>
              <a:rPr sz="1400" dirty="0">
                <a:latin typeface="Tahoma" panose="020B0604030504040204" pitchFamily="34" charset="0"/>
              </a:rPr>
              <a:t>—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829800" y="3282696"/>
            <a:ext cx="1051560" cy="475488"/>
          </a:xfrm>
          <a:prstGeom prst="rect">
            <a:avLst/>
          </a:prstGeom>
          <a:solidFill>
            <a:srgbClr val="F7F9FD"/>
          </a:solidFill>
          <a:ln>
            <a:solidFill>
              <a:srgbClr val="D9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9866376" y="3337560"/>
            <a:ext cx="978407" cy="307777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760" b="0">
                <a:solidFill>
                  <a:srgbClr val="202838"/>
                </a:solidFill>
                <a:latin typeface="Arial"/>
              </a:defRPr>
            </a:pPr>
            <a:r>
              <a:rPr sz="1400" dirty="0">
                <a:latin typeface="Tahoma" panose="020B0604030504040204" pitchFamily="34" charset="0"/>
              </a:rPr>
              <a:t>—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743199" y="3758184"/>
            <a:ext cx="114300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9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2779775" y="3813048"/>
            <a:ext cx="1069848" cy="307777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defRPr sz="760" b="0">
                <a:solidFill>
                  <a:srgbClr val="202838"/>
                </a:solidFill>
                <a:latin typeface="Arial"/>
              </a:defRPr>
            </a:pPr>
            <a:r>
              <a:rPr sz="1400" dirty="0">
                <a:latin typeface="Tahoma" panose="020B0604030504040204" pitchFamily="34" charset="0"/>
              </a:rPr>
              <a:t>ACT-1026-02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886200" y="3758184"/>
            <a:ext cx="1874519" cy="475488"/>
          </a:xfrm>
          <a:prstGeom prst="rect">
            <a:avLst/>
          </a:prstGeom>
          <a:solidFill>
            <a:srgbClr val="FFFFFF"/>
          </a:solidFill>
          <a:ln>
            <a:solidFill>
              <a:srgbClr val="D9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3922776" y="3813048"/>
            <a:ext cx="1801367" cy="307777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760" b="0">
                <a:solidFill>
                  <a:srgbClr val="202838"/>
                </a:solidFill>
                <a:latin typeface="Arial"/>
              </a:defRPr>
            </a:pPr>
            <a:r>
              <a:rPr sz="1400" dirty="0">
                <a:latin typeface="Tahoma" panose="020B0604030504040204" pitchFamily="34" charset="0"/>
              </a:rPr>
              <a:t>Skill-sharing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760720" y="3758184"/>
            <a:ext cx="96012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9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5797296" y="3813048"/>
            <a:ext cx="886968" cy="307777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760" b="0">
                <a:solidFill>
                  <a:srgbClr val="202838"/>
                </a:solidFill>
                <a:latin typeface="Arial"/>
              </a:defRPr>
            </a:pPr>
            <a:r>
              <a:rPr sz="1400" dirty="0">
                <a:latin typeface="Tahoma" panose="020B0604030504040204" pitchFamily="34" charset="0"/>
              </a:rPr>
              <a:t>GPD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720840" y="3758184"/>
            <a:ext cx="105156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9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67" name="TextBox 66"/>
          <p:cNvSpPr txBox="1"/>
          <p:nvPr/>
        </p:nvSpPr>
        <p:spPr>
          <a:xfrm>
            <a:off x="6757416" y="3813048"/>
            <a:ext cx="978407" cy="307777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760" b="0">
                <a:solidFill>
                  <a:srgbClr val="202838"/>
                </a:solidFill>
                <a:latin typeface="Arial"/>
              </a:defRPr>
            </a:pPr>
            <a:r>
              <a:rPr sz="1400" dirty="0">
                <a:latin typeface="Tahoma" panose="020B0604030504040204" pitchFamily="34" charset="0"/>
              </a:rPr>
              <a:t>18/10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772400" y="3758184"/>
            <a:ext cx="118872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9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69" name="TextBox 68"/>
          <p:cNvSpPr txBox="1"/>
          <p:nvPr/>
        </p:nvSpPr>
        <p:spPr>
          <a:xfrm>
            <a:off x="7808975" y="3813048"/>
            <a:ext cx="1115568" cy="307777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760" b="0">
                <a:solidFill>
                  <a:srgbClr val="202838"/>
                </a:solidFill>
                <a:latin typeface="Arial"/>
              </a:defRPr>
            </a:pPr>
            <a:r>
              <a:rPr sz="1400" dirty="0" err="1">
                <a:latin typeface="Tahoma" panose="020B0604030504040204" pitchFamily="34" charset="0"/>
              </a:rPr>
              <a:t>Kế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hoạch</a:t>
            </a:r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70" name="Rectangle 69"/>
          <p:cNvSpPr/>
          <p:nvPr/>
        </p:nvSpPr>
        <p:spPr>
          <a:xfrm>
            <a:off x="8961120" y="3758184"/>
            <a:ext cx="86868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9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71" name="TextBox 70"/>
          <p:cNvSpPr txBox="1"/>
          <p:nvPr/>
        </p:nvSpPr>
        <p:spPr>
          <a:xfrm>
            <a:off x="8997696" y="3813048"/>
            <a:ext cx="795528" cy="307777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760" b="0">
                <a:solidFill>
                  <a:srgbClr val="202838"/>
                </a:solidFill>
                <a:latin typeface="Arial"/>
              </a:defRPr>
            </a:pPr>
            <a:r>
              <a:rPr sz="1400" dirty="0">
                <a:latin typeface="Tahoma" panose="020B0604030504040204" pitchFamily="34" charset="0"/>
              </a:rPr>
              <a:t>—</a:t>
            </a:r>
          </a:p>
        </p:txBody>
      </p:sp>
      <p:sp>
        <p:nvSpPr>
          <p:cNvPr id="72" name="Rectangle 71"/>
          <p:cNvSpPr/>
          <p:nvPr/>
        </p:nvSpPr>
        <p:spPr>
          <a:xfrm>
            <a:off x="9829800" y="3758184"/>
            <a:ext cx="105156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9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73" name="TextBox 72"/>
          <p:cNvSpPr txBox="1"/>
          <p:nvPr/>
        </p:nvSpPr>
        <p:spPr>
          <a:xfrm>
            <a:off x="9866376" y="3813048"/>
            <a:ext cx="978407" cy="307777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760" b="0">
                <a:solidFill>
                  <a:srgbClr val="202838"/>
                </a:solidFill>
                <a:latin typeface="Arial"/>
              </a:defRPr>
            </a:pPr>
            <a:r>
              <a:rPr sz="1400" dirty="0">
                <a:latin typeface="Tahoma" panose="020B0604030504040204" pitchFamily="34" charset="0"/>
              </a:rPr>
              <a:t>—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2743199" y="4434840"/>
            <a:ext cx="269748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9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Tahoma" panose="020B0604030504040204" pitchFamily="34" charset="0"/>
            </a:endParaRPr>
          </a:p>
        </p:txBody>
      </p:sp>
      <p:sp>
        <p:nvSpPr>
          <p:cNvPr id="75" name="TextBox 74"/>
          <p:cNvSpPr txBox="1"/>
          <p:nvPr/>
        </p:nvSpPr>
        <p:spPr>
          <a:xfrm>
            <a:off x="2944368" y="4562855"/>
            <a:ext cx="2331720" cy="307777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950" b="1">
                <a:solidFill>
                  <a:srgbClr val="051F71"/>
                </a:solidFill>
                <a:latin typeface="Arial"/>
              </a:defRPr>
            </a:pPr>
            <a:r>
              <a:rPr sz="1400" dirty="0" err="1">
                <a:latin typeface="Tahoma" panose="020B0604030504040204" pitchFamily="34" charset="0"/>
              </a:rPr>
              <a:t>TRƯỚC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CHƯƠNG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TRÌNH</a:t>
            </a:r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76" name="TextBox 75"/>
          <p:cNvSpPr txBox="1"/>
          <p:nvPr/>
        </p:nvSpPr>
        <p:spPr>
          <a:xfrm>
            <a:off x="2962655" y="5020055"/>
            <a:ext cx="2258568" cy="738664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830" b="0">
                <a:solidFill>
                  <a:srgbClr val="202838"/>
                </a:solidFill>
                <a:latin typeface="Arial"/>
              </a:defRPr>
            </a:pPr>
            <a:r>
              <a:rPr sz="1400" dirty="0" err="1">
                <a:latin typeface="Tahoma" panose="020B0604030504040204" pitchFamily="34" charset="0"/>
              </a:rPr>
              <a:t>Kế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hoạch</a:t>
            </a:r>
            <a:r>
              <a:rPr sz="1400" dirty="0">
                <a:latin typeface="Tahoma" panose="020B0604030504040204" pitchFamily="34" charset="0"/>
              </a:rPr>
              <a:t> • </a:t>
            </a:r>
            <a:r>
              <a:rPr sz="1400" dirty="0" err="1">
                <a:latin typeface="Tahoma" panose="020B0604030504040204" pitchFamily="34" charset="0"/>
              </a:rPr>
              <a:t>mục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tiêu</a:t>
            </a:r>
            <a:r>
              <a:rPr sz="1400" dirty="0">
                <a:latin typeface="Tahoma" panose="020B0604030504040204" pitchFamily="34" charset="0"/>
              </a:rPr>
              <a:t> • </a:t>
            </a:r>
            <a:r>
              <a:rPr sz="1400" dirty="0" err="1">
                <a:latin typeface="Tahoma" panose="020B0604030504040204" pitchFamily="34" charset="0"/>
              </a:rPr>
              <a:t>ngân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sách</a:t>
            </a:r>
            <a:r>
              <a:rPr sz="1400" dirty="0">
                <a:latin typeface="Tahoma" panose="020B0604030504040204" pitchFamily="34" charset="0"/>
              </a:rPr>
              <a:t> • </a:t>
            </a:r>
            <a:r>
              <a:rPr sz="1400" dirty="0" err="1">
                <a:latin typeface="Tahoma" panose="020B0604030504040204" pitchFamily="34" charset="0"/>
              </a:rPr>
              <a:t>danh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sách</a:t>
            </a:r>
            <a:r>
              <a:rPr sz="1400" dirty="0">
                <a:latin typeface="Tahoma" panose="020B0604030504040204" pitchFamily="34" charset="0"/>
              </a:rPr>
              <a:t> • </a:t>
            </a:r>
            <a:r>
              <a:rPr sz="1400" dirty="0" err="1">
                <a:latin typeface="Tahoma" panose="020B0604030504040204" pitchFamily="34" charset="0"/>
              </a:rPr>
              <a:t>phê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duyệt</a:t>
            </a:r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77" name="Rounded Rectangle 76"/>
          <p:cNvSpPr/>
          <p:nvPr/>
        </p:nvSpPr>
        <p:spPr>
          <a:xfrm>
            <a:off x="5715000" y="4434840"/>
            <a:ext cx="269748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9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Tahoma" panose="020B0604030504040204" pitchFamily="34" charset="0"/>
            </a:endParaRPr>
          </a:p>
        </p:txBody>
      </p:sp>
      <p:sp>
        <p:nvSpPr>
          <p:cNvPr id="78" name="TextBox 77"/>
          <p:cNvSpPr txBox="1"/>
          <p:nvPr/>
        </p:nvSpPr>
        <p:spPr>
          <a:xfrm>
            <a:off x="5916168" y="4562855"/>
            <a:ext cx="2331720" cy="307777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950" b="1">
                <a:solidFill>
                  <a:srgbClr val="118F91"/>
                </a:solidFill>
                <a:latin typeface="Arial"/>
              </a:defRPr>
            </a:pPr>
            <a:r>
              <a:rPr sz="1400" dirty="0">
                <a:latin typeface="Tahoma" panose="020B0604030504040204" pitchFamily="34" charset="0"/>
              </a:rPr>
              <a:t>TRONG </a:t>
            </a:r>
            <a:r>
              <a:rPr sz="1400" dirty="0" err="1">
                <a:latin typeface="Tahoma" panose="020B0604030504040204" pitchFamily="34" charset="0"/>
              </a:rPr>
              <a:t>CHƯƠNG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TRÌNH</a:t>
            </a:r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79" name="TextBox 78"/>
          <p:cNvSpPr txBox="1"/>
          <p:nvPr/>
        </p:nvSpPr>
        <p:spPr>
          <a:xfrm>
            <a:off x="5934456" y="5020055"/>
            <a:ext cx="2258568" cy="5232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830" b="0">
                <a:solidFill>
                  <a:srgbClr val="202838"/>
                </a:solidFill>
                <a:latin typeface="Arial"/>
              </a:defRPr>
            </a:pPr>
            <a:r>
              <a:rPr sz="1400" dirty="0">
                <a:latin typeface="Tahoma" panose="020B0604030504040204" pitchFamily="34" charset="0"/>
              </a:rPr>
              <a:t>Check-in • </a:t>
            </a:r>
            <a:r>
              <a:rPr sz="1400" dirty="0" err="1">
                <a:latin typeface="Tahoma" panose="020B0604030504040204" pitchFamily="34" charset="0"/>
              </a:rPr>
              <a:t>ảnh</a:t>
            </a:r>
            <a:r>
              <a:rPr sz="1400" dirty="0">
                <a:latin typeface="Tahoma" panose="020B0604030504040204" pitchFamily="34" charset="0"/>
              </a:rPr>
              <a:t> • </a:t>
            </a:r>
            <a:r>
              <a:rPr sz="1400" dirty="0" err="1">
                <a:latin typeface="Tahoma" panose="020B0604030504040204" pitchFamily="34" charset="0"/>
              </a:rPr>
              <a:t>phản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hồi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nhanh</a:t>
            </a:r>
            <a:r>
              <a:rPr sz="1400" dirty="0">
                <a:latin typeface="Tahoma" panose="020B0604030504040204" pitchFamily="34" charset="0"/>
              </a:rPr>
              <a:t> • </a:t>
            </a:r>
            <a:r>
              <a:rPr sz="1400" dirty="0" err="1">
                <a:latin typeface="Tahoma" panose="020B0604030504040204" pitchFamily="34" charset="0"/>
              </a:rPr>
              <a:t>vấn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đề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phát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sinh</a:t>
            </a:r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80" name="Rounded Rectangle 79"/>
          <p:cNvSpPr/>
          <p:nvPr/>
        </p:nvSpPr>
        <p:spPr>
          <a:xfrm>
            <a:off x="8686800" y="4434840"/>
            <a:ext cx="269748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9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Tahoma" panose="020B0604030504040204" pitchFamily="34" charset="0"/>
            </a:endParaRPr>
          </a:p>
        </p:txBody>
      </p:sp>
      <p:sp>
        <p:nvSpPr>
          <p:cNvPr id="81" name="TextBox 80"/>
          <p:cNvSpPr txBox="1"/>
          <p:nvPr/>
        </p:nvSpPr>
        <p:spPr>
          <a:xfrm>
            <a:off x="8887968" y="4562855"/>
            <a:ext cx="2331719" cy="307777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950" b="1">
                <a:solidFill>
                  <a:srgbClr val="E87823"/>
                </a:solidFill>
                <a:latin typeface="Arial"/>
              </a:defRPr>
            </a:pPr>
            <a:r>
              <a:rPr sz="1400" dirty="0">
                <a:latin typeface="Tahoma" panose="020B0604030504040204" pitchFamily="34" charset="0"/>
              </a:rPr>
              <a:t>SAU </a:t>
            </a:r>
            <a:r>
              <a:rPr sz="1400" dirty="0" err="1">
                <a:latin typeface="Tahoma" panose="020B0604030504040204" pitchFamily="34" charset="0"/>
              </a:rPr>
              <a:t>CHƯƠNG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TRÌNH</a:t>
            </a:r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82" name="TextBox 81"/>
          <p:cNvSpPr txBox="1"/>
          <p:nvPr/>
        </p:nvSpPr>
        <p:spPr>
          <a:xfrm>
            <a:off x="8906256" y="5020055"/>
            <a:ext cx="2258568" cy="5232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830" b="0">
                <a:solidFill>
                  <a:srgbClr val="202838"/>
                </a:solidFill>
                <a:latin typeface="Arial"/>
              </a:defRPr>
            </a:pPr>
            <a:r>
              <a:rPr sz="1400" dirty="0">
                <a:latin typeface="Tahoma" panose="020B0604030504040204" pitchFamily="34" charset="0"/>
              </a:rPr>
              <a:t>Chi </a:t>
            </a:r>
            <a:r>
              <a:rPr sz="1400" dirty="0" err="1">
                <a:latin typeface="Tahoma" panose="020B0604030504040204" pitchFamily="34" charset="0"/>
              </a:rPr>
              <a:t>phí</a:t>
            </a:r>
            <a:r>
              <a:rPr sz="1400" dirty="0">
                <a:latin typeface="Tahoma" panose="020B0604030504040204" pitchFamily="34" charset="0"/>
              </a:rPr>
              <a:t> • </a:t>
            </a:r>
            <a:r>
              <a:rPr sz="1400" dirty="0" err="1">
                <a:latin typeface="Tahoma" panose="020B0604030504040204" pitchFamily="34" charset="0"/>
              </a:rPr>
              <a:t>chứng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từ</a:t>
            </a:r>
            <a:r>
              <a:rPr sz="1400" dirty="0">
                <a:latin typeface="Tahoma" panose="020B0604030504040204" pitchFamily="34" charset="0"/>
              </a:rPr>
              <a:t> • </a:t>
            </a:r>
            <a:r>
              <a:rPr sz="1400" dirty="0" err="1">
                <a:latin typeface="Tahoma" panose="020B0604030504040204" pitchFamily="34" charset="0"/>
              </a:rPr>
              <a:t>đánh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giá</a:t>
            </a:r>
            <a:r>
              <a:rPr sz="1400" dirty="0">
                <a:latin typeface="Tahoma" panose="020B0604030504040204" pitchFamily="34" charset="0"/>
              </a:rPr>
              <a:t> • follow-up • </a:t>
            </a:r>
            <a:r>
              <a:rPr sz="1400" dirty="0" err="1">
                <a:latin typeface="Tahoma" panose="020B0604030504040204" pitchFamily="34" charset="0"/>
              </a:rPr>
              <a:t>bài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học</a:t>
            </a:r>
            <a:endParaRPr sz="1400" dirty="0">
              <a:latin typeface="Tahoma" panose="020B0604030504040204" pitchFamily="3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608" y="82296"/>
            <a:ext cx="960120" cy="548640"/>
          </a:xfrm>
          <a:prstGeom prst="rect">
            <a:avLst/>
          </a:prstGeom>
        </p:spPr>
      </p:pic>
      <p:pic>
        <p:nvPicPr>
          <p:cNvPr id="3" name="Picture 2" descr="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64008"/>
            <a:ext cx="646818" cy="585216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274320" y="749808"/>
            <a:ext cx="11649456" cy="22860"/>
          </a:xfrm>
          <a:prstGeom prst="rect">
            <a:avLst/>
          </a:prstGeom>
          <a:solidFill>
            <a:srgbClr val="051F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Tahoma" panose="020B0604030504040204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20040" y="6483096"/>
            <a:ext cx="2077813" cy="22313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051F71"/>
                </a:solidFill>
                <a:latin typeface="Arial"/>
              </a:defRPr>
            </a:pPr>
            <a:r>
              <a:rPr dirty="0">
                <a:latin typeface="Tahoma" panose="020B0604030504040204" pitchFamily="34" charset="0"/>
              </a:rPr>
              <a:t>CÔNG ĐOÀN GPG | GPG TRADE UNION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43352" y="6473952"/>
            <a:ext cx="1029448" cy="21839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19">
                <a:solidFill>
                  <a:srgbClr val="677180"/>
                </a:solidFill>
                <a:latin typeface="Arial"/>
              </a:defRPr>
            </a:pPr>
            <a:r>
              <a:rPr dirty="0">
                <a:latin typeface="Tahoma" panose="020B0604030504040204" pitchFamily="34" charset="0"/>
              </a:rPr>
              <a:t>V. </a:t>
            </a:r>
            <a:r>
              <a:rPr dirty="0" err="1">
                <a:latin typeface="Tahoma" panose="020B0604030504040204" pitchFamily="34" charset="0"/>
              </a:rPr>
              <a:t>SỐ</a:t>
            </a:r>
            <a:r>
              <a:rPr dirty="0">
                <a:latin typeface="Tahoma" panose="020B0604030504040204" pitchFamily="34" charset="0"/>
              </a:rPr>
              <a:t> </a:t>
            </a:r>
            <a:r>
              <a:rPr dirty="0" err="1">
                <a:latin typeface="Tahoma" panose="020B0604030504040204" pitchFamily="34" charset="0"/>
              </a:rPr>
              <a:t>HÓA</a:t>
            </a:r>
            <a:r>
              <a:rPr dirty="0">
                <a:latin typeface="Tahoma" panose="020B0604030504040204" pitchFamily="34" charset="0"/>
              </a:rPr>
              <a:t> HỒ </a:t>
            </a:r>
            <a:r>
              <a:rPr dirty="0" err="1">
                <a:latin typeface="Tahoma" panose="020B0604030504040204" pitchFamily="34" charset="0"/>
              </a:rPr>
              <a:t>SƠ</a:t>
            </a:r>
            <a:endParaRPr dirty="0">
              <a:latin typeface="Tahoma" panose="020B0604030504040204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393198" y="6455664"/>
            <a:ext cx="338554" cy="2385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051F71"/>
                </a:solidFill>
                <a:latin typeface="Arial"/>
              </a:defRPr>
            </a:pPr>
            <a:r>
              <a:rPr dirty="0">
                <a:latin typeface="Tahoma" panose="020B0604030504040204" pitchFamily="34" charset="0"/>
              </a:rPr>
              <a:t>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0199" y="118872"/>
            <a:ext cx="11921853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50" b="1">
                <a:solidFill>
                  <a:srgbClr val="051F71"/>
                </a:solidFill>
                <a:latin typeface="Arial Narrow"/>
              </a:defRPr>
            </a:pPr>
            <a:r>
              <a:rPr sz="2400" dirty="0">
                <a:latin typeface="Tahoma" panose="020B0604030504040204" pitchFamily="34" charset="0"/>
              </a:rPr>
              <a:t>QUY </a:t>
            </a:r>
            <a:r>
              <a:rPr sz="2400" dirty="0" err="1">
                <a:latin typeface="Tahoma" panose="020B0604030504040204" pitchFamily="34" charset="0"/>
              </a:rPr>
              <a:t>TRÌNH</a:t>
            </a:r>
            <a:r>
              <a:rPr sz="2400" dirty="0">
                <a:latin typeface="Tahoma" panose="020B0604030504040204" pitchFamily="34" charset="0"/>
              </a:rPr>
              <a:t> </a:t>
            </a:r>
            <a:r>
              <a:rPr sz="2400" dirty="0" err="1">
                <a:latin typeface="Tahoma" panose="020B0604030504040204" pitchFamily="34" charset="0"/>
              </a:rPr>
              <a:t>SỐ</a:t>
            </a:r>
            <a:r>
              <a:rPr sz="2400" dirty="0">
                <a:latin typeface="Tahoma" panose="020B0604030504040204" pitchFamily="34" charset="0"/>
              </a:rPr>
              <a:t> </a:t>
            </a:r>
            <a:r>
              <a:rPr sz="2400" dirty="0" err="1">
                <a:latin typeface="Tahoma" panose="020B0604030504040204" pitchFamily="34" charset="0"/>
              </a:rPr>
              <a:t>HÓA</a:t>
            </a:r>
            <a:r>
              <a:rPr sz="2400" dirty="0">
                <a:latin typeface="Tahoma" panose="020B0604030504040204" pitchFamily="34" charset="0"/>
              </a:rPr>
              <a:t> END-TO-END – TỪ </a:t>
            </a:r>
            <a:r>
              <a:rPr sz="2400" dirty="0" err="1">
                <a:latin typeface="Tahoma" panose="020B0604030504040204" pitchFamily="34" charset="0"/>
              </a:rPr>
              <a:t>DỮ</a:t>
            </a:r>
            <a:r>
              <a:rPr sz="2400" dirty="0">
                <a:latin typeface="Tahoma" panose="020B0604030504040204" pitchFamily="34" charset="0"/>
              </a:rPr>
              <a:t> LIỆU </a:t>
            </a:r>
            <a:r>
              <a:rPr sz="2400" dirty="0" err="1">
                <a:latin typeface="Tahoma" panose="020B0604030504040204" pitchFamily="34" charset="0"/>
              </a:rPr>
              <a:t>ĐẦU</a:t>
            </a:r>
            <a:r>
              <a:rPr sz="2400" dirty="0">
                <a:latin typeface="Tahoma" panose="020B0604030504040204" pitchFamily="34" charset="0"/>
              </a:rPr>
              <a:t> </a:t>
            </a:r>
            <a:r>
              <a:rPr sz="2400" dirty="0" err="1">
                <a:latin typeface="Tahoma" panose="020B0604030504040204" pitchFamily="34" charset="0"/>
              </a:rPr>
              <a:t>VÀO</a:t>
            </a:r>
            <a:r>
              <a:rPr sz="2400" dirty="0">
                <a:latin typeface="Tahoma" panose="020B0604030504040204" pitchFamily="34" charset="0"/>
              </a:rPr>
              <a:t> </a:t>
            </a:r>
            <a:r>
              <a:rPr sz="2400" dirty="0" err="1">
                <a:latin typeface="Tahoma" panose="020B0604030504040204" pitchFamily="34" charset="0"/>
              </a:rPr>
              <a:t>ĐẾN</a:t>
            </a:r>
            <a:r>
              <a:rPr sz="2400" dirty="0">
                <a:latin typeface="Tahoma" panose="020B0604030504040204" pitchFamily="34" charset="0"/>
              </a:rPr>
              <a:t> DASHBOARD</a:t>
            </a:r>
          </a:p>
        </p:txBody>
      </p:sp>
      <p:sp>
        <p:nvSpPr>
          <p:cNvPr id="9" name="Oval 8"/>
          <p:cNvSpPr/>
          <p:nvPr/>
        </p:nvSpPr>
        <p:spPr>
          <a:xfrm>
            <a:off x="384048" y="1407474"/>
            <a:ext cx="658368" cy="658368"/>
          </a:xfrm>
          <a:prstGeom prst="ellipse">
            <a:avLst/>
          </a:prstGeom>
          <a:solidFill>
            <a:srgbClr val="051F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84048" y="1590355"/>
            <a:ext cx="658368" cy="307777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defRPr sz="1150" b="1">
                <a:solidFill>
                  <a:srgbClr val="FFFFFF"/>
                </a:solidFill>
                <a:latin typeface="Arial"/>
              </a:defRPr>
            </a:pPr>
            <a:r>
              <a:rPr sz="1400" dirty="0">
                <a:latin typeface="Tahoma" panose="020B0604030504040204" pitchFamily="34" charset="0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4" y="2230435"/>
            <a:ext cx="1401527" cy="5232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defRPr sz="900" b="1">
                <a:solidFill>
                  <a:srgbClr val="051F71"/>
                </a:solidFill>
                <a:latin typeface="Arial"/>
              </a:defRPr>
            </a:pPr>
            <a:r>
              <a:rPr sz="1400" dirty="0">
                <a:latin typeface="Tahoma" panose="020B0604030504040204" pitchFamily="34" charset="0"/>
              </a:rPr>
              <a:t>NHẬP / </a:t>
            </a:r>
            <a:r>
              <a:rPr sz="1400" dirty="0" err="1">
                <a:latin typeface="Tahoma" panose="020B0604030504040204" pitchFamily="34" charset="0"/>
              </a:rPr>
              <a:t>ĐỒNG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BỘ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DỮ</a:t>
            </a:r>
            <a:r>
              <a:rPr sz="1400" dirty="0">
                <a:latin typeface="Tahoma" panose="020B0604030504040204" pitchFamily="34" charset="0"/>
              </a:rPr>
              <a:t> LIỆU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5" y="2797363"/>
            <a:ext cx="1280160" cy="738664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defRPr sz="780" b="0">
                <a:solidFill>
                  <a:srgbClr val="202838"/>
                </a:solidFill>
                <a:latin typeface="Arial"/>
              </a:defRPr>
            </a:pPr>
            <a:r>
              <a:rPr sz="1400" dirty="0">
                <a:latin typeface="Tahoma" panose="020B0604030504040204" pitchFamily="34" charset="0"/>
              </a:rPr>
              <a:t>HR master / </a:t>
            </a:r>
            <a:r>
              <a:rPr sz="1400" dirty="0" err="1">
                <a:latin typeface="Tahoma" panose="020B0604030504040204" pitchFamily="34" charset="0"/>
              </a:rPr>
              <a:t>CĐCS</a:t>
            </a:r>
            <a:r>
              <a:rPr sz="1400" dirty="0">
                <a:latin typeface="Tahoma" panose="020B0604030504040204" pitchFamily="34" charset="0"/>
              </a:rPr>
              <a:t> / import Excel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097280" y="1745803"/>
            <a:ext cx="731520" cy="0"/>
          </a:xfrm>
          <a:prstGeom prst="line">
            <a:avLst/>
          </a:prstGeom>
          <a:ln w="25400">
            <a:solidFill>
              <a:srgbClr val="D9E0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2048256" y="1407474"/>
            <a:ext cx="658368" cy="658368"/>
          </a:xfrm>
          <a:prstGeom prst="ellipse">
            <a:avLst/>
          </a:prstGeom>
          <a:solidFill>
            <a:srgbClr val="2E6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2048256" y="1590355"/>
            <a:ext cx="658368" cy="307777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defRPr sz="1150" b="1">
                <a:solidFill>
                  <a:srgbClr val="FFFFFF"/>
                </a:solidFill>
                <a:latin typeface="Arial"/>
              </a:defRPr>
            </a:pPr>
            <a:r>
              <a:rPr sz="1400" dirty="0">
                <a:latin typeface="Tahoma" panose="020B0604030504040204" pitchFamily="34" charset="0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92224" y="2230435"/>
            <a:ext cx="1188720" cy="5232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defRPr sz="900" b="1">
                <a:solidFill>
                  <a:srgbClr val="2E63DC"/>
                </a:solidFill>
                <a:latin typeface="Arial"/>
              </a:defRPr>
            </a:pPr>
            <a:r>
              <a:rPr sz="1400" dirty="0" err="1">
                <a:latin typeface="Tahoma" panose="020B0604030504040204" pitchFamily="34" charset="0"/>
              </a:rPr>
              <a:t>TẠO</a:t>
            </a:r>
            <a:r>
              <a:rPr sz="1400" dirty="0">
                <a:latin typeface="Tahoma" panose="020B0604030504040204" pitchFamily="34" charset="0"/>
              </a:rPr>
              <a:t> HỒ </a:t>
            </a:r>
            <a:r>
              <a:rPr sz="1400" dirty="0" err="1">
                <a:latin typeface="Tahoma" panose="020B0604030504040204" pitchFamily="34" charset="0"/>
              </a:rPr>
              <a:t>SƠ</a:t>
            </a:r>
            <a:r>
              <a:rPr sz="1400" dirty="0">
                <a:latin typeface="Tahoma" panose="020B0604030504040204" pitchFamily="34" charset="0"/>
              </a:rPr>
              <a:t> / </a:t>
            </a:r>
            <a:r>
              <a:rPr sz="1400" dirty="0" err="1">
                <a:latin typeface="Tahoma" panose="020B0604030504040204" pitchFamily="34" charset="0"/>
              </a:rPr>
              <a:t>VỤ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VIỆC</a:t>
            </a:r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746504" y="2797363"/>
            <a:ext cx="1280160" cy="954107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defRPr sz="780" b="0">
                <a:solidFill>
                  <a:srgbClr val="202838"/>
                </a:solidFill>
                <a:latin typeface="Arial"/>
              </a:defRPr>
            </a:pPr>
            <a:r>
              <a:rPr sz="1400" dirty="0">
                <a:latin typeface="Tahoma" panose="020B0604030504040204" pitchFamily="34" charset="0"/>
              </a:rPr>
              <a:t>Đoàn </a:t>
            </a:r>
            <a:r>
              <a:rPr sz="1400" dirty="0" err="1">
                <a:latin typeface="Tahoma" panose="020B0604030504040204" pitchFamily="34" charset="0"/>
              </a:rPr>
              <a:t>viên</a:t>
            </a:r>
            <a:r>
              <a:rPr sz="1400" dirty="0">
                <a:latin typeface="Tahoma" panose="020B0604030504040204" pitchFamily="34" charset="0"/>
              </a:rPr>
              <a:t> • </a:t>
            </a:r>
            <a:r>
              <a:rPr sz="1400" dirty="0" err="1">
                <a:latin typeface="Tahoma" panose="020B0604030504040204" pitchFamily="34" charset="0"/>
              </a:rPr>
              <a:t>chăm</a:t>
            </a:r>
            <a:r>
              <a:rPr sz="1400" dirty="0">
                <a:latin typeface="Tahoma" panose="020B0604030504040204" pitchFamily="34" charset="0"/>
              </a:rPr>
              <a:t> lo • </a:t>
            </a:r>
            <a:r>
              <a:rPr sz="1400" dirty="0" err="1">
                <a:latin typeface="Tahoma" panose="020B0604030504040204" pitchFamily="34" charset="0"/>
              </a:rPr>
              <a:t>kiến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nghị</a:t>
            </a:r>
            <a:r>
              <a:rPr sz="1400" dirty="0">
                <a:latin typeface="Tahoma" panose="020B0604030504040204" pitchFamily="34" charset="0"/>
              </a:rPr>
              <a:t> • </a:t>
            </a:r>
            <a:r>
              <a:rPr sz="1400" dirty="0" err="1">
                <a:latin typeface="Tahoma" panose="020B0604030504040204" pitchFamily="34" charset="0"/>
              </a:rPr>
              <a:t>hoạt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động</a:t>
            </a:r>
            <a:endParaRPr sz="1400" dirty="0">
              <a:latin typeface="Tahoma" panose="020B0604030504040204" pitchFamily="34" charset="0"/>
            </a:endParaRPr>
          </a:p>
        </p:txBody>
      </p:sp>
      <p:cxnSp>
        <p:nvCxnSpPr>
          <p:cNvPr id="18" name="Connector 17"/>
          <p:cNvCxnSpPr/>
          <p:nvPr/>
        </p:nvCxnSpPr>
        <p:spPr>
          <a:xfrm>
            <a:off x="2761488" y="1745803"/>
            <a:ext cx="731520" cy="0"/>
          </a:xfrm>
          <a:prstGeom prst="line">
            <a:avLst/>
          </a:prstGeom>
          <a:ln w="25400">
            <a:solidFill>
              <a:srgbClr val="D9E0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3712464" y="1407474"/>
            <a:ext cx="658368" cy="658368"/>
          </a:xfrm>
          <a:prstGeom prst="ellipse">
            <a:avLst/>
          </a:prstGeom>
          <a:solidFill>
            <a:srgbClr val="118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3712464" y="1590355"/>
            <a:ext cx="658368" cy="307777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defRPr sz="1150" b="1">
                <a:solidFill>
                  <a:srgbClr val="FFFFFF"/>
                </a:solidFill>
                <a:latin typeface="Arial"/>
              </a:defRPr>
            </a:pPr>
            <a:r>
              <a:rPr sz="1400" dirty="0">
                <a:latin typeface="Tahoma" panose="020B0604030504040204" pitchFamily="34" charset="0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56432" y="2230435"/>
            <a:ext cx="1188720" cy="5232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defRPr sz="900" b="1">
                <a:solidFill>
                  <a:srgbClr val="118F91"/>
                </a:solidFill>
                <a:latin typeface="Arial"/>
              </a:defRPr>
            </a:pPr>
            <a:r>
              <a:rPr sz="1400" dirty="0" err="1">
                <a:latin typeface="Tahoma" panose="020B0604030504040204" pitchFamily="34" charset="0"/>
              </a:rPr>
              <a:t>PHÊ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DUYỆT</a:t>
            </a:r>
            <a:r>
              <a:rPr sz="1400" dirty="0">
                <a:latin typeface="Tahoma" panose="020B0604030504040204" pitchFamily="34" charset="0"/>
              </a:rPr>
              <a:t> / GIAO PIC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10712" y="2797363"/>
            <a:ext cx="1280160" cy="5232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defRPr sz="780" b="0">
                <a:solidFill>
                  <a:srgbClr val="202838"/>
                </a:solidFill>
                <a:latin typeface="Arial"/>
              </a:defRPr>
            </a:pPr>
            <a:r>
              <a:rPr sz="1400" dirty="0">
                <a:latin typeface="Tahoma" panose="020B0604030504040204" pitchFamily="34" charset="0"/>
              </a:rPr>
              <a:t>Workflow </a:t>
            </a:r>
            <a:r>
              <a:rPr sz="1400" dirty="0" err="1">
                <a:latin typeface="Tahoma" panose="020B0604030504040204" pitchFamily="34" charset="0"/>
              </a:rPr>
              <a:t>theo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loại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hồ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sơ</a:t>
            </a:r>
            <a:endParaRPr sz="1400" dirty="0">
              <a:latin typeface="Tahoma" panose="020B0604030504040204" pitchFamily="34" charset="0"/>
            </a:endParaRPr>
          </a:p>
        </p:txBody>
      </p:sp>
      <p:cxnSp>
        <p:nvCxnSpPr>
          <p:cNvPr id="23" name="Connector 22"/>
          <p:cNvCxnSpPr/>
          <p:nvPr/>
        </p:nvCxnSpPr>
        <p:spPr>
          <a:xfrm>
            <a:off x="4425696" y="1745803"/>
            <a:ext cx="731520" cy="0"/>
          </a:xfrm>
          <a:prstGeom prst="line">
            <a:avLst/>
          </a:prstGeom>
          <a:ln w="25400">
            <a:solidFill>
              <a:srgbClr val="D9E0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Oval 23"/>
          <p:cNvSpPr/>
          <p:nvPr/>
        </p:nvSpPr>
        <p:spPr>
          <a:xfrm>
            <a:off x="5376672" y="1407474"/>
            <a:ext cx="658368" cy="658368"/>
          </a:xfrm>
          <a:prstGeom prst="ellipse">
            <a:avLst/>
          </a:prstGeom>
          <a:solidFill>
            <a:srgbClr val="E87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5376672" y="1590355"/>
            <a:ext cx="658368" cy="307777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defRPr sz="1150" b="1">
                <a:solidFill>
                  <a:srgbClr val="FFFFFF"/>
                </a:solidFill>
                <a:latin typeface="Arial"/>
              </a:defRPr>
            </a:pPr>
            <a:r>
              <a:rPr sz="1400" dirty="0">
                <a:latin typeface="Tahoma" panose="020B0604030504040204" pitchFamily="34" charset="0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20640" y="2230435"/>
            <a:ext cx="1188720" cy="5232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defRPr sz="900" b="1">
                <a:solidFill>
                  <a:srgbClr val="E87823"/>
                </a:solidFill>
                <a:latin typeface="Arial"/>
              </a:defRPr>
            </a:pPr>
            <a:r>
              <a:rPr sz="1400" dirty="0" err="1">
                <a:latin typeface="Tahoma" panose="020B0604030504040204" pitchFamily="34" charset="0"/>
              </a:rPr>
              <a:t>THỰC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HIỆN</a:t>
            </a:r>
            <a:r>
              <a:rPr sz="1400" dirty="0">
                <a:latin typeface="Tahoma" panose="020B0604030504040204" pitchFamily="34" charset="0"/>
              </a:rPr>
              <a:t> &amp; </a:t>
            </a:r>
            <a:r>
              <a:rPr sz="1400" dirty="0" err="1">
                <a:latin typeface="Tahoma" panose="020B0604030504040204" pitchFamily="34" charset="0"/>
              </a:rPr>
              <a:t>CẬP</a:t>
            </a:r>
            <a:r>
              <a:rPr sz="1400" dirty="0">
                <a:latin typeface="Tahoma" panose="020B0604030504040204" pitchFamily="34" charset="0"/>
              </a:rPr>
              <a:t> NHẬT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74920" y="2797363"/>
            <a:ext cx="1280160" cy="738664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defRPr sz="780" b="0">
                <a:solidFill>
                  <a:srgbClr val="202838"/>
                </a:solidFill>
                <a:latin typeface="Arial"/>
              </a:defRPr>
            </a:pPr>
            <a:r>
              <a:rPr sz="1400" dirty="0" err="1">
                <a:latin typeface="Tahoma" panose="020B0604030504040204" pitchFamily="34" charset="0"/>
              </a:rPr>
              <a:t>Trạng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thái</a:t>
            </a:r>
            <a:r>
              <a:rPr sz="1400" dirty="0">
                <a:latin typeface="Tahoma" panose="020B0604030504040204" pitchFamily="34" charset="0"/>
              </a:rPr>
              <a:t> • </a:t>
            </a:r>
            <a:r>
              <a:rPr sz="1400" dirty="0" err="1">
                <a:latin typeface="Tahoma" panose="020B0604030504040204" pitchFamily="34" charset="0"/>
              </a:rPr>
              <a:t>chứng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từ</a:t>
            </a:r>
            <a:r>
              <a:rPr sz="1400" dirty="0">
                <a:latin typeface="Tahoma" panose="020B0604030504040204" pitchFamily="34" charset="0"/>
              </a:rPr>
              <a:t> • </a:t>
            </a:r>
            <a:r>
              <a:rPr sz="1400" dirty="0" err="1">
                <a:latin typeface="Tahoma" panose="020B0604030504040204" pitchFamily="34" charset="0"/>
              </a:rPr>
              <a:t>phản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hồi</a:t>
            </a:r>
            <a:endParaRPr sz="1400" dirty="0">
              <a:latin typeface="Tahoma" panose="020B0604030504040204" pitchFamily="34" charset="0"/>
            </a:endParaRPr>
          </a:p>
        </p:txBody>
      </p:sp>
      <p:cxnSp>
        <p:nvCxnSpPr>
          <p:cNvPr id="28" name="Connector 27"/>
          <p:cNvCxnSpPr/>
          <p:nvPr/>
        </p:nvCxnSpPr>
        <p:spPr>
          <a:xfrm>
            <a:off x="6089904" y="1745803"/>
            <a:ext cx="731520" cy="0"/>
          </a:xfrm>
          <a:prstGeom prst="line">
            <a:avLst/>
          </a:prstGeom>
          <a:ln w="25400">
            <a:solidFill>
              <a:srgbClr val="D9E0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Oval 28"/>
          <p:cNvSpPr/>
          <p:nvPr/>
        </p:nvSpPr>
        <p:spPr>
          <a:xfrm>
            <a:off x="7040880" y="1407474"/>
            <a:ext cx="658368" cy="658368"/>
          </a:xfrm>
          <a:prstGeom prst="ellipse">
            <a:avLst/>
          </a:prstGeom>
          <a:solidFill>
            <a:srgbClr val="2A97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7040880" y="1590355"/>
            <a:ext cx="658368" cy="307777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defRPr sz="1150" b="1">
                <a:solidFill>
                  <a:srgbClr val="FFFFFF"/>
                </a:solidFill>
                <a:latin typeface="Arial"/>
              </a:defRPr>
            </a:pPr>
            <a:r>
              <a:rPr sz="1400" dirty="0">
                <a:latin typeface="Tahoma" panose="020B0604030504040204" pitchFamily="34" charset="0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84848" y="2230435"/>
            <a:ext cx="1188720" cy="5232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defRPr sz="900" b="1">
                <a:solidFill>
                  <a:srgbClr val="2A975D"/>
                </a:solidFill>
                <a:latin typeface="Arial"/>
              </a:defRPr>
            </a:pPr>
            <a:r>
              <a:rPr sz="1400" dirty="0" err="1">
                <a:latin typeface="Tahoma" panose="020B0604030504040204" pitchFamily="34" charset="0"/>
              </a:rPr>
              <a:t>GIÁM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SÁT</a:t>
            </a:r>
            <a:r>
              <a:rPr sz="1400" dirty="0">
                <a:latin typeface="Tahoma" panose="020B0604030504040204" pitchFamily="34" charset="0"/>
              </a:rPr>
              <a:t> &amp; </a:t>
            </a:r>
            <a:r>
              <a:rPr sz="1400" dirty="0" err="1">
                <a:latin typeface="Tahoma" panose="020B0604030504040204" pitchFamily="34" charset="0"/>
              </a:rPr>
              <a:t>NHẮC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HẠN</a:t>
            </a:r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6739128" y="2797363"/>
            <a:ext cx="1280160" cy="5232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defRPr sz="780" b="0">
                <a:solidFill>
                  <a:srgbClr val="202838"/>
                </a:solidFill>
                <a:latin typeface="Arial"/>
              </a:defRPr>
            </a:pPr>
            <a:r>
              <a:rPr sz="1400" dirty="0" err="1">
                <a:latin typeface="Tahoma" panose="020B0604030504040204" pitchFamily="34" charset="0"/>
              </a:rPr>
              <a:t>CĐ</a:t>
            </a:r>
            <a:r>
              <a:rPr sz="1400" dirty="0">
                <a:latin typeface="Tahoma" panose="020B0604030504040204" pitchFamily="34" charset="0"/>
              </a:rPr>
              <a:t> GPG / Ban </a:t>
            </a:r>
            <a:r>
              <a:rPr sz="1400" dirty="0" err="1">
                <a:latin typeface="Tahoma" panose="020B0604030504040204" pitchFamily="34" charset="0"/>
              </a:rPr>
              <a:t>CSNLĐ</a:t>
            </a:r>
            <a:endParaRPr sz="1400" dirty="0">
              <a:latin typeface="Tahoma" panose="020B0604030504040204" pitchFamily="34" charset="0"/>
            </a:endParaRPr>
          </a:p>
        </p:txBody>
      </p:sp>
      <p:cxnSp>
        <p:nvCxnSpPr>
          <p:cNvPr id="33" name="Connector 32"/>
          <p:cNvCxnSpPr/>
          <p:nvPr/>
        </p:nvCxnSpPr>
        <p:spPr>
          <a:xfrm>
            <a:off x="7754112" y="1745803"/>
            <a:ext cx="731520" cy="0"/>
          </a:xfrm>
          <a:prstGeom prst="line">
            <a:avLst/>
          </a:prstGeom>
          <a:ln w="25400">
            <a:solidFill>
              <a:srgbClr val="D9E0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Oval 33"/>
          <p:cNvSpPr/>
          <p:nvPr/>
        </p:nvSpPr>
        <p:spPr>
          <a:xfrm>
            <a:off x="8705088" y="1407474"/>
            <a:ext cx="658368" cy="658368"/>
          </a:xfrm>
          <a:prstGeom prst="ellipse">
            <a:avLst/>
          </a:prstGeom>
          <a:solidFill>
            <a:srgbClr val="F1B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8705088" y="1590355"/>
            <a:ext cx="658368" cy="307777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defRPr sz="1150" b="1">
                <a:solidFill>
                  <a:srgbClr val="FFFFFF"/>
                </a:solidFill>
                <a:latin typeface="Arial"/>
              </a:defRPr>
            </a:pPr>
            <a:r>
              <a:rPr sz="1400" dirty="0">
                <a:latin typeface="Tahoma" panose="020B0604030504040204" pitchFamily="34" charset="0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49056" y="2230435"/>
            <a:ext cx="1188720" cy="307777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defRPr sz="900" b="1">
                <a:solidFill>
                  <a:srgbClr val="F1B419"/>
                </a:solidFill>
                <a:latin typeface="Arial"/>
              </a:defRPr>
            </a:pPr>
            <a:r>
              <a:rPr sz="1400" dirty="0" err="1">
                <a:latin typeface="Tahoma" panose="020B0604030504040204" pitchFamily="34" charset="0"/>
              </a:rPr>
              <a:t>ĐÓNG</a:t>
            </a:r>
            <a:r>
              <a:rPr sz="1400" dirty="0">
                <a:latin typeface="Tahoma" panose="020B0604030504040204" pitchFamily="34" charset="0"/>
              </a:rPr>
              <a:t> HỒ </a:t>
            </a:r>
            <a:r>
              <a:rPr sz="1400" dirty="0" err="1">
                <a:latin typeface="Tahoma" panose="020B0604030504040204" pitchFamily="34" charset="0"/>
              </a:rPr>
              <a:t>SƠ</a:t>
            </a:r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8403336" y="2797363"/>
            <a:ext cx="1280160" cy="738664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defRPr sz="780" b="0">
                <a:solidFill>
                  <a:srgbClr val="202838"/>
                </a:solidFill>
                <a:latin typeface="Arial"/>
              </a:defRPr>
            </a:pPr>
            <a:r>
              <a:rPr sz="1400" dirty="0" err="1">
                <a:latin typeface="Tahoma" panose="020B0604030504040204" pitchFamily="34" charset="0"/>
              </a:rPr>
              <a:t>Kết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quả</a:t>
            </a:r>
            <a:r>
              <a:rPr sz="1400" dirty="0">
                <a:latin typeface="Tahoma" panose="020B0604030504040204" pitchFamily="34" charset="0"/>
              </a:rPr>
              <a:t> • </a:t>
            </a:r>
            <a:r>
              <a:rPr sz="1400" dirty="0" err="1">
                <a:latin typeface="Tahoma" panose="020B0604030504040204" pitchFamily="34" charset="0"/>
              </a:rPr>
              <a:t>bài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học</a:t>
            </a:r>
            <a:r>
              <a:rPr sz="1400" dirty="0">
                <a:latin typeface="Tahoma" panose="020B0604030504040204" pitchFamily="34" charset="0"/>
              </a:rPr>
              <a:t> • </a:t>
            </a:r>
            <a:r>
              <a:rPr sz="1400" dirty="0" err="1">
                <a:latin typeface="Tahoma" panose="020B0604030504040204" pitchFamily="34" charset="0"/>
              </a:rPr>
              <a:t>tài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liệu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lưu</a:t>
            </a:r>
            <a:endParaRPr sz="1400" dirty="0">
              <a:latin typeface="Tahoma" panose="020B0604030504040204" pitchFamily="34" charset="0"/>
            </a:endParaRPr>
          </a:p>
        </p:txBody>
      </p:sp>
      <p:cxnSp>
        <p:nvCxnSpPr>
          <p:cNvPr id="38" name="Connector 37"/>
          <p:cNvCxnSpPr/>
          <p:nvPr/>
        </p:nvCxnSpPr>
        <p:spPr>
          <a:xfrm>
            <a:off x="9418319" y="1745803"/>
            <a:ext cx="731521" cy="0"/>
          </a:xfrm>
          <a:prstGeom prst="line">
            <a:avLst/>
          </a:prstGeom>
          <a:ln w="25400">
            <a:solidFill>
              <a:srgbClr val="D9E0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Oval 38"/>
          <p:cNvSpPr/>
          <p:nvPr/>
        </p:nvSpPr>
        <p:spPr>
          <a:xfrm>
            <a:off x="10369296" y="1407474"/>
            <a:ext cx="658368" cy="658368"/>
          </a:xfrm>
          <a:prstGeom prst="ellipse">
            <a:avLst/>
          </a:prstGeom>
          <a:solidFill>
            <a:srgbClr val="744B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10369296" y="1590355"/>
            <a:ext cx="658368" cy="307777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defRPr sz="1150" b="1">
                <a:solidFill>
                  <a:srgbClr val="FFFFFF"/>
                </a:solidFill>
                <a:latin typeface="Arial"/>
              </a:defRPr>
            </a:pPr>
            <a:r>
              <a:rPr sz="1400" dirty="0">
                <a:latin typeface="Tahoma" panose="020B0604030504040204" pitchFamily="34" charset="0"/>
              </a:rPr>
              <a:t>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113264" y="2230435"/>
            <a:ext cx="1188720" cy="5232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defRPr sz="900" b="1">
                <a:solidFill>
                  <a:srgbClr val="744BB4"/>
                </a:solidFill>
                <a:latin typeface="Arial"/>
              </a:defRPr>
            </a:pPr>
            <a:r>
              <a:rPr sz="1400" dirty="0">
                <a:latin typeface="Tahoma" panose="020B0604030504040204" pitchFamily="34" charset="0"/>
              </a:rPr>
              <a:t>DASHBOARD &amp; BÁO CÁO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067544" y="2797363"/>
            <a:ext cx="1280160" cy="5232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defRPr sz="780" b="0">
                <a:solidFill>
                  <a:srgbClr val="202838"/>
                </a:solidFill>
                <a:latin typeface="Arial"/>
              </a:defRPr>
            </a:pPr>
            <a:r>
              <a:rPr sz="1400" dirty="0" err="1">
                <a:latin typeface="Tahoma" panose="020B0604030504040204" pitchFamily="34" charset="0"/>
              </a:rPr>
              <a:t>Tháng</a:t>
            </a:r>
            <a:r>
              <a:rPr sz="1400" dirty="0">
                <a:latin typeface="Tahoma" panose="020B0604030504040204" pitchFamily="34" charset="0"/>
              </a:rPr>
              <a:t> • </a:t>
            </a:r>
            <a:r>
              <a:rPr sz="1400" dirty="0" err="1">
                <a:latin typeface="Tahoma" panose="020B0604030504040204" pitchFamily="34" charset="0"/>
              </a:rPr>
              <a:t>quý</a:t>
            </a:r>
            <a:r>
              <a:rPr sz="1400" dirty="0">
                <a:latin typeface="Tahoma" panose="020B0604030504040204" pitchFamily="34" charset="0"/>
              </a:rPr>
              <a:t> • </a:t>
            </a:r>
            <a:r>
              <a:rPr sz="1400" dirty="0" err="1">
                <a:latin typeface="Tahoma" panose="020B0604030504040204" pitchFamily="34" charset="0"/>
              </a:rPr>
              <a:t>BLĐ</a:t>
            </a:r>
            <a:r>
              <a:rPr sz="1400" dirty="0">
                <a:latin typeface="Tahoma" panose="020B0604030504040204" pitchFamily="34" charset="0"/>
              </a:rPr>
              <a:t> • </a:t>
            </a:r>
            <a:r>
              <a:rPr sz="1400" dirty="0" err="1">
                <a:latin typeface="Tahoma" panose="020B0604030504040204" pitchFamily="34" charset="0"/>
              </a:rPr>
              <a:t>kiểm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tra</a:t>
            </a:r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43" name="Rounded Rectangle 42"/>
          <p:cNvSpPr/>
          <p:nvPr/>
        </p:nvSpPr>
        <p:spPr>
          <a:xfrm>
            <a:off x="868680" y="4150674"/>
            <a:ext cx="3291840" cy="1670183"/>
          </a:xfrm>
          <a:prstGeom prst="roundRect">
            <a:avLst/>
          </a:prstGeom>
          <a:solidFill>
            <a:srgbClr val="FFFFFF"/>
          </a:solidFill>
          <a:ln>
            <a:solidFill>
              <a:srgbClr val="D9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1069848" y="4278691"/>
            <a:ext cx="2926079" cy="307777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310" b="1">
                <a:solidFill>
                  <a:srgbClr val="051F71"/>
                </a:solidFill>
                <a:latin typeface="Arial"/>
              </a:defRPr>
            </a:pPr>
            <a:r>
              <a:rPr sz="1400" dirty="0">
                <a:latin typeface="Tahoma" panose="020B0604030504040204" pitchFamily="34" charset="0"/>
              </a:rPr>
              <a:t>QUYỀN </a:t>
            </a:r>
            <a:r>
              <a:rPr sz="1400" dirty="0" err="1">
                <a:latin typeface="Tahoma" panose="020B0604030504040204" pitchFamily="34" charset="0"/>
              </a:rPr>
              <a:t>TRUY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CẬP</a:t>
            </a:r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1095828" y="4497419"/>
            <a:ext cx="2852928" cy="11849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50"/>
              </a:spcAft>
              <a:defRPr sz="830">
                <a:solidFill>
                  <a:srgbClr val="202838"/>
                </a:solidFill>
                <a:latin typeface="Arial"/>
              </a:defRPr>
            </a:pPr>
            <a:r>
              <a:rPr sz="1400" dirty="0">
                <a:latin typeface="Tahoma" panose="020B0604030504040204" pitchFamily="34" charset="0"/>
              </a:rPr>
              <a:t>• </a:t>
            </a:r>
            <a:r>
              <a:rPr sz="1400" dirty="0" err="1">
                <a:latin typeface="Tahoma" panose="020B0604030504040204" pitchFamily="34" charset="0"/>
              </a:rPr>
              <a:t>CĐCS</a:t>
            </a:r>
            <a:r>
              <a:rPr sz="1400" dirty="0">
                <a:latin typeface="Tahoma" panose="020B0604030504040204" pitchFamily="34" charset="0"/>
              </a:rPr>
              <a:t>: </a:t>
            </a:r>
            <a:r>
              <a:rPr sz="1400" dirty="0" err="1">
                <a:latin typeface="Tahoma" panose="020B0604030504040204" pitchFamily="34" charset="0"/>
              </a:rPr>
              <a:t>dữ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liệu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đơn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vị</a:t>
            </a:r>
            <a:r>
              <a:rPr sz="1400" dirty="0">
                <a:latin typeface="Tahoma" panose="020B0604030504040204" pitchFamily="34" charset="0"/>
              </a:rPr>
              <a:t>.</a:t>
            </a:r>
          </a:p>
          <a:p>
            <a:pPr>
              <a:spcAft>
                <a:spcPts val="550"/>
              </a:spcAft>
              <a:defRPr sz="830">
                <a:solidFill>
                  <a:srgbClr val="202838"/>
                </a:solidFill>
                <a:latin typeface="Arial"/>
              </a:defRPr>
            </a:pPr>
            <a:r>
              <a:rPr sz="1400" dirty="0">
                <a:latin typeface="Tahoma" panose="020B0604030504040204" pitchFamily="34" charset="0"/>
              </a:rPr>
              <a:t>• </a:t>
            </a:r>
            <a:r>
              <a:rPr sz="1400" dirty="0" err="1">
                <a:latin typeface="Tahoma" panose="020B0604030504040204" pitchFamily="34" charset="0"/>
              </a:rPr>
              <a:t>CĐ</a:t>
            </a:r>
            <a:r>
              <a:rPr sz="1400" dirty="0">
                <a:latin typeface="Tahoma" panose="020B0604030504040204" pitchFamily="34" charset="0"/>
              </a:rPr>
              <a:t> GPG: </a:t>
            </a:r>
            <a:r>
              <a:rPr sz="1400" dirty="0" err="1">
                <a:latin typeface="Tahoma" panose="020B0604030504040204" pitchFamily="34" charset="0"/>
              </a:rPr>
              <a:t>toàn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hệ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thống</a:t>
            </a:r>
            <a:r>
              <a:rPr sz="1400" dirty="0">
                <a:latin typeface="Tahoma" panose="020B0604030504040204" pitchFamily="34" charset="0"/>
              </a:rPr>
              <a:t>.</a:t>
            </a:r>
          </a:p>
          <a:p>
            <a:pPr>
              <a:spcAft>
                <a:spcPts val="550"/>
              </a:spcAft>
              <a:defRPr sz="830">
                <a:solidFill>
                  <a:srgbClr val="202838"/>
                </a:solidFill>
                <a:latin typeface="Arial"/>
              </a:defRPr>
            </a:pPr>
            <a:r>
              <a:rPr sz="1400" dirty="0">
                <a:latin typeface="Tahoma" panose="020B0604030504040204" pitchFamily="34" charset="0"/>
              </a:rPr>
              <a:t>• Ban </a:t>
            </a:r>
            <a:r>
              <a:rPr sz="1400" dirty="0" err="1">
                <a:latin typeface="Tahoma" panose="020B0604030504040204" pitchFamily="34" charset="0"/>
              </a:rPr>
              <a:t>CSNLĐ</a:t>
            </a:r>
            <a:r>
              <a:rPr sz="1400" dirty="0">
                <a:latin typeface="Tahoma" panose="020B0604030504040204" pitchFamily="34" charset="0"/>
              </a:rPr>
              <a:t>: </a:t>
            </a:r>
            <a:r>
              <a:rPr sz="1400" dirty="0" err="1">
                <a:latin typeface="Tahoma" panose="020B0604030504040204" pitchFamily="34" charset="0"/>
              </a:rPr>
              <a:t>giám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sát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chăm</a:t>
            </a:r>
            <a:r>
              <a:rPr sz="1400" dirty="0">
                <a:latin typeface="Tahoma" panose="020B0604030504040204" pitchFamily="34" charset="0"/>
              </a:rPr>
              <a:t> lo.</a:t>
            </a:r>
          </a:p>
          <a:p>
            <a:pPr>
              <a:spcAft>
                <a:spcPts val="550"/>
              </a:spcAft>
              <a:defRPr sz="830">
                <a:solidFill>
                  <a:srgbClr val="202838"/>
                </a:solidFill>
                <a:latin typeface="Arial"/>
              </a:defRPr>
            </a:pPr>
            <a:r>
              <a:rPr sz="1400" dirty="0">
                <a:latin typeface="Tahoma" panose="020B0604030504040204" pitchFamily="34" charset="0"/>
              </a:rPr>
              <a:t>• </a:t>
            </a:r>
            <a:r>
              <a:rPr sz="1400" dirty="0" err="1">
                <a:latin typeface="Tahoma" panose="020B0604030504040204" pitchFamily="34" charset="0"/>
              </a:rPr>
              <a:t>BLĐ</a:t>
            </a:r>
            <a:r>
              <a:rPr sz="1400" dirty="0">
                <a:latin typeface="Tahoma" panose="020B0604030504040204" pitchFamily="34" charset="0"/>
              </a:rPr>
              <a:t>: dashboard </a:t>
            </a:r>
            <a:r>
              <a:rPr sz="1400" dirty="0" err="1">
                <a:latin typeface="Tahoma" panose="020B0604030504040204" pitchFamily="34" charset="0"/>
              </a:rPr>
              <a:t>tổng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hợp</a:t>
            </a:r>
            <a:r>
              <a:rPr sz="1400" dirty="0">
                <a:latin typeface="Tahoma" panose="020B0604030504040204" pitchFamily="34" charset="0"/>
              </a:rPr>
              <a:t>.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434840" y="4150674"/>
            <a:ext cx="3291840" cy="1670175"/>
          </a:xfrm>
          <a:prstGeom prst="roundRect">
            <a:avLst/>
          </a:prstGeom>
          <a:solidFill>
            <a:srgbClr val="FFFFFF"/>
          </a:solidFill>
          <a:ln>
            <a:solidFill>
              <a:srgbClr val="D9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4636007" y="4278691"/>
            <a:ext cx="2926080" cy="307777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310" b="1">
                <a:solidFill>
                  <a:srgbClr val="118F91"/>
                </a:solidFill>
                <a:latin typeface="Arial"/>
              </a:defRPr>
            </a:pPr>
            <a:r>
              <a:rPr sz="1400" dirty="0" err="1">
                <a:latin typeface="Tahoma" panose="020B0604030504040204" pitchFamily="34" charset="0"/>
              </a:rPr>
              <a:t>KIỂM</a:t>
            </a:r>
            <a:r>
              <a:rPr sz="1400" dirty="0">
                <a:latin typeface="Tahoma" panose="020B0604030504040204" pitchFamily="34" charset="0"/>
              </a:rPr>
              <a:t> SOÁT </a:t>
            </a:r>
            <a:r>
              <a:rPr sz="1400" dirty="0" err="1">
                <a:latin typeface="Tahoma" panose="020B0604030504040204" pitchFamily="34" charset="0"/>
              </a:rPr>
              <a:t>DỮ</a:t>
            </a:r>
            <a:r>
              <a:rPr sz="1400" dirty="0">
                <a:latin typeface="Tahoma" panose="020B0604030504040204" pitchFamily="34" charset="0"/>
              </a:rPr>
              <a:t> LIỆU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661988" y="4497419"/>
            <a:ext cx="2852928" cy="11849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50"/>
              </a:spcAft>
              <a:defRPr sz="830">
                <a:solidFill>
                  <a:srgbClr val="202838"/>
                </a:solidFill>
                <a:latin typeface="Arial"/>
              </a:defRPr>
            </a:pPr>
            <a:r>
              <a:rPr sz="1400" dirty="0">
                <a:latin typeface="Tahoma" panose="020B0604030504040204" pitchFamily="34" charset="0"/>
              </a:rPr>
              <a:t>• </a:t>
            </a:r>
            <a:r>
              <a:rPr sz="1400" dirty="0" err="1">
                <a:latin typeface="Tahoma" panose="020B0604030504040204" pitchFamily="34" charset="0"/>
              </a:rPr>
              <a:t>Lịch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sử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thay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đổi</a:t>
            </a:r>
            <a:r>
              <a:rPr sz="1400" dirty="0">
                <a:latin typeface="Tahoma" panose="020B0604030504040204" pitchFamily="34" charset="0"/>
              </a:rPr>
              <a:t>.</a:t>
            </a:r>
          </a:p>
          <a:p>
            <a:pPr>
              <a:spcAft>
                <a:spcPts val="550"/>
              </a:spcAft>
              <a:defRPr sz="830">
                <a:solidFill>
                  <a:srgbClr val="202838"/>
                </a:solidFill>
                <a:latin typeface="Arial"/>
              </a:defRPr>
            </a:pPr>
            <a:r>
              <a:rPr sz="1400" dirty="0">
                <a:latin typeface="Tahoma" panose="020B0604030504040204" pitchFamily="34" charset="0"/>
              </a:rPr>
              <a:t>• Tài </a:t>
            </a:r>
            <a:r>
              <a:rPr sz="1400" dirty="0" err="1">
                <a:latin typeface="Tahoma" panose="020B0604030504040204" pitchFamily="34" charset="0"/>
              </a:rPr>
              <a:t>liệu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đính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kèm</a:t>
            </a:r>
            <a:r>
              <a:rPr sz="1400" dirty="0">
                <a:latin typeface="Tahoma" panose="020B0604030504040204" pitchFamily="34" charset="0"/>
              </a:rPr>
              <a:t>.</a:t>
            </a:r>
          </a:p>
          <a:p>
            <a:pPr>
              <a:spcAft>
                <a:spcPts val="550"/>
              </a:spcAft>
              <a:defRPr sz="830">
                <a:solidFill>
                  <a:srgbClr val="202838"/>
                </a:solidFill>
                <a:latin typeface="Arial"/>
              </a:defRPr>
            </a:pPr>
            <a:r>
              <a:rPr sz="1400" dirty="0">
                <a:latin typeface="Tahoma" panose="020B0604030504040204" pitchFamily="34" charset="0"/>
              </a:rPr>
              <a:t>• </a:t>
            </a:r>
            <a:r>
              <a:rPr sz="1400" dirty="0" err="1">
                <a:latin typeface="Tahoma" panose="020B0604030504040204" pitchFamily="34" charset="0"/>
              </a:rPr>
              <a:t>Trạng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thái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và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người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cập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nhật</a:t>
            </a:r>
            <a:r>
              <a:rPr sz="1400" dirty="0">
                <a:latin typeface="Tahoma" panose="020B0604030504040204" pitchFamily="34" charset="0"/>
              </a:rPr>
              <a:t>.</a:t>
            </a:r>
          </a:p>
          <a:p>
            <a:pPr>
              <a:spcAft>
                <a:spcPts val="550"/>
              </a:spcAft>
              <a:defRPr sz="830">
                <a:solidFill>
                  <a:srgbClr val="202838"/>
                </a:solidFill>
                <a:latin typeface="Arial"/>
              </a:defRPr>
            </a:pPr>
            <a:r>
              <a:rPr sz="1400" dirty="0">
                <a:latin typeface="Tahoma" panose="020B0604030504040204" pitchFamily="34" charset="0"/>
              </a:rPr>
              <a:t>• </a:t>
            </a:r>
            <a:r>
              <a:rPr sz="1400" dirty="0" err="1">
                <a:latin typeface="Tahoma" panose="020B0604030504040204" pitchFamily="34" charset="0"/>
              </a:rPr>
              <a:t>Phân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quyền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theo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vai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trò</a:t>
            </a:r>
            <a:r>
              <a:rPr sz="1400" dirty="0">
                <a:latin typeface="Tahoma" panose="020B0604030504040204" pitchFamily="34" charset="0"/>
              </a:rPr>
              <a:t>.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001000" y="4150674"/>
            <a:ext cx="3291840" cy="1756345"/>
          </a:xfrm>
          <a:prstGeom prst="roundRect">
            <a:avLst/>
          </a:prstGeom>
          <a:solidFill>
            <a:srgbClr val="FFFFFF"/>
          </a:solidFill>
          <a:ln>
            <a:solidFill>
              <a:srgbClr val="D9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8202168" y="4278691"/>
            <a:ext cx="2926079" cy="307777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310" b="1">
                <a:solidFill>
                  <a:srgbClr val="E87823"/>
                </a:solidFill>
                <a:latin typeface="Arial"/>
              </a:defRPr>
            </a:pPr>
            <a:r>
              <a:rPr sz="1400" dirty="0" err="1">
                <a:latin typeface="Tahoma" panose="020B0604030504040204" pitchFamily="34" charset="0"/>
              </a:rPr>
              <a:t>ƯU</a:t>
            </a:r>
            <a:r>
              <a:rPr sz="1400" dirty="0">
                <a:latin typeface="Tahoma" panose="020B0604030504040204" pitchFamily="34" charset="0"/>
              </a:rPr>
              <a:t> TIÊN </a:t>
            </a:r>
            <a:r>
              <a:rPr sz="1400" dirty="0" err="1">
                <a:latin typeface="Tahoma" panose="020B0604030504040204" pitchFamily="34" charset="0"/>
              </a:rPr>
              <a:t>TRIỂN</a:t>
            </a:r>
            <a:r>
              <a:rPr sz="1400" dirty="0">
                <a:latin typeface="Tahoma" panose="020B0604030504040204" pitchFamily="34" charset="0"/>
              </a:rPr>
              <a:t> KHAI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228148" y="4497419"/>
            <a:ext cx="2852928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50"/>
              </a:spcAft>
              <a:defRPr sz="830">
                <a:solidFill>
                  <a:srgbClr val="202838"/>
                </a:solidFill>
                <a:latin typeface="Arial"/>
              </a:defRPr>
            </a:pPr>
            <a:r>
              <a:rPr sz="1400" dirty="0">
                <a:latin typeface="Tahoma" panose="020B0604030504040204" pitchFamily="34" charset="0"/>
              </a:rPr>
              <a:t>• Giai </a:t>
            </a:r>
            <a:r>
              <a:rPr sz="1400" dirty="0" err="1">
                <a:latin typeface="Tahoma" panose="020B0604030504040204" pitchFamily="34" charset="0"/>
              </a:rPr>
              <a:t>đoạn</a:t>
            </a:r>
            <a:r>
              <a:rPr sz="1400" dirty="0">
                <a:latin typeface="Tahoma" panose="020B0604030504040204" pitchFamily="34" charset="0"/>
              </a:rPr>
              <a:t> 1: </a:t>
            </a:r>
            <a:r>
              <a:rPr sz="1400" dirty="0" err="1">
                <a:latin typeface="Tahoma" panose="020B0604030504040204" pitchFamily="34" charset="0"/>
              </a:rPr>
              <a:t>dữ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liệu</a:t>
            </a:r>
            <a:r>
              <a:rPr sz="1400" dirty="0">
                <a:latin typeface="Tahoma" panose="020B0604030504040204" pitchFamily="34" charset="0"/>
              </a:rPr>
              <a:t> + </a:t>
            </a:r>
            <a:r>
              <a:rPr sz="1400" dirty="0" err="1">
                <a:latin typeface="Tahoma" panose="020B0604030504040204" pitchFamily="34" charset="0"/>
              </a:rPr>
              <a:t>báo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cáo</a:t>
            </a:r>
            <a:r>
              <a:rPr sz="1400" dirty="0">
                <a:latin typeface="Tahoma" panose="020B0604030504040204" pitchFamily="34" charset="0"/>
              </a:rPr>
              <a:t>.</a:t>
            </a:r>
          </a:p>
          <a:p>
            <a:pPr>
              <a:spcAft>
                <a:spcPts val="550"/>
              </a:spcAft>
              <a:defRPr sz="830">
                <a:solidFill>
                  <a:srgbClr val="202838"/>
                </a:solidFill>
                <a:latin typeface="Arial"/>
              </a:defRPr>
            </a:pPr>
            <a:r>
              <a:rPr sz="1400" dirty="0">
                <a:latin typeface="Tahoma" panose="020B0604030504040204" pitchFamily="34" charset="0"/>
              </a:rPr>
              <a:t>• Giai </a:t>
            </a:r>
            <a:r>
              <a:rPr sz="1400" dirty="0" err="1">
                <a:latin typeface="Tahoma" panose="020B0604030504040204" pitchFamily="34" charset="0"/>
              </a:rPr>
              <a:t>đoạn</a:t>
            </a:r>
            <a:r>
              <a:rPr sz="1400" dirty="0">
                <a:latin typeface="Tahoma" panose="020B0604030504040204" pitchFamily="34" charset="0"/>
              </a:rPr>
              <a:t> 2: workflow + dashboard.</a:t>
            </a:r>
          </a:p>
          <a:p>
            <a:pPr>
              <a:spcAft>
                <a:spcPts val="550"/>
              </a:spcAft>
              <a:defRPr sz="830">
                <a:solidFill>
                  <a:srgbClr val="202838"/>
                </a:solidFill>
                <a:latin typeface="Arial"/>
              </a:defRPr>
            </a:pPr>
            <a:r>
              <a:rPr sz="1400" dirty="0">
                <a:latin typeface="Tahoma" panose="020B0604030504040204" pitchFamily="34" charset="0"/>
              </a:rPr>
              <a:t>• Giai </a:t>
            </a:r>
            <a:r>
              <a:rPr sz="1400" dirty="0" err="1">
                <a:latin typeface="Tahoma" panose="020B0604030504040204" pitchFamily="34" charset="0"/>
              </a:rPr>
              <a:t>đoạn</a:t>
            </a:r>
            <a:r>
              <a:rPr sz="1400" dirty="0">
                <a:latin typeface="Tahoma" panose="020B0604030504040204" pitchFamily="34" charset="0"/>
              </a:rPr>
              <a:t> 3: </a:t>
            </a:r>
            <a:r>
              <a:rPr sz="1400" dirty="0" err="1">
                <a:latin typeface="Tahoma" panose="020B0604030504040204" pitchFamily="34" charset="0"/>
              </a:rPr>
              <a:t>tích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hợp</a:t>
            </a:r>
            <a:r>
              <a:rPr sz="1400" dirty="0">
                <a:latin typeface="Tahoma" panose="020B0604030504040204" pitchFamily="34" charset="0"/>
              </a:rPr>
              <a:t> HR/Finance.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1F7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56032"/>
            <a:ext cx="1360170" cy="777240"/>
          </a:xfrm>
          <a:prstGeom prst="rect">
            <a:avLst/>
          </a:prstGeom>
        </p:spPr>
      </p:pic>
      <p:pic>
        <p:nvPicPr>
          <p:cNvPr id="3" name="Picture 2" descr="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7080" y="210312"/>
            <a:ext cx="929800" cy="8412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5800" y="1325880"/>
            <a:ext cx="7224486" cy="954107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5600" b="1">
                <a:solidFill>
                  <a:srgbClr val="F1B419"/>
                </a:solidFill>
                <a:latin typeface="Arial Narrow"/>
              </a:defRPr>
            </a:pPr>
            <a:r>
              <a:rPr lang="vi-VN" dirty="0">
                <a:latin typeface="Tahoma" panose="020B0604030504040204" pitchFamily="34" charset="0"/>
              </a:rPr>
              <a:t>PHẦN </a:t>
            </a:r>
            <a:r>
              <a:rPr dirty="0">
                <a:latin typeface="Tahoma" panose="020B0604030504040204" pitchFamily="34" charset="0"/>
              </a:rPr>
              <a:t>IV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514600"/>
            <a:ext cx="10241280" cy="55399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Arial Narrow"/>
              </a:defRPr>
            </a:pPr>
            <a:r>
              <a:rPr dirty="0">
                <a:latin typeface="Tahoma" panose="020B0604030504040204" pitchFamily="34" charset="0"/>
              </a:rPr>
              <a:t>BÁO CÁO – DASHBOARD – </a:t>
            </a:r>
            <a:r>
              <a:rPr dirty="0" err="1">
                <a:latin typeface="Tahoma" panose="020B0604030504040204" pitchFamily="34" charset="0"/>
              </a:rPr>
              <a:t>GIÁM</a:t>
            </a:r>
            <a:r>
              <a:rPr dirty="0">
                <a:latin typeface="Tahoma" panose="020B0604030504040204" pitchFamily="34" charset="0"/>
              </a:rPr>
              <a:t> </a:t>
            </a:r>
            <a:r>
              <a:rPr dirty="0" err="1">
                <a:latin typeface="Tahoma" panose="020B0604030504040204" pitchFamily="34" charset="0"/>
              </a:rPr>
              <a:t>SÁT</a:t>
            </a:r>
            <a:endParaRPr dirty="0">
              <a:latin typeface="Tahoma" panose="020B0604030504040204" pitchFamily="34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31520" y="4800600"/>
            <a:ext cx="2286000" cy="45720"/>
          </a:xfrm>
          <a:prstGeom prst="rect">
            <a:avLst/>
          </a:prstGeom>
          <a:solidFill>
            <a:srgbClr val="F1B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Tahoma" panose="020B060403050404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49808" y="5074920"/>
            <a:ext cx="9875520" cy="26161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Arial"/>
              </a:defRPr>
            </a:pPr>
            <a:r>
              <a:rPr dirty="0" err="1">
                <a:latin typeface="Tahoma" panose="020B0604030504040204" pitchFamily="34" charset="0"/>
              </a:rPr>
              <a:t>HỘI</a:t>
            </a:r>
            <a:r>
              <a:rPr dirty="0">
                <a:latin typeface="Tahoma" panose="020B0604030504040204" pitchFamily="34" charset="0"/>
              </a:rPr>
              <a:t> </a:t>
            </a:r>
            <a:r>
              <a:rPr dirty="0" err="1">
                <a:latin typeface="Tahoma" panose="020B0604030504040204" pitchFamily="34" charset="0"/>
              </a:rPr>
              <a:t>NGHỊ</a:t>
            </a:r>
            <a:r>
              <a:rPr dirty="0">
                <a:latin typeface="Tahoma" panose="020B0604030504040204" pitchFamily="34" charset="0"/>
              </a:rPr>
              <a:t> </a:t>
            </a:r>
            <a:r>
              <a:rPr dirty="0" err="1">
                <a:latin typeface="Tahoma" panose="020B0604030504040204" pitchFamily="34" charset="0"/>
              </a:rPr>
              <a:t>NGƯỜI</a:t>
            </a:r>
            <a:r>
              <a:rPr dirty="0">
                <a:latin typeface="Tahoma" panose="020B0604030504040204" pitchFamily="34" charset="0"/>
              </a:rPr>
              <a:t> LAO </a:t>
            </a:r>
            <a:r>
              <a:rPr dirty="0" err="1">
                <a:latin typeface="Tahoma" panose="020B0604030504040204" pitchFamily="34" charset="0"/>
              </a:rPr>
              <a:t>ĐỘNG</a:t>
            </a:r>
            <a:r>
              <a:rPr dirty="0">
                <a:latin typeface="Tahoma" panose="020B0604030504040204" pitchFamily="34" charset="0"/>
              </a:rPr>
              <a:t> – 15/08/2026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00800"/>
            <a:ext cx="365760" cy="23083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Arial"/>
              </a:defRPr>
            </a:pPr>
            <a:r>
              <a:rPr dirty="0">
                <a:latin typeface="Tahoma" panose="020B0604030504040204" pitchFamily="34" charset="0"/>
              </a:rPr>
              <a:t>17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608" y="82296"/>
            <a:ext cx="960120" cy="548640"/>
          </a:xfrm>
          <a:prstGeom prst="rect">
            <a:avLst/>
          </a:prstGeom>
        </p:spPr>
      </p:pic>
      <p:pic>
        <p:nvPicPr>
          <p:cNvPr id="3" name="Picture 2" descr="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64008"/>
            <a:ext cx="646818" cy="585216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274320" y="749808"/>
            <a:ext cx="11649456" cy="22860"/>
          </a:xfrm>
          <a:prstGeom prst="rect">
            <a:avLst/>
          </a:prstGeom>
          <a:solidFill>
            <a:srgbClr val="051F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Tahoma" panose="020B0604030504040204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20040" y="6483096"/>
            <a:ext cx="2077813" cy="22313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051F71"/>
                </a:solidFill>
                <a:latin typeface="Arial"/>
              </a:defRPr>
            </a:pPr>
            <a:r>
              <a:rPr dirty="0">
                <a:latin typeface="Tahoma" panose="020B0604030504040204" pitchFamily="34" charset="0"/>
              </a:rPr>
              <a:t>CÔNG ĐOÀN GPG | GPG TRADE UNION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85370" y="6473952"/>
            <a:ext cx="2087430" cy="21839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19">
                <a:solidFill>
                  <a:srgbClr val="677180"/>
                </a:solidFill>
                <a:latin typeface="Arial"/>
              </a:defRPr>
            </a:pPr>
            <a:r>
              <a:rPr dirty="0">
                <a:latin typeface="Tahoma" panose="020B0604030504040204" pitchFamily="34" charset="0"/>
              </a:rPr>
              <a:t>IV. BÁO CÁO – DASHBOARD – </a:t>
            </a:r>
            <a:r>
              <a:rPr dirty="0" err="1">
                <a:latin typeface="Tahoma" panose="020B0604030504040204" pitchFamily="34" charset="0"/>
              </a:rPr>
              <a:t>GIÁM</a:t>
            </a:r>
            <a:r>
              <a:rPr dirty="0">
                <a:latin typeface="Tahoma" panose="020B0604030504040204" pitchFamily="34" charset="0"/>
              </a:rPr>
              <a:t> </a:t>
            </a:r>
            <a:r>
              <a:rPr dirty="0" err="1">
                <a:latin typeface="Tahoma" panose="020B0604030504040204" pitchFamily="34" charset="0"/>
              </a:rPr>
              <a:t>SÁT</a:t>
            </a:r>
            <a:endParaRPr dirty="0">
              <a:latin typeface="Tahoma" panose="020B0604030504040204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393198" y="6455664"/>
            <a:ext cx="338554" cy="2385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051F71"/>
                </a:solidFill>
                <a:latin typeface="Arial"/>
              </a:defRPr>
            </a:pPr>
            <a:r>
              <a:rPr dirty="0">
                <a:latin typeface="Tahoma" panose="020B0604030504040204" pitchFamily="34" charset="0"/>
              </a:rPr>
              <a:t>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" y="222239"/>
            <a:ext cx="10921580" cy="50013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50" b="1">
                <a:solidFill>
                  <a:srgbClr val="051F71"/>
                </a:solidFill>
                <a:latin typeface="Arial Narrow"/>
              </a:defRPr>
            </a:pPr>
            <a:r>
              <a:rPr dirty="0" err="1">
                <a:latin typeface="Tahoma" panose="020B0604030504040204" pitchFamily="34" charset="0"/>
              </a:rPr>
              <a:t>KIẾN</a:t>
            </a:r>
            <a:r>
              <a:rPr dirty="0">
                <a:latin typeface="Tahoma" panose="020B0604030504040204" pitchFamily="34" charset="0"/>
              </a:rPr>
              <a:t> TRÚC BÁO CÁO CÔNG ĐOÀN – TỪ </a:t>
            </a:r>
            <a:r>
              <a:rPr dirty="0" err="1">
                <a:latin typeface="Tahoma" panose="020B0604030504040204" pitchFamily="34" charset="0"/>
              </a:rPr>
              <a:t>ĐƠN</a:t>
            </a:r>
            <a:r>
              <a:rPr dirty="0">
                <a:latin typeface="Tahoma" panose="020B0604030504040204" pitchFamily="34" charset="0"/>
              </a:rPr>
              <a:t> </a:t>
            </a:r>
            <a:r>
              <a:rPr dirty="0" err="1">
                <a:latin typeface="Tahoma" panose="020B0604030504040204" pitchFamily="34" charset="0"/>
              </a:rPr>
              <a:t>VỊ</a:t>
            </a:r>
            <a:r>
              <a:rPr dirty="0">
                <a:latin typeface="Tahoma" panose="020B0604030504040204" pitchFamily="34" charset="0"/>
              </a:rPr>
              <a:t> </a:t>
            </a:r>
            <a:r>
              <a:rPr dirty="0" err="1">
                <a:latin typeface="Tahoma" panose="020B0604030504040204" pitchFamily="34" charset="0"/>
              </a:rPr>
              <a:t>LÊN</a:t>
            </a:r>
            <a:r>
              <a:rPr dirty="0">
                <a:latin typeface="Tahoma" panose="020B0604030504040204" pitchFamily="34" charset="0"/>
              </a:rPr>
              <a:t> </a:t>
            </a:r>
            <a:r>
              <a:rPr dirty="0" err="1">
                <a:latin typeface="Tahoma" panose="020B0604030504040204" pitchFamily="34" charset="0"/>
              </a:rPr>
              <a:t>HỆ</a:t>
            </a:r>
            <a:r>
              <a:rPr dirty="0">
                <a:latin typeface="Tahoma" panose="020B0604030504040204" pitchFamily="34" charset="0"/>
              </a:rPr>
              <a:t> </a:t>
            </a:r>
            <a:r>
              <a:rPr dirty="0" err="1">
                <a:latin typeface="Tahoma" panose="020B0604030504040204" pitchFamily="34" charset="0"/>
              </a:rPr>
              <a:t>THỐNG</a:t>
            </a:r>
            <a:endParaRPr dirty="0">
              <a:latin typeface="Tahoma" panose="020B0604030504040204" pitchFamily="34" charset="0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594360" y="1600200"/>
            <a:ext cx="3429000" cy="4343400"/>
          </a:xfrm>
          <a:prstGeom prst="roundRect">
            <a:avLst/>
          </a:prstGeom>
          <a:solidFill>
            <a:srgbClr val="FFFFFF"/>
          </a:solidFill>
          <a:ln>
            <a:solidFill>
              <a:srgbClr val="D9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Tahoma" panose="020B0604030504040204" pitchFamily="34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95528" y="1728216"/>
            <a:ext cx="3063240" cy="293927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310" b="1">
                <a:solidFill>
                  <a:srgbClr val="051F71"/>
                </a:solidFill>
                <a:latin typeface="Arial"/>
              </a:defRPr>
            </a:pPr>
            <a:r>
              <a:rPr dirty="0">
                <a:latin typeface="Tahoma" panose="020B0604030504040204" pitchFamily="34" charset="0"/>
              </a:rPr>
              <a:t>BÁO CÁO </a:t>
            </a:r>
            <a:r>
              <a:rPr dirty="0" err="1">
                <a:latin typeface="Tahoma" panose="020B0604030504040204" pitchFamily="34" charset="0"/>
              </a:rPr>
              <a:t>THÁNG</a:t>
            </a:r>
            <a:r>
              <a:rPr dirty="0">
                <a:latin typeface="Tahoma" panose="020B0604030504040204" pitchFamily="34" charset="0"/>
              </a:rPr>
              <a:t> – </a:t>
            </a:r>
            <a:r>
              <a:rPr dirty="0" err="1">
                <a:latin typeface="Tahoma" panose="020B0604030504040204" pitchFamily="34" charset="0"/>
              </a:rPr>
              <a:t>CĐCS</a:t>
            </a:r>
            <a:r>
              <a:rPr dirty="0">
                <a:latin typeface="Tahoma" panose="020B0604030504040204" pitchFamily="34" charset="0"/>
              </a:rPr>
              <a:t> → </a:t>
            </a:r>
            <a:r>
              <a:rPr dirty="0" err="1">
                <a:latin typeface="Tahoma" panose="020B0604030504040204" pitchFamily="34" charset="0"/>
              </a:rPr>
              <a:t>CĐ</a:t>
            </a:r>
            <a:r>
              <a:rPr dirty="0">
                <a:latin typeface="Tahoma" panose="020B0604030504040204" pitchFamily="34" charset="0"/>
              </a:rPr>
              <a:t> GPG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3816" y="2176272"/>
            <a:ext cx="2990088" cy="26314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50"/>
              </a:spcAft>
              <a:defRPr sz="960">
                <a:solidFill>
                  <a:srgbClr val="202838"/>
                </a:solidFill>
                <a:latin typeface="Arial"/>
              </a:defRPr>
            </a:pPr>
            <a:r>
              <a:rPr sz="1400" dirty="0">
                <a:latin typeface="Tahoma" panose="020B0604030504040204" pitchFamily="34" charset="0"/>
              </a:rPr>
              <a:t>• Đoàn </a:t>
            </a:r>
            <a:r>
              <a:rPr sz="1400" dirty="0" err="1">
                <a:latin typeface="Tahoma" panose="020B0604030504040204" pitchFamily="34" charset="0"/>
              </a:rPr>
              <a:t>viên</a:t>
            </a:r>
            <a:r>
              <a:rPr sz="1400" dirty="0">
                <a:latin typeface="Tahoma" panose="020B0604030504040204" pitchFamily="34" charset="0"/>
              </a:rPr>
              <a:t>/</a:t>
            </a:r>
            <a:r>
              <a:rPr sz="1400" dirty="0" err="1">
                <a:latin typeface="Tahoma" panose="020B0604030504040204" pitchFamily="34" charset="0"/>
              </a:rPr>
              <a:t>NLĐ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và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biến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động</a:t>
            </a:r>
            <a:r>
              <a:rPr sz="1400" dirty="0">
                <a:latin typeface="Tahoma" panose="020B0604030504040204" pitchFamily="34" charset="0"/>
              </a:rPr>
              <a:t>.</a:t>
            </a:r>
          </a:p>
          <a:p>
            <a:pPr>
              <a:spcAft>
                <a:spcPts val="550"/>
              </a:spcAft>
              <a:defRPr sz="960">
                <a:solidFill>
                  <a:srgbClr val="202838"/>
                </a:solidFill>
                <a:latin typeface="Arial"/>
              </a:defRPr>
            </a:pPr>
            <a:r>
              <a:rPr sz="1400" dirty="0">
                <a:latin typeface="Tahoma" panose="020B0604030504040204" pitchFamily="34" charset="0"/>
              </a:rPr>
              <a:t>• </a:t>
            </a:r>
            <a:r>
              <a:rPr sz="1400" dirty="0" err="1">
                <a:latin typeface="Tahoma" panose="020B0604030504040204" pitchFamily="34" charset="0"/>
              </a:rPr>
              <a:t>Chăm</a:t>
            </a:r>
            <a:r>
              <a:rPr sz="1400" dirty="0">
                <a:latin typeface="Tahoma" panose="020B0604030504040204" pitchFamily="34" charset="0"/>
              </a:rPr>
              <a:t> lo </a:t>
            </a:r>
            <a:r>
              <a:rPr sz="1400" dirty="0" err="1">
                <a:latin typeface="Tahoma" panose="020B0604030504040204" pitchFamily="34" charset="0"/>
              </a:rPr>
              <a:t>đã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thực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hiện</a:t>
            </a:r>
            <a:r>
              <a:rPr sz="1400" dirty="0">
                <a:latin typeface="Tahoma" panose="020B0604030504040204" pitchFamily="34" charset="0"/>
              </a:rPr>
              <a:t> / </a:t>
            </a:r>
            <a:r>
              <a:rPr sz="1400" dirty="0" err="1">
                <a:latin typeface="Tahoma" panose="020B0604030504040204" pitchFamily="34" charset="0"/>
              </a:rPr>
              <a:t>chưa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hoàn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tất</a:t>
            </a:r>
            <a:r>
              <a:rPr sz="1400" dirty="0">
                <a:latin typeface="Tahoma" panose="020B0604030504040204" pitchFamily="34" charset="0"/>
              </a:rPr>
              <a:t>.</a:t>
            </a:r>
          </a:p>
          <a:p>
            <a:pPr>
              <a:spcAft>
                <a:spcPts val="550"/>
              </a:spcAft>
              <a:defRPr sz="960">
                <a:solidFill>
                  <a:srgbClr val="202838"/>
                </a:solidFill>
                <a:latin typeface="Arial"/>
              </a:defRPr>
            </a:pPr>
            <a:r>
              <a:rPr sz="1400" dirty="0">
                <a:latin typeface="Tahoma" panose="020B0604030504040204" pitchFamily="34" charset="0"/>
              </a:rPr>
              <a:t>• Ý </a:t>
            </a:r>
            <a:r>
              <a:rPr sz="1400" dirty="0" err="1">
                <a:latin typeface="Tahoma" panose="020B0604030504040204" pitchFamily="34" charset="0"/>
              </a:rPr>
              <a:t>kiến</a:t>
            </a:r>
            <a:r>
              <a:rPr sz="1400" dirty="0">
                <a:latin typeface="Tahoma" panose="020B0604030504040204" pitchFamily="34" charset="0"/>
              </a:rPr>
              <a:t>/</a:t>
            </a:r>
            <a:r>
              <a:rPr sz="1400" dirty="0" err="1">
                <a:latin typeface="Tahoma" panose="020B0604030504040204" pitchFamily="34" charset="0"/>
              </a:rPr>
              <a:t>kiến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nghị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và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trạng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thái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xử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lý</a:t>
            </a:r>
            <a:r>
              <a:rPr sz="1400" dirty="0">
                <a:latin typeface="Tahoma" panose="020B0604030504040204" pitchFamily="34" charset="0"/>
              </a:rPr>
              <a:t>.</a:t>
            </a:r>
          </a:p>
          <a:p>
            <a:pPr>
              <a:spcAft>
                <a:spcPts val="550"/>
              </a:spcAft>
              <a:defRPr sz="960">
                <a:solidFill>
                  <a:srgbClr val="202838"/>
                </a:solidFill>
                <a:latin typeface="Arial"/>
              </a:defRPr>
            </a:pPr>
            <a:r>
              <a:rPr sz="1400" dirty="0">
                <a:latin typeface="Tahoma" panose="020B0604030504040204" pitchFamily="34" charset="0"/>
              </a:rPr>
              <a:t>• </a:t>
            </a:r>
            <a:r>
              <a:rPr sz="1400" dirty="0" err="1">
                <a:latin typeface="Tahoma" panose="020B0604030504040204" pitchFamily="34" charset="0"/>
              </a:rPr>
              <a:t>Hoạt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động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gắn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kết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và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mức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độ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tham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gia</a:t>
            </a:r>
            <a:r>
              <a:rPr sz="1400" dirty="0">
                <a:latin typeface="Tahoma" panose="020B0604030504040204" pitchFamily="34" charset="0"/>
              </a:rPr>
              <a:t>.</a:t>
            </a:r>
          </a:p>
          <a:p>
            <a:pPr>
              <a:spcAft>
                <a:spcPts val="550"/>
              </a:spcAft>
              <a:defRPr sz="960">
                <a:solidFill>
                  <a:srgbClr val="202838"/>
                </a:solidFill>
                <a:latin typeface="Arial"/>
              </a:defRPr>
            </a:pPr>
            <a:r>
              <a:rPr sz="1400" dirty="0">
                <a:latin typeface="Tahoma" panose="020B0604030504040204" pitchFamily="34" charset="0"/>
              </a:rPr>
              <a:t>• Thu – chi </a:t>
            </a:r>
            <a:r>
              <a:rPr sz="1400" dirty="0" err="1">
                <a:latin typeface="Tahoma" panose="020B0604030504040204" pitchFamily="34" charset="0"/>
              </a:rPr>
              <a:t>và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chứng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từ</a:t>
            </a:r>
            <a:r>
              <a:rPr sz="1400" dirty="0">
                <a:latin typeface="Tahoma" panose="020B0604030504040204" pitchFamily="34" charset="0"/>
              </a:rPr>
              <a:t>.</a:t>
            </a:r>
          </a:p>
          <a:p>
            <a:pPr>
              <a:spcAft>
                <a:spcPts val="550"/>
              </a:spcAft>
              <a:defRPr sz="960">
                <a:solidFill>
                  <a:srgbClr val="202838"/>
                </a:solidFill>
                <a:latin typeface="Arial"/>
              </a:defRPr>
            </a:pPr>
            <a:r>
              <a:rPr sz="1400" dirty="0">
                <a:latin typeface="Tahoma" panose="020B0604030504040204" pitchFamily="34" charset="0"/>
              </a:rPr>
              <a:t>• </a:t>
            </a:r>
            <a:r>
              <a:rPr sz="1400" dirty="0" err="1">
                <a:latin typeface="Tahoma" panose="020B0604030504040204" pitchFamily="34" charset="0"/>
              </a:rPr>
              <a:t>Kế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hoạch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tháng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tới</a:t>
            </a:r>
            <a:r>
              <a:rPr sz="1400" dirty="0">
                <a:latin typeface="Tahoma" panose="020B0604030504040204" pitchFamily="34" charset="0"/>
              </a:rPr>
              <a:t> &amp; </a:t>
            </a:r>
            <a:r>
              <a:rPr sz="1400" dirty="0" err="1">
                <a:latin typeface="Tahoma" panose="020B0604030504040204" pitchFamily="34" charset="0"/>
              </a:rPr>
              <a:t>đề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xuất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hỗ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trợ</a:t>
            </a:r>
            <a:r>
              <a:rPr sz="1400" dirty="0">
                <a:latin typeface="Tahoma" panose="020B0604030504040204" pitchFamily="34" charset="0"/>
              </a:rPr>
              <a:t>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600200"/>
            <a:ext cx="3429000" cy="4343400"/>
          </a:xfrm>
          <a:prstGeom prst="roundRect">
            <a:avLst/>
          </a:prstGeom>
          <a:solidFill>
            <a:srgbClr val="FFFFFF"/>
          </a:solidFill>
          <a:ln>
            <a:solidFill>
              <a:srgbClr val="D9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Tahoma" panose="020B0604030504040204" pitchFamily="3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590288" y="1728216"/>
            <a:ext cx="3063240" cy="4955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310" b="1">
                <a:solidFill>
                  <a:srgbClr val="118F91"/>
                </a:solidFill>
                <a:latin typeface="Arial"/>
              </a:defRPr>
            </a:pPr>
            <a:r>
              <a:rPr dirty="0" err="1">
                <a:latin typeface="Tahoma" panose="020B0604030504040204" pitchFamily="34" charset="0"/>
              </a:rPr>
              <a:t>TỔNG</a:t>
            </a:r>
            <a:r>
              <a:rPr dirty="0">
                <a:latin typeface="Tahoma" panose="020B0604030504040204" pitchFamily="34" charset="0"/>
              </a:rPr>
              <a:t> </a:t>
            </a:r>
            <a:r>
              <a:rPr dirty="0" err="1">
                <a:latin typeface="Tahoma" panose="020B0604030504040204" pitchFamily="34" charset="0"/>
              </a:rPr>
              <a:t>HỢP</a:t>
            </a:r>
            <a:r>
              <a:rPr dirty="0">
                <a:latin typeface="Tahoma" panose="020B0604030504040204" pitchFamily="34" charset="0"/>
              </a:rPr>
              <a:t> </a:t>
            </a:r>
            <a:r>
              <a:rPr dirty="0" err="1">
                <a:latin typeface="Tahoma" panose="020B0604030504040204" pitchFamily="34" charset="0"/>
              </a:rPr>
              <a:t>THÁNG</a:t>
            </a:r>
            <a:r>
              <a:rPr dirty="0">
                <a:latin typeface="Tahoma" panose="020B0604030504040204" pitchFamily="34" charset="0"/>
              </a:rPr>
              <a:t>/QUÝ – </a:t>
            </a:r>
            <a:r>
              <a:rPr dirty="0" err="1">
                <a:latin typeface="Tahoma" panose="020B0604030504040204" pitchFamily="34" charset="0"/>
              </a:rPr>
              <a:t>CĐ</a:t>
            </a:r>
            <a:r>
              <a:rPr dirty="0">
                <a:latin typeface="Tahoma" panose="020B0604030504040204" pitchFamily="34" charset="0"/>
              </a:rPr>
              <a:t> GPG → </a:t>
            </a:r>
            <a:r>
              <a:rPr dirty="0" err="1">
                <a:latin typeface="Tahoma" panose="020B0604030504040204" pitchFamily="34" charset="0"/>
              </a:rPr>
              <a:t>BLĐ</a:t>
            </a:r>
            <a:endParaRPr dirty="0">
              <a:latin typeface="Tahoma" panose="020B0604030504040204" pitchFamily="34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608576" y="2176272"/>
            <a:ext cx="2990088" cy="22006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50"/>
              </a:spcAft>
              <a:defRPr sz="960">
                <a:solidFill>
                  <a:srgbClr val="202838"/>
                </a:solidFill>
                <a:latin typeface="Arial"/>
              </a:defRPr>
            </a:pPr>
            <a:r>
              <a:rPr sz="1400" dirty="0">
                <a:latin typeface="Tahoma" panose="020B0604030504040204" pitchFamily="34" charset="0"/>
              </a:rPr>
              <a:t>• Xu </a:t>
            </a:r>
            <a:r>
              <a:rPr sz="1400" dirty="0" err="1">
                <a:latin typeface="Tahoma" panose="020B0604030504040204" pitchFamily="34" charset="0"/>
              </a:rPr>
              <a:t>hướng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toàn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Hệ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sinh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thái</a:t>
            </a:r>
            <a:r>
              <a:rPr sz="1400" dirty="0">
                <a:latin typeface="Tahoma" panose="020B0604030504040204" pitchFamily="34" charset="0"/>
              </a:rPr>
              <a:t>.</a:t>
            </a:r>
          </a:p>
          <a:p>
            <a:pPr>
              <a:spcAft>
                <a:spcPts val="550"/>
              </a:spcAft>
              <a:defRPr sz="960">
                <a:solidFill>
                  <a:srgbClr val="202838"/>
                </a:solidFill>
                <a:latin typeface="Arial"/>
              </a:defRPr>
            </a:pPr>
            <a:r>
              <a:rPr sz="1400" dirty="0">
                <a:latin typeface="Tahoma" panose="020B0604030504040204" pitchFamily="34" charset="0"/>
              </a:rPr>
              <a:t>• </a:t>
            </a:r>
            <a:r>
              <a:rPr sz="1400" dirty="0" err="1">
                <a:latin typeface="Tahoma" panose="020B0604030504040204" pitchFamily="34" charset="0"/>
              </a:rPr>
              <a:t>Đơn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vị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có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vấn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đề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lặp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lại</a:t>
            </a:r>
            <a:r>
              <a:rPr sz="1400" dirty="0">
                <a:latin typeface="Tahoma" panose="020B0604030504040204" pitchFamily="34" charset="0"/>
              </a:rPr>
              <a:t>/</a:t>
            </a:r>
            <a:r>
              <a:rPr sz="1400" dirty="0" err="1">
                <a:latin typeface="Tahoma" panose="020B0604030504040204" pitchFamily="34" charset="0"/>
              </a:rPr>
              <a:t>quá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hạn</a:t>
            </a:r>
            <a:r>
              <a:rPr sz="1400" dirty="0">
                <a:latin typeface="Tahoma" panose="020B0604030504040204" pitchFamily="34" charset="0"/>
              </a:rPr>
              <a:t>.</a:t>
            </a:r>
          </a:p>
          <a:p>
            <a:pPr>
              <a:spcAft>
                <a:spcPts val="550"/>
              </a:spcAft>
              <a:defRPr sz="960">
                <a:solidFill>
                  <a:srgbClr val="202838"/>
                </a:solidFill>
                <a:latin typeface="Arial"/>
              </a:defRPr>
            </a:pPr>
            <a:r>
              <a:rPr sz="1400" dirty="0">
                <a:latin typeface="Tahoma" panose="020B0604030504040204" pitchFamily="34" charset="0"/>
              </a:rPr>
              <a:t>• Hiệu </a:t>
            </a:r>
            <a:r>
              <a:rPr sz="1400" dirty="0" err="1">
                <a:latin typeface="Tahoma" panose="020B0604030504040204" pitchFamily="34" charset="0"/>
              </a:rPr>
              <a:t>quả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chính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sách</a:t>
            </a:r>
            <a:r>
              <a:rPr sz="1400" dirty="0">
                <a:latin typeface="Tahoma" panose="020B0604030504040204" pitchFamily="34" charset="0"/>
              </a:rPr>
              <a:t>/</a:t>
            </a:r>
            <a:r>
              <a:rPr sz="1400" dirty="0" err="1">
                <a:latin typeface="Tahoma" panose="020B0604030504040204" pitchFamily="34" charset="0"/>
              </a:rPr>
              <a:t>chương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trình</a:t>
            </a:r>
            <a:r>
              <a:rPr sz="1400" dirty="0">
                <a:latin typeface="Tahoma" panose="020B0604030504040204" pitchFamily="34" charset="0"/>
              </a:rPr>
              <a:t>.</a:t>
            </a:r>
          </a:p>
          <a:p>
            <a:pPr>
              <a:spcAft>
                <a:spcPts val="550"/>
              </a:spcAft>
              <a:defRPr sz="960">
                <a:solidFill>
                  <a:srgbClr val="202838"/>
                </a:solidFill>
                <a:latin typeface="Arial"/>
              </a:defRPr>
            </a:pPr>
            <a:r>
              <a:rPr sz="1400" dirty="0">
                <a:latin typeface="Tahoma" panose="020B0604030504040204" pitchFamily="34" charset="0"/>
              </a:rPr>
              <a:t>• </a:t>
            </a:r>
            <a:r>
              <a:rPr sz="1400" dirty="0" err="1">
                <a:latin typeface="Tahoma" panose="020B0604030504040204" pitchFamily="34" charset="0"/>
              </a:rPr>
              <a:t>Tình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hình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ngân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sách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và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chăm</a:t>
            </a:r>
            <a:r>
              <a:rPr sz="1400" dirty="0">
                <a:latin typeface="Tahoma" panose="020B0604030504040204" pitchFamily="34" charset="0"/>
              </a:rPr>
              <a:t> lo.</a:t>
            </a:r>
          </a:p>
          <a:p>
            <a:pPr>
              <a:spcAft>
                <a:spcPts val="550"/>
              </a:spcAft>
              <a:defRPr sz="960">
                <a:solidFill>
                  <a:srgbClr val="202838"/>
                </a:solidFill>
                <a:latin typeface="Arial"/>
              </a:defRPr>
            </a:pPr>
            <a:r>
              <a:rPr sz="1400" dirty="0">
                <a:latin typeface="Tahoma" panose="020B0604030504040204" pitchFamily="34" charset="0"/>
              </a:rPr>
              <a:t>• </a:t>
            </a:r>
            <a:r>
              <a:rPr sz="1400" dirty="0" err="1">
                <a:latin typeface="Tahoma" panose="020B0604030504040204" pitchFamily="34" charset="0"/>
              </a:rPr>
              <a:t>Rủi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ro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cần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quyết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định</a:t>
            </a:r>
            <a:r>
              <a:rPr sz="1400" dirty="0">
                <a:latin typeface="Tahoma" panose="020B0604030504040204" pitchFamily="34" charset="0"/>
              </a:rPr>
              <a:t>.</a:t>
            </a:r>
          </a:p>
          <a:p>
            <a:pPr>
              <a:spcAft>
                <a:spcPts val="550"/>
              </a:spcAft>
              <a:defRPr sz="960">
                <a:solidFill>
                  <a:srgbClr val="202838"/>
                </a:solidFill>
                <a:latin typeface="Arial"/>
              </a:defRPr>
            </a:pPr>
            <a:r>
              <a:rPr sz="1400" dirty="0">
                <a:latin typeface="Tahoma" panose="020B0604030504040204" pitchFamily="34" charset="0"/>
              </a:rPr>
              <a:t>• </a:t>
            </a:r>
            <a:r>
              <a:rPr sz="1400" dirty="0" err="1">
                <a:latin typeface="Tahoma" panose="020B0604030504040204" pitchFamily="34" charset="0"/>
              </a:rPr>
              <a:t>Đề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xuất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điều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chỉnh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chính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sách</a:t>
            </a:r>
            <a:r>
              <a:rPr sz="1400" dirty="0">
                <a:latin typeface="Tahoma" panose="020B0604030504040204" pitchFamily="34" charset="0"/>
              </a:rPr>
              <a:t>/</a:t>
            </a:r>
            <a:r>
              <a:rPr sz="1400" dirty="0" err="1">
                <a:latin typeface="Tahoma" panose="020B0604030504040204" pitchFamily="34" charset="0"/>
              </a:rPr>
              <a:t>nguồn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lực</a:t>
            </a:r>
            <a:r>
              <a:rPr sz="1400" dirty="0">
                <a:latin typeface="Tahoma" panose="020B0604030504040204" pitchFamily="34" charset="0"/>
              </a:rPr>
              <a:t>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60" y="1600200"/>
            <a:ext cx="3429000" cy="4343400"/>
          </a:xfrm>
          <a:prstGeom prst="roundRect">
            <a:avLst/>
          </a:prstGeom>
          <a:solidFill>
            <a:srgbClr val="FFFFFF"/>
          </a:solidFill>
          <a:ln>
            <a:solidFill>
              <a:srgbClr val="D9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Tahoma" panose="020B0604030504040204" pitchFamily="34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339328" y="1728216"/>
            <a:ext cx="3063239" cy="293927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310" b="1">
                <a:solidFill>
                  <a:srgbClr val="E87823"/>
                </a:solidFill>
                <a:latin typeface="Arial"/>
              </a:defRPr>
            </a:pPr>
            <a:r>
              <a:rPr dirty="0" err="1">
                <a:latin typeface="Tahoma" panose="020B0604030504040204" pitchFamily="34" charset="0"/>
              </a:rPr>
              <a:t>GIÁM</a:t>
            </a:r>
            <a:r>
              <a:rPr dirty="0">
                <a:latin typeface="Tahoma" panose="020B0604030504040204" pitchFamily="34" charset="0"/>
              </a:rPr>
              <a:t> </a:t>
            </a:r>
            <a:r>
              <a:rPr dirty="0" err="1">
                <a:latin typeface="Tahoma" panose="020B0604030504040204" pitchFamily="34" charset="0"/>
              </a:rPr>
              <a:t>SÁT</a:t>
            </a:r>
            <a:r>
              <a:rPr dirty="0">
                <a:latin typeface="Tahoma" panose="020B0604030504040204" pitchFamily="34" charset="0"/>
              </a:rPr>
              <a:t> – BAN </a:t>
            </a:r>
            <a:r>
              <a:rPr dirty="0" err="1">
                <a:latin typeface="Tahoma" panose="020B0604030504040204" pitchFamily="34" charset="0"/>
              </a:rPr>
              <a:t>CSNLĐ</a:t>
            </a:r>
            <a:endParaRPr dirty="0">
              <a:latin typeface="Tahoma" panose="020B0604030504040204" pitchFamily="34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357616" y="2176272"/>
            <a:ext cx="2990088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50"/>
              </a:spcAft>
              <a:defRPr sz="960">
                <a:solidFill>
                  <a:srgbClr val="202838"/>
                </a:solidFill>
                <a:latin typeface="Arial"/>
              </a:defRPr>
            </a:pPr>
            <a:r>
              <a:rPr sz="1400" dirty="0">
                <a:latin typeface="Tahoma" panose="020B0604030504040204" pitchFamily="34" charset="0"/>
              </a:rPr>
              <a:t>• </a:t>
            </a:r>
            <a:r>
              <a:rPr sz="1400" dirty="0" err="1">
                <a:latin typeface="Tahoma" panose="020B0604030504040204" pitchFamily="34" charset="0"/>
              </a:rPr>
              <a:t>Đối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chiếu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tiến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độ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chăm</a:t>
            </a:r>
            <a:r>
              <a:rPr sz="1400" dirty="0">
                <a:latin typeface="Tahoma" panose="020B0604030504040204" pitchFamily="34" charset="0"/>
              </a:rPr>
              <a:t> lo.</a:t>
            </a:r>
          </a:p>
          <a:p>
            <a:pPr>
              <a:spcAft>
                <a:spcPts val="550"/>
              </a:spcAft>
              <a:defRPr sz="960">
                <a:solidFill>
                  <a:srgbClr val="202838"/>
                </a:solidFill>
                <a:latin typeface="Arial"/>
              </a:defRPr>
            </a:pPr>
            <a:r>
              <a:rPr sz="1400" dirty="0">
                <a:latin typeface="Tahoma" panose="020B0604030504040204" pitchFamily="34" charset="0"/>
              </a:rPr>
              <a:t>• Theo </a:t>
            </a:r>
            <a:r>
              <a:rPr sz="1400" dirty="0" err="1">
                <a:latin typeface="Tahoma" panose="020B0604030504040204" pitchFamily="34" charset="0"/>
              </a:rPr>
              <a:t>dõi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trường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hợp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chậm</a:t>
            </a:r>
            <a:r>
              <a:rPr sz="1400" dirty="0">
                <a:latin typeface="Tahoma" panose="020B0604030504040204" pitchFamily="34" charset="0"/>
              </a:rPr>
              <a:t>/</a:t>
            </a:r>
            <a:r>
              <a:rPr sz="1400" dirty="0" err="1">
                <a:latin typeface="Tahoma" panose="020B0604030504040204" pitchFamily="34" charset="0"/>
              </a:rPr>
              <a:t>thiếu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hồ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sơ</a:t>
            </a:r>
            <a:r>
              <a:rPr sz="1400" dirty="0">
                <a:latin typeface="Tahoma" panose="020B0604030504040204" pitchFamily="34" charset="0"/>
              </a:rPr>
              <a:t>.</a:t>
            </a:r>
          </a:p>
          <a:p>
            <a:pPr>
              <a:spcAft>
                <a:spcPts val="550"/>
              </a:spcAft>
              <a:defRPr sz="960">
                <a:solidFill>
                  <a:srgbClr val="202838"/>
                </a:solidFill>
                <a:latin typeface="Arial"/>
              </a:defRPr>
            </a:pPr>
            <a:r>
              <a:rPr sz="1400" dirty="0">
                <a:latin typeface="Tahoma" panose="020B0604030504040204" pitchFamily="34" charset="0"/>
              </a:rPr>
              <a:t>• Phối </a:t>
            </a:r>
            <a:r>
              <a:rPr sz="1400" dirty="0" err="1">
                <a:latin typeface="Tahoma" panose="020B0604030504040204" pitchFamily="34" charset="0"/>
              </a:rPr>
              <a:t>hợp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xác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minh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phản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hồi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NLĐ</a:t>
            </a:r>
            <a:r>
              <a:rPr sz="1400" dirty="0">
                <a:latin typeface="Tahoma" panose="020B0604030504040204" pitchFamily="34" charset="0"/>
              </a:rPr>
              <a:t>.</a:t>
            </a:r>
          </a:p>
          <a:p>
            <a:pPr>
              <a:spcAft>
                <a:spcPts val="550"/>
              </a:spcAft>
              <a:defRPr sz="960">
                <a:solidFill>
                  <a:srgbClr val="202838"/>
                </a:solidFill>
                <a:latin typeface="Arial"/>
              </a:defRPr>
            </a:pPr>
            <a:r>
              <a:rPr sz="1400" dirty="0">
                <a:latin typeface="Tahoma" panose="020B0604030504040204" pitchFamily="34" charset="0"/>
              </a:rPr>
              <a:t>• Theo </a:t>
            </a:r>
            <a:r>
              <a:rPr sz="1400" dirty="0" err="1">
                <a:latin typeface="Tahoma" panose="020B0604030504040204" pitchFamily="34" charset="0"/>
              </a:rPr>
              <a:t>dõi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tính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nhất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quán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giữa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đơn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vị</a:t>
            </a:r>
            <a:r>
              <a:rPr sz="1400" dirty="0">
                <a:latin typeface="Tahoma" panose="020B0604030504040204" pitchFamily="34" charset="0"/>
              </a:rPr>
              <a:t>.</a:t>
            </a:r>
          </a:p>
          <a:p>
            <a:pPr>
              <a:spcAft>
                <a:spcPts val="550"/>
              </a:spcAft>
              <a:defRPr sz="960">
                <a:solidFill>
                  <a:srgbClr val="202838"/>
                </a:solidFill>
                <a:latin typeface="Arial"/>
              </a:defRPr>
            </a:pPr>
            <a:r>
              <a:rPr sz="1400" dirty="0">
                <a:latin typeface="Tahoma" panose="020B0604030504040204" pitchFamily="34" charset="0"/>
              </a:rPr>
              <a:t>• </a:t>
            </a:r>
            <a:r>
              <a:rPr sz="1400" dirty="0" err="1">
                <a:latin typeface="Tahoma" panose="020B0604030504040204" pitchFamily="34" charset="0"/>
              </a:rPr>
              <a:t>Tổng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hợp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bài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học</a:t>
            </a:r>
            <a:r>
              <a:rPr sz="1400" dirty="0">
                <a:latin typeface="Tahoma" panose="020B0604030504040204" pitchFamily="34" charset="0"/>
              </a:rPr>
              <a:t> &amp; </a:t>
            </a:r>
            <a:r>
              <a:rPr sz="1400" dirty="0" err="1">
                <a:latin typeface="Tahoma" panose="020B0604030504040204" pitchFamily="34" charset="0"/>
              </a:rPr>
              <a:t>đề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xuất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cải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tiến</a:t>
            </a:r>
            <a:r>
              <a:rPr sz="1400" dirty="0">
                <a:latin typeface="Tahoma" panose="020B0604030504040204" pitchFamily="34" charset="0"/>
              </a:rPr>
              <a:t>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" y="5788152"/>
            <a:ext cx="10332720" cy="566928"/>
          </a:xfrm>
          <a:prstGeom prst="roundRect">
            <a:avLst/>
          </a:prstGeom>
          <a:solidFill>
            <a:srgbClr val="118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Tahoma" panose="020B0604030504040204" pitchFamily="34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115568" y="5916168"/>
            <a:ext cx="9930384" cy="430887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rPr dirty="0">
                <a:latin typeface="Tahoma" panose="020B0604030504040204" pitchFamily="34" charset="0"/>
              </a:rPr>
              <a:t>Báo </a:t>
            </a:r>
            <a:r>
              <a:rPr dirty="0" err="1">
                <a:latin typeface="Tahoma" panose="020B0604030504040204" pitchFamily="34" charset="0"/>
              </a:rPr>
              <a:t>cáo</a:t>
            </a:r>
            <a:r>
              <a:rPr dirty="0">
                <a:latin typeface="Tahoma" panose="020B0604030504040204" pitchFamily="34" charset="0"/>
              </a:rPr>
              <a:t> </a:t>
            </a:r>
            <a:r>
              <a:rPr dirty="0" err="1">
                <a:latin typeface="Tahoma" panose="020B0604030504040204" pitchFamily="34" charset="0"/>
              </a:rPr>
              <a:t>không</a:t>
            </a:r>
            <a:r>
              <a:rPr dirty="0">
                <a:latin typeface="Tahoma" panose="020B0604030504040204" pitchFamily="34" charset="0"/>
              </a:rPr>
              <a:t> </a:t>
            </a:r>
            <a:r>
              <a:rPr dirty="0" err="1">
                <a:latin typeface="Tahoma" panose="020B0604030504040204" pitchFamily="34" charset="0"/>
              </a:rPr>
              <a:t>nhằm</a:t>
            </a:r>
            <a:r>
              <a:rPr dirty="0">
                <a:latin typeface="Tahoma" panose="020B0604030504040204" pitchFamily="34" charset="0"/>
              </a:rPr>
              <a:t> </a:t>
            </a:r>
            <a:r>
              <a:rPr dirty="0" err="1">
                <a:latin typeface="Tahoma" panose="020B0604030504040204" pitchFamily="34" charset="0"/>
              </a:rPr>
              <a:t>tăng</a:t>
            </a:r>
            <a:r>
              <a:rPr dirty="0">
                <a:latin typeface="Tahoma" panose="020B0604030504040204" pitchFamily="34" charset="0"/>
              </a:rPr>
              <a:t> </a:t>
            </a:r>
            <a:r>
              <a:rPr dirty="0" err="1">
                <a:latin typeface="Tahoma" panose="020B0604030504040204" pitchFamily="34" charset="0"/>
              </a:rPr>
              <a:t>thủ</a:t>
            </a:r>
            <a:r>
              <a:rPr dirty="0">
                <a:latin typeface="Tahoma" panose="020B0604030504040204" pitchFamily="34" charset="0"/>
              </a:rPr>
              <a:t> </a:t>
            </a:r>
            <a:r>
              <a:rPr dirty="0" err="1">
                <a:latin typeface="Tahoma" panose="020B0604030504040204" pitchFamily="34" charset="0"/>
              </a:rPr>
              <a:t>tục</a:t>
            </a:r>
            <a:r>
              <a:rPr dirty="0">
                <a:latin typeface="Tahoma" panose="020B0604030504040204" pitchFamily="34" charset="0"/>
              </a:rPr>
              <a:t>; </a:t>
            </a:r>
            <a:r>
              <a:rPr dirty="0" err="1">
                <a:latin typeface="Tahoma" panose="020B0604030504040204" pitchFamily="34" charset="0"/>
              </a:rPr>
              <a:t>mục</a:t>
            </a:r>
            <a:r>
              <a:rPr dirty="0">
                <a:latin typeface="Tahoma" panose="020B0604030504040204" pitchFamily="34" charset="0"/>
              </a:rPr>
              <a:t> </a:t>
            </a:r>
            <a:r>
              <a:rPr dirty="0" err="1">
                <a:latin typeface="Tahoma" panose="020B0604030504040204" pitchFamily="34" charset="0"/>
              </a:rPr>
              <a:t>tiêu</a:t>
            </a:r>
            <a:r>
              <a:rPr dirty="0">
                <a:latin typeface="Tahoma" panose="020B0604030504040204" pitchFamily="34" charset="0"/>
              </a:rPr>
              <a:t> </a:t>
            </a:r>
            <a:r>
              <a:rPr dirty="0" err="1">
                <a:latin typeface="Tahoma" panose="020B0604030504040204" pitchFamily="34" charset="0"/>
              </a:rPr>
              <a:t>là</a:t>
            </a:r>
            <a:r>
              <a:rPr dirty="0">
                <a:latin typeface="Tahoma" panose="020B0604030504040204" pitchFamily="34" charset="0"/>
              </a:rPr>
              <a:t> </a:t>
            </a:r>
            <a:r>
              <a:rPr dirty="0" err="1">
                <a:latin typeface="Tahoma" panose="020B0604030504040204" pitchFamily="34" charset="0"/>
              </a:rPr>
              <a:t>không</a:t>
            </a:r>
            <a:r>
              <a:rPr dirty="0">
                <a:latin typeface="Tahoma" panose="020B0604030504040204" pitchFamily="34" charset="0"/>
              </a:rPr>
              <a:t> </a:t>
            </a:r>
            <a:r>
              <a:rPr dirty="0" err="1">
                <a:latin typeface="Tahoma" panose="020B0604030504040204" pitchFamily="34" charset="0"/>
              </a:rPr>
              <a:t>bỏ</a:t>
            </a:r>
            <a:r>
              <a:rPr dirty="0">
                <a:latin typeface="Tahoma" panose="020B0604030504040204" pitchFamily="34" charset="0"/>
              </a:rPr>
              <a:t> </a:t>
            </a:r>
            <a:r>
              <a:rPr dirty="0" err="1">
                <a:latin typeface="Tahoma" panose="020B0604030504040204" pitchFamily="34" charset="0"/>
              </a:rPr>
              <a:t>sót</a:t>
            </a:r>
            <a:r>
              <a:rPr dirty="0">
                <a:latin typeface="Tahoma" panose="020B0604030504040204" pitchFamily="34" charset="0"/>
              </a:rPr>
              <a:t> </a:t>
            </a:r>
            <a:r>
              <a:rPr dirty="0" err="1">
                <a:latin typeface="Tahoma" panose="020B0604030504040204" pitchFamily="34" charset="0"/>
              </a:rPr>
              <a:t>NLĐ</a:t>
            </a:r>
            <a:r>
              <a:rPr dirty="0">
                <a:latin typeface="Tahoma" panose="020B0604030504040204" pitchFamily="34" charset="0"/>
              </a:rPr>
              <a:t>, </a:t>
            </a:r>
            <a:r>
              <a:rPr dirty="0" err="1">
                <a:latin typeface="Tahoma" panose="020B0604030504040204" pitchFamily="34" charset="0"/>
              </a:rPr>
              <a:t>không</a:t>
            </a:r>
            <a:r>
              <a:rPr dirty="0">
                <a:latin typeface="Tahoma" panose="020B0604030504040204" pitchFamily="34" charset="0"/>
              </a:rPr>
              <a:t> </a:t>
            </a:r>
            <a:r>
              <a:rPr dirty="0" err="1">
                <a:latin typeface="Tahoma" panose="020B0604030504040204" pitchFamily="34" charset="0"/>
              </a:rPr>
              <a:t>bỏ</a:t>
            </a:r>
            <a:r>
              <a:rPr dirty="0">
                <a:latin typeface="Tahoma" panose="020B0604030504040204" pitchFamily="34" charset="0"/>
              </a:rPr>
              <a:t> </a:t>
            </a:r>
            <a:r>
              <a:rPr dirty="0" err="1">
                <a:latin typeface="Tahoma" panose="020B0604030504040204" pitchFamily="34" charset="0"/>
              </a:rPr>
              <a:t>quên</a:t>
            </a:r>
            <a:r>
              <a:rPr dirty="0">
                <a:latin typeface="Tahoma" panose="020B0604030504040204" pitchFamily="34" charset="0"/>
              </a:rPr>
              <a:t> </a:t>
            </a:r>
            <a:r>
              <a:rPr dirty="0" err="1">
                <a:latin typeface="Tahoma" panose="020B0604030504040204" pitchFamily="34" charset="0"/>
              </a:rPr>
              <a:t>vụ</a:t>
            </a:r>
            <a:r>
              <a:rPr dirty="0">
                <a:latin typeface="Tahoma" panose="020B0604030504040204" pitchFamily="34" charset="0"/>
              </a:rPr>
              <a:t> </a:t>
            </a:r>
            <a:r>
              <a:rPr dirty="0" err="1">
                <a:latin typeface="Tahoma" panose="020B0604030504040204" pitchFamily="34" charset="0"/>
              </a:rPr>
              <a:t>việc</a:t>
            </a:r>
            <a:r>
              <a:rPr dirty="0">
                <a:latin typeface="Tahoma" panose="020B0604030504040204" pitchFamily="34" charset="0"/>
              </a:rPr>
              <a:t> </a:t>
            </a:r>
            <a:r>
              <a:rPr dirty="0" err="1">
                <a:latin typeface="Tahoma" panose="020B0604030504040204" pitchFamily="34" charset="0"/>
              </a:rPr>
              <a:t>và</a:t>
            </a:r>
            <a:r>
              <a:rPr dirty="0">
                <a:latin typeface="Tahoma" panose="020B0604030504040204" pitchFamily="34" charset="0"/>
              </a:rPr>
              <a:t> </a:t>
            </a:r>
            <a:r>
              <a:rPr dirty="0" err="1">
                <a:latin typeface="Tahoma" panose="020B0604030504040204" pitchFamily="34" charset="0"/>
              </a:rPr>
              <a:t>giúp</a:t>
            </a:r>
            <a:r>
              <a:rPr dirty="0">
                <a:latin typeface="Tahoma" panose="020B0604030504040204" pitchFamily="34" charset="0"/>
              </a:rPr>
              <a:t> </a:t>
            </a:r>
            <a:r>
              <a:rPr dirty="0" err="1">
                <a:latin typeface="Tahoma" panose="020B0604030504040204" pitchFamily="34" charset="0"/>
              </a:rPr>
              <a:t>BLĐ</a:t>
            </a:r>
            <a:r>
              <a:rPr dirty="0">
                <a:latin typeface="Tahoma" panose="020B0604030504040204" pitchFamily="34" charset="0"/>
              </a:rPr>
              <a:t> </a:t>
            </a:r>
            <a:r>
              <a:rPr dirty="0" err="1">
                <a:latin typeface="Tahoma" panose="020B0604030504040204" pitchFamily="34" charset="0"/>
              </a:rPr>
              <a:t>nhìn</a:t>
            </a:r>
            <a:r>
              <a:rPr dirty="0">
                <a:latin typeface="Tahoma" panose="020B0604030504040204" pitchFamily="34" charset="0"/>
              </a:rPr>
              <a:t> </a:t>
            </a:r>
            <a:r>
              <a:rPr dirty="0" err="1">
                <a:latin typeface="Tahoma" panose="020B0604030504040204" pitchFamily="34" charset="0"/>
              </a:rPr>
              <a:t>thấy</a:t>
            </a:r>
            <a:r>
              <a:rPr dirty="0">
                <a:latin typeface="Tahoma" panose="020B0604030504040204" pitchFamily="34" charset="0"/>
              </a:rPr>
              <a:t> </a:t>
            </a:r>
            <a:r>
              <a:rPr dirty="0" err="1">
                <a:latin typeface="Tahoma" panose="020B0604030504040204" pitchFamily="34" charset="0"/>
              </a:rPr>
              <a:t>vấn</a:t>
            </a:r>
            <a:r>
              <a:rPr dirty="0">
                <a:latin typeface="Tahoma" panose="020B0604030504040204" pitchFamily="34" charset="0"/>
              </a:rPr>
              <a:t> </a:t>
            </a:r>
            <a:r>
              <a:rPr dirty="0" err="1">
                <a:latin typeface="Tahoma" panose="020B0604030504040204" pitchFamily="34" charset="0"/>
              </a:rPr>
              <a:t>đề</a:t>
            </a:r>
            <a:r>
              <a:rPr dirty="0">
                <a:latin typeface="Tahoma" panose="020B0604030504040204" pitchFamily="34" charset="0"/>
              </a:rPr>
              <a:t> </a:t>
            </a:r>
            <a:r>
              <a:rPr dirty="0" err="1">
                <a:latin typeface="Tahoma" panose="020B0604030504040204" pitchFamily="34" charset="0"/>
              </a:rPr>
              <a:t>trước</a:t>
            </a:r>
            <a:r>
              <a:rPr dirty="0">
                <a:latin typeface="Tahoma" panose="020B0604030504040204" pitchFamily="34" charset="0"/>
              </a:rPr>
              <a:t> </a:t>
            </a:r>
            <a:r>
              <a:rPr dirty="0" err="1">
                <a:latin typeface="Tahoma" panose="020B0604030504040204" pitchFamily="34" charset="0"/>
              </a:rPr>
              <a:t>khi</a:t>
            </a:r>
            <a:r>
              <a:rPr dirty="0">
                <a:latin typeface="Tahoma" panose="020B0604030504040204" pitchFamily="34" charset="0"/>
              </a:rPr>
              <a:t> </a:t>
            </a:r>
            <a:r>
              <a:rPr dirty="0" err="1">
                <a:latin typeface="Tahoma" panose="020B0604030504040204" pitchFamily="34" charset="0"/>
              </a:rPr>
              <a:t>trở</a:t>
            </a:r>
            <a:r>
              <a:rPr dirty="0">
                <a:latin typeface="Tahoma" panose="020B0604030504040204" pitchFamily="34" charset="0"/>
              </a:rPr>
              <a:t> </a:t>
            </a:r>
            <a:r>
              <a:rPr dirty="0" err="1">
                <a:latin typeface="Tahoma" panose="020B0604030504040204" pitchFamily="34" charset="0"/>
              </a:rPr>
              <a:t>thành</a:t>
            </a:r>
            <a:r>
              <a:rPr dirty="0">
                <a:latin typeface="Tahoma" panose="020B0604030504040204" pitchFamily="34" charset="0"/>
              </a:rPr>
              <a:t> </a:t>
            </a:r>
            <a:r>
              <a:rPr dirty="0" err="1">
                <a:latin typeface="Tahoma" panose="020B0604030504040204" pitchFamily="34" charset="0"/>
              </a:rPr>
              <a:t>rủi</a:t>
            </a:r>
            <a:r>
              <a:rPr dirty="0">
                <a:latin typeface="Tahoma" panose="020B0604030504040204" pitchFamily="34" charset="0"/>
              </a:rPr>
              <a:t> ro.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608" y="82296"/>
            <a:ext cx="960120" cy="548640"/>
          </a:xfrm>
          <a:prstGeom prst="rect">
            <a:avLst/>
          </a:prstGeom>
        </p:spPr>
      </p:pic>
      <p:pic>
        <p:nvPicPr>
          <p:cNvPr id="3" name="Picture 2" descr="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64008"/>
            <a:ext cx="646818" cy="585216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274320" y="899433"/>
            <a:ext cx="11649456" cy="22860"/>
          </a:xfrm>
          <a:prstGeom prst="rect">
            <a:avLst/>
          </a:prstGeom>
          <a:solidFill>
            <a:srgbClr val="051F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Tahoma" panose="020B0604030504040204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20040" y="6632721"/>
            <a:ext cx="2077813" cy="22313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051F71"/>
                </a:solidFill>
                <a:latin typeface="Arial"/>
              </a:defRPr>
            </a:pPr>
            <a:r>
              <a:rPr dirty="0">
                <a:latin typeface="Tahoma" panose="020B0604030504040204" pitchFamily="34" charset="0"/>
              </a:rPr>
              <a:t>CÔNG ĐOÀN GPG | GPG TRADE UNION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88474" y="6623577"/>
            <a:ext cx="1284326" cy="21839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19">
                <a:solidFill>
                  <a:srgbClr val="677180"/>
                </a:solidFill>
                <a:latin typeface="Arial"/>
              </a:defRPr>
            </a:pPr>
            <a:r>
              <a:rPr dirty="0">
                <a:latin typeface="Tahoma" panose="020B0604030504040204" pitchFamily="34" charset="0"/>
              </a:rPr>
              <a:t>IV. </a:t>
            </a:r>
            <a:r>
              <a:rPr dirty="0" err="1">
                <a:latin typeface="Tahoma" panose="020B0604030504040204" pitchFamily="34" charset="0"/>
              </a:rPr>
              <a:t>BIỂU</a:t>
            </a:r>
            <a:r>
              <a:rPr dirty="0">
                <a:latin typeface="Tahoma" panose="020B0604030504040204" pitchFamily="34" charset="0"/>
              </a:rPr>
              <a:t> </a:t>
            </a:r>
            <a:r>
              <a:rPr dirty="0" err="1">
                <a:latin typeface="Tahoma" panose="020B0604030504040204" pitchFamily="34" charset="0"/>
              </a:rPr>
              <a:t>MẪU</a:t>
            </a:r>
            <a:r>
              <a:rPr dirty="0">
                <a:latin typeface="Tahoma" panose="020B0604030504040204" pitchFamily="34" charset="0"/>
              </a:rPr>
              <a:t> BÁO CÁO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93198" y="6605289"/>
            <a:ext cx="338554" cy="2385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051F71"/>
                </a:solidFill>
                <a:latin typeface="Arial"/>
              </a:defRPr>
            </a:pPr>
            <a:r>
              <a:rPr dirty="0">
                <a:latin typeface="Tahoma" panose="020B0604030504040204" pitchFamily="34" charset="0"/>
              </a:rPr>
              <a:t>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99002"/>
            <a:ext cx="11870575" cy="5001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50" b="1">
                <a:solidFill>
                  <a:srgbClr val="051F71"/>
                </a:solidFill>
                <a:latin typeface="Arial Narrow"/>
              </a:defRPr>
            </a:pPr>
            <a:r>
              <a:rPr dirty="0" err="1">
                <a:latin typeface="Tahoma" panose="020B0604030504040204" pitchFamily="34" charset="0"/>
              </a:rPr>
              <a:t>BIỂU</a:t>
            </a:r>
            <a:r>
              <a:rPr dirty="0">
                <a:latin typeface="Tahoma" panose="020B0604030504040204" pitchFamily="34" charset="0"/>
              </a:rPr>
              <a:t> </a:t>
            </a:r>
            <a:r>
              <a:rPr dirty="0" err="1">
                <a:latin typeface="Tahoma" panose="020B0604030504040204" pitchFamily="34" charset="0"/>
              </a:rPr>
              <a:t>MẪU</a:t>
            </a:r>
            <a:r>
              <a:rPr dirty="0">
                <a:latin typeface="Tahoma" panose="020B0604030504040204" pitchFamily="34" charset="0"/>
              </a:rPr>
              <a:t> </a:t>
            </a:r>
            <a:r>
              <a:rPr dirty="0" err="1">
                <a:latin typeface="Tahoma" panose="020B0604030504040204" pitchFamily="34" charset="0"/>
              </a:rPr>
              <a:t>M01</a:t>
            </a:r>
            <a:r>
              <a:rPr dirty="0">
                <a:latin typeface="Tahoma" panose="020B0604030504040204" pitchFamily="34" charset="0"/>
              </a:rPr>
              <a:t> – BÁO CÁO </a:t>
            </a:r>
            <a:r>
              <a:rPr dirty="0" err="1">
                <a:latin typeface="Tahoma" panose="020B0604030504040204" pitchFamily="34" charset="0"/>
              </a:rPr>
              <a:t>THÁNG</a:t>
            </a:r>
            <a:r>
              <a:rPr dirty="0">
                <a:latin typeface="Tahoma" panose="020B0604030504040204" pitchFamily="34" charset="0"/>
              </a:rPr>
              <a:t> CÔNG ĐOÀN </a:t>
            </a:r>
            <a:r>
              <a:rPr dirty="0" err="1">
                <a:latin typeface="Tahoma" panose="020B0604030504040204" pitchFamily="34" charset="0"/>
              </a:rPr>
              <a:t>CƠ</a:t>
            </a:r>
            <a:r>
              <a:rPr dirty="0">
                <a:latin typeface="Tahoma" panose="020B0604030504040204" pitchFamily="34" charset="0"/>
              </a:rPr>
              <a:t> </a:t>
            </a:r>
            <a:r>
              <a:rPr dirty="0" err="1">
                <a:latin typeface="Tahoma" panose="020B0604030504040204" pitchFamily="34" charset="0"/>
              </a:rPr>
              <a:t>SỞ</a:t>
            </a:r>
            <a:r>
              <a:rPr dirty="0">
                <a:latin typeface="Tahoma" panose="020B0604030504040204" pitchFamily="34" charset="0"/>
              </a:rPr>
              <a:t> </a:t>
            </a:r>
            <a:r>
              <a:rPr dirty="0" err="1">
                <a:latin typeface="Tahoma" panose="020B0604030504040204" pitchFamily="34" charset="0"/>
              </a:rPr>
              <a:t>TẠI</a:t>
            </a:r>
            <a:r>
              <a:rPr dirty="0">
                <a:latin typeface="Tahoma" panose="020B0604030504040204" pitchFamily="34" charset="0"/>
              </a:rPr>
              <a:t> CÔNG TY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6343" y="1363491"/>
            <a:ext cx="1828800" cy="438912"/>
          </a:xfrm>
          <a:prstGeom prst="rect">
            <a:avLst/>
          </a:prstGeom>
          <a:solidFill>
            <a:srgbClr val="051F71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Tahoma" panose="020B0604030504040204" pitchFamily="34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02919" y="1427499"/>
            <a:ext cx="1755648" cy="307777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900" b="1">
                <a:solidFill>
                  <a:srgbClr val="FFFFFF"/>
                </a:solidFill>
                <a:latin typeface="Arial"/>
              </a:defRPr>
            </a:pPr>
            <a:r>
              <a:rPr sz="1400" dirty="0" err="1">
                <a:latin typeface="Tahoma" panose="020B0604030504040204" pitchFamily="34" charset="0"/>
              </a:rPr>
              <a:t>Nhóm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nội</a:t>
            </a:r>
            <a:r>
              <a:rPr sz="1400" dirty="0">
                <a:latin typeface="Tahoma" panose="020B0604030504040204" pitchFamily="34" charset="0"/>
              </a:rPr>
              <a:t> dung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295143" y="1363491"/>
            <a:ext cx="5669280" cy="438912"/>
          </a:xfrm>
          <a:prstGeom prst="rect">
            <a:avLst/>
          </a:prstGeom>
          <a:solidFill>
            <a:srgbClr val="051F71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Tahoma" panose="020B0604030504040204" pitchFamily="3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331719" y="1427499"/>
            <a:ext cx="5596128" cy="307777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900" b="1">
                <a:solidFill>
                  <a:srgbClr val="FFFFFF"/>
                </a:solidFill>
                <a:latin typeface="Arial"/>
              </a:defRPr>
            </a:pPr>
            <a:r>
              <a:rPr sz="1400" dirty="0" err="1">
                <a:latin typeface="Tahoma" panose="020B0604030504040204" pitchFamily="34" charset="0"/>
              </a:rPr>
              <a:t>Chỉ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tiêu</a:t>
            </a:r>
            <a:r>
              <a:rPr sz="1400" dirty="0">
                <a:latin typeface="Tahoma" panose="020B0604030504040204" pitchFamily="34" charset="0"/>
              </a:rPr>
              <a:t> / </a:t>
            </a:r>
            <a:r>
              <a:rPr sz="1400" dirty="0" err="1">
                <a:latin typeface="Tahoma" panose="020B0604030504040204" pitchFamily="34" charset="0"/>
              </a:rPr>
              <a:t>dữ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liệu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bắt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buộc</a:t>
            </a:r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7964423" y="1363491"/>
            <a:ext cx="3657600" cy="438912"/>
          </a:xfrm>
          <a:prstGeom prst="rect">
            <a:avLst/>
          </a:prstGeom>
          <a:solidFill>
            <a:srgbClr val="051F71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Tahoma" panose="020B0604030504040204" pitchFamily="34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000998" y="1427499"/>
            <a:ext cx="3584448" cy="307777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900" b="1">
                <a:solidFill>
                  <a:srgbClr val="FFFFFF"/>
                </a:solidFill>
                <a:latin typeface="Arial"/>
              </a:defRPr>
            </a:pPr>
            <a:r>
              <a:rPr sz="1400" dirty="0" err="1">
                <a:latin typeface="Tahoma" panose="020B0604030504040204" pitchFamily="34" charset="0"/>
              </a:rPr>
              <a:t>Ví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dụ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đầu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ra</a:t>
            </a:r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466343" y="1802402"/>
            <a:ext cx="1828800" cy="438912"/>
          </a:xfrm>
          <a:prstGeom prst="rect">
            <a:avLst/>
          </a:prstGeom>
          <a:solidFill>
            <a:srgbClr val="FFFFFF"/>
          </a:solidFill>
          <a:ln>
            <a:solidFill>
              <a:srgbClr val="D9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02919" y="1857266"/>
            <a:ext cx="1755648" cy="307777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780" b="0">
                <a:solidFill>
                  <a:srgbClr val="202838"/>
                </a:solidFill>
                <a:latin typeface="Arial"/>
              </a:defRPr>
            </a:pPr>
            <a:r>
              <a:rPr sz="1400" dirty="0">
                <a:latin typeface="Tahoma" panose="020B0604030504040204" pitchFamily="34" charset="0"/>
              </a:rPr>
              <a:t>A. Thông tin </a:t>
            </a:r>
            <a:r>
              <a:rPr sz="1400" dirty="0" err="1">
                <a:latin typeface="Tahoma" panose="020B0604030504040204" pitchFamily="34" charset="0"/>
              </a:rPr>
              <a:t>chung</a:t>
            </a:r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2295143" y="1802402"/>
            <a:ext cx="5669280" cy="438912"/>
          </a:xfrm>
          <a:prstGeom prst="rect">
            <a:avLst/>
          </a:prstGeom>
          <a:solidFill>
            <a:srgbClr val="FFFFFF"/>
          </a:solidFill>
          <a:ln>
            <a:solidFill>
              <a:srgbClr val="D9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331719" y="1857266"/>
            <a:ext cx="5596128" cy="307777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780" b="0">
                <a:solidFill>
                  <a:srgbClr val="202838"/>
                </a:solidFill>
                <a:latin typeface="Arial"/>
              </a:defRPr>
            </a:pPr>
            <a:r>
              <a:rPr sz="1400" dirty="0" err="1">
                <a:latin typeface="Tahoma" panose="020B0604030504040204" pitchFamily="34" charset="0"/>
              </a:rPr>
              <a:t>Tên</a:t>
            </a:r>
            <a:r>
              <a:rPr sz="1400" dirty="0">
                <a:latin typeface="Tahoma" panose="020B0604030504040204" pitchFamily="34" charset="0"/>
              </a:rPr>
              <a:t> Công ty; </a:t>
            </a:r>
            <a:r>
              <a:rPr sz="1400" dirty="0" err="1">
                <a:latin typeface="Tahoma" panose="020B0604030504040204" pitchFamily="34" charset="0"/>
              </a:rPr>
              <a:t>kỳ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báo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cáo</a:t>
            </a:r>
            <a:r>
              <a:rPr sz="1400" dirty="0">
                <a:latin typeface="Tahoma" panose="020B0604030504040204" pitchFamily="34" charset="0"/>
              </a:rPr>
              <a:t>; </a:t>
            </a:r>
            <a:r>
              <a:rPr sz="1400" dirty="0" err="1">
                <a:latin typeface="Tahoma" panose="020B0604030504040204" pitchFamily="34" charset="0"/>
              </a:rPr>
              <a:t>Chủ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tịch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CĐCS</a:t>
            </a:r>
            <a:r>
              <a:rPr sz="1400" dirty="0">
                <a:latin typeface="Tahoma" panose="020B0604030504040204" pitchFamily="34" charset="0"/>
              </a:rPr>
              <a:t>; </a:t>
            </a:r>
            <a:r>
              <a:rPr sz="1400" dirty="0" err="1">
                <a:latin typeface="Tahoma" panose="020B0604030504040204" pitchFamily="34" charset="0"/>
              </a:rPr>
              <a:t>người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lập</a:t>
            </a:r>
            <a:r>
              <a:rPr sz="1400" dirty="0">
                <a:latin typeface="Tahoma" panose="020B0604030504040204" pitchFamily="34" charset="0"/>
              </a:rPr>
              <a:t>; </a:t>
            </a:r>
            <a:r>
              <a:rPr sz="1400" dirty="0" err="1">
                <a:latin typeface="Tahoma" panose="020B0604030504040204" pitchFamily="34" charset="0"/>
              </a:rPr>
              <a:t>ngày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gửi</a:t>
            </a:r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7964423" y="1802402"/>
            <a:ext cx="3657600" cy="438912"/>
          </a:xfrm>
          <a:prstGeom prst="rect">
            <a:avLst/>
          </a:prstGeom>
          <a:solidFill>
            <a:srgbClr val="FFFFFF"/>
          </a:solidFill>
          <a:ln>
            <a:solidFill>
              <a:srgbClr val="D9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8000998" y="1857266"/>
            <a:ext cx="3584448" cy="307777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780" b="0">
                <a:solidFill>
                  <a:srgbClr val="202838"/>
                </a:solidFill>
                <a:latin typeface="Arial"/>
              </a:defRPr>
            </a:pPr>
            <a:r>
              <a:rPr sz="1400" dirty="0">
                <a:latin typeface="Tahoma" panose="020B0604030504040204" pitchFamily="34" charset="0"/>
              </a:rPr>
              <a:t>GPL – Báo </a:t>
            </a:r>
            <a:r>
              <a:rPr sz="1400" dirty="0" err="1">
                <a:latin typeface="Tahoma" panose="020B0604030504040204" pitchFamily="34" charset="0"/>
              </a:rPr>
              <a:t>cáo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tháng</a:t>
            </a:r>
            <a:r>
              <a:rPr sz="1400" dirty="0">
                <a:latin typeface="Tahoma" panose="020B0604030504040204" pitchFamily="34" charset="0"/>
              </a:rPr>
              <a:t> 08/2026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66343" y="2241314"/>
            <a:ext cx="1828800" cy="438912"/>
          </a:xfrm>
          <a:prstGeom prst="rect">
            <a:avLst/>
          </a:prstGeom>
          <a:solidFill>
            <a:srgbClr val="F7F9FD"/>
          </a:solidFill>
          <a:ln>
            <a:solidFill>
              <a:srgbClr val="D9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502919" y="2296179"/>
            <a:ext cx="1755648" cy="307777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780" b="0">
                <a:solidFill>
                  <a:srgbClr val="202838"/>
                </a:solidFill>
                <a:latin typeface="Arial"/>
              </a:defRPr>
            </a:pPr>
            <a:r>
              <a:rPr sz="1400" dirty="0">
                <a:latin typeface="Tahoma" panose="020B0604030504040204" pitchFamily="34" charset="0"/>
              </a:rPr>
              <a:t>B. Đoàn </a:t>
            </a:r>
            <a:r>
              <a:rPr sz="1400" dirty="0" err="1">
                <a:latin typeface="Tahoma" panose="020B0604030504040204" pitchFamily="34" charset="0"/>
              </a:rPr>
              <a:t>viên</a:t>
            </a:r>
            <a:r>
              <a:rPr sz="1400" dirty="0">
                <a:latin typeface="Tahoma" panose="020B0604030504040204" pitchFamily="34" charset="0"/>
              </a:rPr>
              <a:t>/</a:t>
            </a:r>
            <a:r>
              <a:rPr sz="1400" dirty="0" err="1">
                <a:latin typeface="Tahoma" panose="020B0604030504040204" pitchFamily="34" charset="0"/>
              </a:rPr>
              <a:t>NLĐ</a:t>
            </a:r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2295143" y="2241314"/>
            <a:ext cx="5669280" cy="438912"/>
          </a:xfrm>
          <a:prstGeom prst="rect">
            <a:avLst/>
          </a:prstGeom>
          <a:solidFill>
            <a:srgbClr val="F7F9FD"/>
          </a:solidFill>
          <a:ln>
            <a:solidFill>
              <a:srgbClr val="D9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2331719" y="2296179"/>
            <a:ext cx="5596128" cy="307777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780" b="0">
                <a:solidFill>
                  <a:srgbClr val="202838"/>
                </a:solidFill>
                <a:latin typeface="Arial"/>
              </a:defRPr>
            </a:pPr>
            <a:r>
              <a:rPr sz="1400" dirty="0" err="1">
                <a:latin typeface="Tahoma" panose="020B0604030504040204" pitchFamily="34" charset="0"/>
              </a:rPr>
              <a:t>Tổng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NLĐ</a:t>
            </a:r>
            <a:r>
              <a:rPr sz="1400" dirty="0">
                <a:latin typeface="Tahoma" panose="020B0604030504040204" pitchFamily="34" charset="0"/>
              </a:rPr>
              <a:t>; </a:t>
            </a:r>
            <a:r>
              <a:rPr sz="1400" dirty="0" err="1">
                <a:latin typeface="Tahoma" panose="020B0604030504040204" pitchFamily="34" charset="0"/>
              </a:rPr>
              <a:t>tổng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đoàn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viên</a:t>
            </a:r>
            <a:r>
              <a:rPr sz="1400" dirty="0">
                <a:latin typeface="Tahoma" panose="020B0604030504040204" pitchFamily="34" charset="0"/>
              </a:rPr>
              <a:t>; </a:t>
            </a:r>
            <a:r>
              <a:rPr sz="1400" dirty="0" err="1">
                <a:latin typeface="Tahoma" panose="020B0604030504040204" pitchFamily="34" charset="0"/>
              </a:rPr>
              <a:t>tăng</a:t>
            </a:r>
            <a:r>
              <a:rPr sz="1400" dirty="0">
                <a:latin typeface="Tahoma" panose="020B0604030504040204" pitchFamily="34" charset="0"/>
              </a:rPr>
              <a:t>/</a:t>
            </a:r>
            <a:r>
              <a:rPr sz="1400" dirty="0" err="1">
                <a:latin typeface="Tahoma" panose="020B0604030504040204" pitchFamily="34" charset="0"/>
              </a:rPr>
              <a:t>giảm</a:t>
            </a:r>
            <a:r>
              <a:rPr sz="1400" dirty="0">
                <a:latin typeface="Tahoma" panose="020B0604030504040204" pitchFamily="34" charset="0"/>
              </a:rPr>
              <a:t>; </a:t>
            </a:r>
            <a:r>
              <a:rPr sz="1400" dirty="0" err="1">
                <a:latin typeface="Tahoma" panose="020B0604030504040204" pitchFamily="34" charset="0"/>
              </a:rPr>
              <a:t>tỷ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lệ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tham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gia</a:t>
            </a:r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7964423" y="2241314"/>
            <a:ext cx="3657600" cy="438912"/>
          </a:xfrm>
          <a:prstGeom prst="rect">
            <a:avLst/>
          </a:prstGeom>
          <a:solidFill>
            <a:srgbClr val="F7F9FD"/>
          </a:solidFill>
          <a:ln>
            <a:solidFill>
              <a:srgbClr val="D9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8000998" y="2296179"/>
            <a:ext cx="3584448" cy="307777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780" b="0">
                <a:solidFill>
                  <a:srgbClr val="202838"/>
                </a:solidFill>
                <a:latin typeface="Arial"/>
              </a:defRPr>
            </a:pPr>
            <a:r>
              <a:rPr sz="1400" dirty="0">
                <a:latin typeface="Tahoma" panose="020B0604030504040204" pitchFamily="34" charset="0"/>
              </a:rPr>
              <a:t>180 </a:t>
            </a:r>
            <a:r>
              <a:rPr sz="1400" dirty="0" err="1">
                <a:latin typeface="Tahoma" panose="020B0604030504040204" pitchFamily="34" charset="0"/>
              </a:rPr>
              <a:t>NLĐ</a:t>
            </a:r>
            <a:r>
              <a:rPr sz="1400" dirty="0">
                <a:latin typeface="Tahoma" panose="020B0604030504040204" pitchFamily="34" charset="0"/>
              </a:rPr>
              <a:t> / 126 </a:t>
            </a:r>
            <a:r>
              <a:rPr sz="1400" dirty="0" err="1">
                <a:latin typeface="Tahoma" panose="020B0604030504040204" pitchFamily="34" charset="0"/>
              </a:rPr>
              <a:t>đoàn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viên</a:t>
            </a:r>
            <a:r>
              <a:rPr sz="1400" dirty="0">
                <a:latin typeface="Tahoma" panose="020B0604030504040204" pitchFamily="34" charset="0"/>
              </a:rPr>
              <a:t> / +4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66343" y="2680226"/>
            <a:ext cx="1828800" cy="438912"/>
          </a:xfrm>
          <a:prstGeom prst="rect">
            <a:avLst/>
          </a:prstGeom>
          <a:solidFill>
            <a:srgbClr val="FFFFFF"/>
          </a:solidFill>
          <a:ln>
            <a:solidFill>
              <a:srgbClr val="D9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502919" y="2735090"/>
            <a:ext cx="1755648" cy="307777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780" b="0">
                <a:solidFill>
                  <a:srgbClr val="202838"/>
                </a:solidFill>
                <a:latin typeface="Arial"/>
              </a:defRPr>
            </a:pPr>
            <a:r>
              <a:rPr sz="1400" dirty="0">
                <a:latin typeface="Tahoma" panose="020B0604030504040204" pitchFamily="34" charset="0"/>
              </a:rPr>
              <a:t>C. </a:t>
            </a:r>
            <a:r>
              <a:rPr sz="1400" dirty="0" err="1">
                <a:latin typeface="Tahoma" panose="020B0604030504040204" pitchFamily="34" charset="0"/>
              </a:rPr>
              <a:t>Chăm</a:t>
            </a:r>
            <a:r>
              <a:rPr sz="1400" dirty="0">
                <a:latin typeface="Tahoma" panose="020B0604030504040204" pitchFamily="34" charset="0"/>
              </a:rPr>
              <a:t> lo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295143" y="2680226"/>
            <a:ext cx="5669280" cy="438912"/>
          </a:xfrm>
          <a:prstGeom prst="rect">
            <a:avLst/>
          </a:prstGeom>
          <a:solidFill>
            <a:srgbClr val="FFFFFF"/>
          </a:solidFill>
          <a:ln>
            <a:solidFill>
              <a:srgbClr val="D9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2331719" y="2735090"/>
            <a:ext cx="5596128" cy="307777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780" b="0">
                <a:solidFill>
                  <a:srgbClr val="202838"/>
                </a:solidFill>
                <a:latin typeface="Arial"/>
              </a:defRPr>
            </a:pPr>
            <a:r>
              <a:rPr sz="1400" dirty="0">
                <a:latin typeface="Tahoma" panose="020B0604030504040204" pitchFamily="34" charset="0"/>
              </a:rPr>
              <a:t>Sinh </a:t>
            </a:r>
            <a:r>
              <a:rPr sz="1400" dirty="0" err="1">
                <a:latin typeface="Tahoma" panose="020B0604030504040204" pitchFamily="34" charset="0"/>
              </a:rPr>
              <a:t>nhật</a:t>
            </a:r>
            <a:r>
              <a:rPr sz="1400" dirty="0">
                <a:latin typeface="Tahoma" panose="020B0604030504040204" pitchFamily="34" charset="0"/>
              </a:rPr>
              <a:t>; </a:t>
            </a:r>
            <a:r>
              <a:rPr sz="1400" dirty="0" err="1">
                <a:latin typeface="Tahoma" panose="020B0604030504040204" pitchFamily="34" charset="0"/>
              </a:rPr>
              <a:t>hiếu</a:t>
            </a:r>
            <a:r>
              <a:rPr sz="1400" dirty="0">
                <a:latin typeface="Tahoma" panose="020B0604030504040204" pitchFamily="34" charset="0"/>
              </a:rPr>
              <a:t>; </a:t>
            </a:r>
            <a:r>
              <a:rPr sz="1400" dirty="0" err="1">
                <a:latin typeface="Tahoma" panose="020B0604030504040204" pitchFamily="34" charset="0"/>
              </a:rPr>
              <a:t>hỷ</a:t>
            </a:r>
            <a:r>
              <a:rPr sz="1400" dirty="0">
                <a:latin typeface="Tahoma" panose="020B0604030504040204" pitchFamily="34" charset="0"/>
              </a:rPr>
              <a:t>; </a:t>
            </a:r>
            <a:r>
              <a:rPr sz="1400" dirty="0" err="1">
                <a:latin typeface="Tahoma" panose="020B0604030504040204" pitchFamily="34" charset="0"/>
              </a:rPr>
              <a:t>thăm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hỏi</a:t>
            </a:r>
            <a:r>
              <a:rPr sz="1400" dirty="0">
                <a:latin typeface="Tahoma" panose="020B0604030504040204" pitchFamily="34" charset="0"/>
              </a:rPr>
              <a:t>; </a:t>
            </a:r>
            <a:r>
              <a:rPr sz="1400" dirty="0" err="1">
                <a:latin typeface="Tahoma" panose="020B0604030504040204" pitchFamily="34" charset="0"/>
              </a:rPr>
              <a:t>sinh</a:t>
            </a:r>
            <a:r>
              <a:rPr sz="1400" dirty="0">
                <a:latin typeface="Tahoma" panose="020B0604030504040204" pitchFamily="34" charset="0"/>
              </a:rPr>
              <a:t> con; </a:t>
            </a:r>
            <a:r>
              <a:rPr sz="1400" dirty="0" err="1">
                <a:latin typeface="Tahoma" panose="020B0604030504040204" pitchFamily="34" charset="0"/>
              </a:rPr>
              <a:t>khó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khăn</a:t>
            </a:r>
            <a:r>
              <a:rPr sz="1400" dirty="0">
                <a:latin typeface="Tahoma" panose="020B0604030504040204" pitchFamily="34" charset="0"/>
              </a:rPr>
              <a:t>; </a:t>
            </a:r>
            <a:r>
              <a:rPr sz="1400" dirty="0" err="1">
                <a:latin typeface="Tahoma" panose="020B0604030504040204" pitchFamily="34" charset="0"/>
              </a:rPr>
              <a:t>đúng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hạn</a:t>
            </a:r>
            <a:r>
              <a:rPr sz="1400" dirty="0">
                <a:latin typeface="Tahoma" panose="020B0604030504040204" pitchFamily="34" charset="0"/>
              </a:rPr>
              <a:t>/</a:t>
            </a:r>
            <a:r>
              <a:rPr sz="1400" dirty="0" err="1">
                <a:latin typeface="Tahoma" panose="020B0604030504040204" pitchFamily="34" charset="0"/>
              </a:rPr>
              <a:t>chậm</a:t>
            </a:r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7964423" y="2680226"/>
            <a:ext cx="3657600" cy="438912"/>
          </a:xfrm>
          <a:prstGeom prst="rect">
            <a:avLst/>
          </a:prstGeom>
          <a:solidFill>
            <a:srgbClr val="FFFFFF"/>
          </a:solidFill>
          <a:ln>
            <a:solidFill>
              <a:srgbClr val="D9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8000998" y="2735090"/>
            <a:ext cx="3584448" cy="307777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780" b="0">
                <a:solidFill>
                  <a:srgbClr val="202838"/>
                </a:solidFill>
                <a:latin typeface="Arial"/>
              </a:defRPr>
            </a:pPr>
            <a:r>
              <a:rPr sz="1400" dirty="0">
                <a:latin typeface="Tahoma" panose="020B0604030504040204" pitchFamily="34" charset="0"/>
              </a:rPr>
              <a:t>12 </a:t>
            </a:r>
            <a:r>
              <a:rPr sz="1400" dirty="0" err="1">
                <a:latin typeface="Tahoma" panose="020B0604030504040204" pitchFamily="34" charset="0"/>
              </a:rPr>
              <a:t>trường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hợp</a:t>
            </a:r>
            <a:r>
              <a:rPr sz="1400" dirty="0">
                <a:latin typeface="Tahoma" panose="020B0604030504040204" pitchFamily="34" charset="0"/>
              </a:rPr>
              <a:t> – 100% </a:t>
            </a:r>
            <a:r>
              <a:rPr sz="1400" dirty="0" err="1">
                <a:latin typeface="Tahoma" panose="020B0604030504040204" pitchFamily="34" charset="0"/>
              </a:rPr>
              <a:t>đúng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hạn</a:t>
            </a:r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466343" y="3119138"/>
            <a:ext cx="1828800" cy="438912"/>
          </a:xfrm>
          <a:prstGeom prst="rect">
            <a:avLst/>
          </a:prstGeom>
          <a:solidFill>
            <a:srgbClr val="F7F9FD"/>
          </a:solidFill>
          <a:ln>
            <a:solidFill>
              <a:srgbClr val="D9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502919" y="3174002"/>
            <a:ext cx="1755648" cy="307777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780" b="0">
                <a:solidFill>
                  <a:srgbClr val="202838"/>
                </a:solidFill>
                <a:latin typeface="Arial"/>
              </a:defRPr>
            </a:pPr>
            <a:r>
              <a:rPr sz="1400" dirty="0">
                <a:latin typeface="Tahoma" panose="020B0604030504040204" pitchFamily="34" charset="0"/>
              </a:rPr>
              <a:t>D. </a:t>
            </a:r>
            <a:r>
              <a:rPr sz="1400" dirty="0" err="1">
                <a:latin typeface="Tahoma" panose="020B0604030504040204" pitchFamily="34" charset="0"/>
              </a:rPr>
              <a:t>Kiến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nghị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NLĐ</a:t>
            </a:r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2295143" y="3119138"/>
            <a:ext cx="5669280" cy="438912"/>
          </a:xfrm>
          <a:prstGeom prst="rect">
            <a:avLst/>
          </a:prstGeom>
          <a:solidFill>
            <a:srgbClr val="F7F9FD"/>
          </a:solidFill>
          <a:ln>
            <a:solidFill>
              <a:srgbClr val="D9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2331719" y="3174002"/>
            <a:ext cx="5596128" cy="307777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780" b="0">
                <a:solidFill>
                  <a:srgbClr val="202838"/>
                </a:solidFill>
                <a:latin typeface="Arial"/>
              </a:defRPr>
            </a:pPr>
            <a:r>
              <a:rPr sz="1400" dirty="0" err="1">
                <a:latin typeface="Tahoma" panose="020B0604030504040204" pitchFamily="34" charset="0"/>
              </a:rPr>
              <a:t>Mã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vụ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việc</a:t>
            </a:r>
            <a:r>
              <a:rPr sz="1400" dirty="0">
                <a:latin typeface="Tahoma" panose="020B0604030504040204" pitchFamily="34" charset="0"/>
              </a:rPr>
              <a:t>; </a:t>
            </a:r>
            <a:r>
              <a:rPr sz="1400" dirty="0" err="1">
                <a:latin typeface="Tahoma" panose="020B0604030504040204" pitchFamily="34" charset="0"/>
              </a:rPr>
              <a:t>nhóm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vấn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đề</a:t>
            </a:r>
            <a:r>
              <a:rPr sz="1400" dirty="0">
                <a:latin typeface="Tahoma" panose="020B0604030504040204" pitchFamily="34" charset="0"/>
              </a:rPr>
              <a:t>; PIC; deadline; </a:t>
            </a:r>
            <a:r>
              <a:rPr sz="1400" dirty="0" err="1">
                <a:latin typeface="Tahoma" panose="020B0604030504040204" pitchFamily="34" charset="0"/>
              </a:rPr>
              <a:t>trạng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thái</a:t>
            </a:r>
            <a:r>
              <a:rPr sz="1400" dirty="0">
                <a:latin typeface="Tahoma" panose="020B0604030504040204" pitchFamily="34" charset="0"/>
              </a:rPr>
              <a:t>; </a:t>
            </a:r>
            <a:r>
              <a:rPr sz="1400" dirty="0" err="1">
                <a:latin typeface="Tahoma" panose="020B0604030504040204" pitchFamily="34" charset="0"/>
              </a:rPr>
              <a:t>kết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quả</a:t>
            </a:r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7964423" y="3119138"/>
            <a:ext cx="3657600" cy="438912"/>
          </a:xfrm>
          <a:prstGeom prst="rect">
            <a:avLst/>
          </a:prstGeom>
          <a:solidFill>
            <a:srgbClr val="F7F9FD"/>
          </a:solidFill>
          <a:ln>
            <a:solidFill>
              <a:srgbClr val="D9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8000998" y="3174002"/>
            <a:ext cx="3584448" cy="307777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780" b="0">
                <a:solidFill>
                  <a:srgbClr val="202838"/>
                </a:solidFill>
                <a:latin typeface="Arial"/>
              </a:defRPr>
            </a:pPr>
            <a:r>
              <a:rPr sz="1400" dirty="0">
                <a:latin typeface="Tahoma" panose="020B0604030504040204" pitchFamily="34" charset="0"/>
              </a:rPr>
              <a:t>5 </a:t>
            </a:r>
            <a:r>
              <a:rPr sz="1400" dirty="0" err="1">
                <a:latin typeface="Tahoma" panose="020B0604030504040204" pitchFamily="34" charset="0"/>
              </a:rPr>
              <a:t>vụ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việc</a:t>
            </a:r>
            <a:r>
              <a:rPr sz="1400" dirty="0">
                <a:latin typeface="Tahoma" panose="020B0604030504040204" pitchFamily="34" charset="0"/>
              </a:rPr>
              <a:t>: 3 </a:t>
            </a:r>
            <a:r>
              <a:rPr sz="1400" dirty="0" err="1">
                <a:latin typeface="Tahoma" panose="020B0604030504040204" pitchFamily="34" charset="0"/>
              </a:rPr>
              <a:t>đóng</a:t>
            </a:r>
            <a:r>
              <a:rPr sz="1400" dirty="0">
                <a:latin typeface="Tahoma" panose="020B0604030504040204" pitchFamily="34" charset="0"/>
              </a:rPr>
              <a:t> / 2 </a:t>
            </a:r>
            <a:r>
              <a:rPr sz="1400" dirty="0" err="1">
                <a:latin typeface="Tahoma" panose="020B0604030504040204" pitchFamily="34" charset="0"/>
              </a:rPr>
              <a:t>đang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xử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lý</a:t>
            </a:r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466343" y="3558050"/>
            <a:ext cx="1828800" cy="438912"/>
          </a:xfrm>
          <a:prstGeom prst="rect">
            <a:avLst/>
          </a:prstGeom>
          <a:solidFill>
            <a:srgbClr val="FFFFFF"/>
          </a:solidFill>
          <a:ln>
            <a:solidFill>
              <a:srgbClr val="D9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502919" y="3612914"/>
            <a:ext cx="1755648" cy="307777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780" b="0">
                <a:solidFill>
                  <a:srgbClr val="202838"/>
                </a:solidFill>
                <a:latin typeface="Arial"/>
              </a:defRPr>
            </a:pPr>
            <a:r>
              <a:rPr sz="1400" dirty="0">
                <a:latin typeface="Tahoma" panose="020B0604030504040204" pitchFamily="34" charset="0"/>
              </a:rPr>
              <a:t>E. </a:t>
            </a:r>
            <a:r>
              <a:rPr sz="1400" dirty="0" err="1">
                <a:latin typeface="Tahoma" panose="020B0604030504040204" pitchFamily="34" charset="0"/>
              </a:rPr>
              <a:t>Hoạt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động</a:t>
            </a:r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2295143" y="3558050"/>
            <a:ext cx="5669280" cy="438912"/>
          </a:xfrm>
          <a:prstGeom prst="rect">
            <a:avLst/>
          </a:prstGeom>
          <a:solidFill>
            <a:srgbClr val="FFFFFF"/>
          </a:solidFill>
          <a:ln>
            <a:solidFill>
              <a:srgbClr val="D9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2331719" y="3612914"/>
            <a:ext cx="5596128" cy="307777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780" b="0">
                <a:solidFill>
                  <a:srgbClr val="202838"/>
                </a:solidFill>
                <a:latin typeface="Arial"/>
              </a:defRPr>
            </a:pPr>
            <a:r>
              <a:rPr sz="1400" dirty="0" err="1">
                <a:latin typeface="Tahoma" panose="020B0604030504040204" pitchFamily="34" charset="0"/>
              </a:rPr>
              <a:t>Tên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chương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trình</a:t>
            </a:r>
            <a:r>
              <a:rPr sz="1400" dirty="0">
                <a:latin typeface="Tahoma" panose="020B0604030504040204" pitchFamily="34" charset="0"/>
              </a:rPr>
              <a:t>; </a:t>
            </a:r>
            <a:r>
              <a:rPr sz="1400" dirty="0" err="1">
                <a:latin typeface="Tahoma" panose="020B0604030504040204" pitchFamily="34" charset="0"/>
              </a:rPr>
              <a:t>số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người</a:t>
            </a:r>
            <a:r>
              <a:rPr sz="1400" dirty="0">
                <a:latin typeface="Tahoma" panose="020B0604030504040204" pitchFamily="34" charset="0"/>
              </a:rPr>
              <a:t>; chi </a:t>
            </a:r>
            <a:r>
              <a:rPr sz="1400" dirty="0" err="1">
                <a:latin typeface="Tahoma" panose="020B0604030504040204" pitchFamily="34" charset="0"/>
              </a:rPr>
              <a:t>phí</a:t>
            </a:r>
            <a:r>
              <a:rPr sz="1400" dirty="0">
                <a:latin typeface="Tahoma" panose="020B0604030504040204" pitchFamily="34" charset="0"/>
              </a:rPr>
              <a:t>; </a:t>
            </a:r>
            <a:r>
              <a:rPr sz="1400" dirty="0" err="1">
                <a:latin typeface="Tahoma" panose="020B0604030504040204" pitchFamily="34" charset="0"/>
              </a:rPr>
              <a:t>tỷ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lệ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tham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gia</a:t>
            </a:r>
            <a:r>
              <a:rPr sz="1400" dirty="0">
                <a:latin typeface="Tahoma" panose="020B0604030504040204" pitchFamily="34" charset="0"/>
              </a:rPr>
              <a:t>; </a:t>
            </a:r>
            <a:r>
              <a:rPr sz="1400" dirty="0" err="1">
                <a:latin typeface="Tahoma" panose="020B0604030504040204" pitchFamily="34" charset="0"/>
              </a:rPr>
              <a:t>phản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hồi</a:t>
            </a:r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44" name="Rectangle 43"/>
          <p:cNvSpPr/>
          <p:nvPr/>
        </p:nvSpPr>
        <p:spPr>
          <a:xfrm>
            <a:off x="7964423" y="3558050"/>
            <a:ext cx="3657600" cy="438912"/>
          </a:xfrm>
          <a:prstGeom prst="rect">
            <a:avLst/>
          </a:prstGeom>
          <a:solidFill>
            <a:srgbClr val="FFFFFF"/>
          </a:solidFill>
          <a:ln>
            <a:solidFill>
              <a:srgbClr val="D9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8000998" y="3612914"/>
            <a:ext cx="3584448" cy="307777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780" b="0">
                <a:solidFill>
                  <a:srgbClr val="202838"/>
                </a:solidFill>
                <a:latin typeface="Arial"/>
              </a:defRPr>
            </a:pPr>
            <a:r>
              <a:rPr sz="1400" dirty="0" err="1">
                <a:latin typeface="Tahoma" panose="020B0604030504040204" pitchFamily="34" charset="0"/>
              </a:rPr>
              <a:t>Bữa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trưa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kết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nối</a:t>
            </a:r>
            <a:r>
              <a:rPr sz="1400" dirty="0">
                <a:latin typeface="Tahoma" panose="020B0604030504040204" pitchFamily="34" charset="0"/>
              </a:rPr>
              <a:t> – 32 </a:t>
            </a:r>
            <a:r>
              <a:rPr sz="1400" dirty="0" err="1">
                <a:latin typeface="Tahoma" panose="020B0604030504040204" pitchFamily="34" charset="0"/>
              </a:rPr>
              <a:t>người</a:t>
            </a:r>
            <a:r>
              <a:rPr sz="1400" dirty="0">
                <a:latin typeface="Tahoma" panose="020B0604030504040204" pitchFamily="34" charset="0"/>
              </a:rPr>
              <a:t> – 4,6/5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66343" y="3996963"/>
            <a:ext cx="1828800" cy="438912"/>
          </a:xfrm>
          <a:prstGeom prst="rect">
            <a:avLst/>
          </a:prstGeom>
          <a:solidFill>
            <a:srgbClr val="F7F9FD"/>
          </a:solidFill>
          <a:ln>
            <a:solidFill>
              <a:srgbClr val="D9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502919" y="4051827"/>
            <a:ext cx="1755648" cy="307777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780" b="0">
                <a:solidFill>
                  <a:srgbClr val="202838"/>
                </a:solidFill>
                <a:latin typeface="Arial"/>
              </a:defRPr>
            </a:pPr>
            <a:r>
              <a:rPr sz="1400" dirty="0">
                <a:latin typeface="Tahoma" panose="020B0604030504040204" pitchFamily="34" charset="0"/>
              </a:rPr>
              <a:t>F. Thu – chi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295143" y="3996963"/>
            <a:ext cx="5669280" cy="438912"/>
          </a:xfrm>
          <a:prstGeom prst="rect">
            <a:avLst/>
          </a:prstGeom>
          <a:solidFill>
            <a:srgbClr val="F7F9FD"/>
          </a:solidFill>
          <a:ln>
            <a:solidFill>
              <a:srgbClr val="D9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2331719" y="4051827"/>
            <a:ext cx="5596128" cy="307777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780" b="0">
                <a:solidFill>
                  <a:srgbClr val="202838"/>
                </a:solidFill>
                <a:latin typeface="Arial"/>
              </a:defRPr>
            </a:pPr>
            <a:r>
              <a:rPr sz="1400" dirty="0">
                <a:latin typeface="Tahoma" panose="020B0604030504040204" pitchFamily="34" charset="0"/>
              </a:rPr>
              <a:t>Thu </a:t>
            </a:r>
            <a:r>
              <a:rPr sz="1400" dirty="0" err="1">
                <a:latin typeface="Tahoma" panose="020B0604030504040204" pitchFamily="34" charset="0"/>
              </a:rPr>
              <a:t>kỳ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này</a:t>
            </a:r>
            <a:r>
              <a:rPr sz="1400" dirty="0">
                <a:latin typeface="Tahoma" panose="020B0604030504040204" pitchFamily="34" charset="0"/>
              </a:rPr>
              <a:t>; chi; </a:t>
            </a:r>
            <a:r>
              <a:rPr sz="1400" dirty="0" err="1">
                <a:latin typeface="Tahoma" panose="020B0604030504040204" pitchFamily="34" charset="0"/>
              </a:rPr>
              <a:t>số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dư</a:t>
            </a:r>
            <a:r>
              <a:rPr sz="1400" dirty="0">
                <a:latin typeface="Tahoma" panose="020B0604030504040204" pitchFamily="34" charset="0"/>
              </a:rPr>
              <a:t>; </a:t>
            </a:r>
            <a:r>
              <a:rPr sz="1400" dirty="0" err="1">
                <a:latin typeface="Tahoma" panose="020B0604030504040204" pitchFamily="34" charset="0"/>
              </a:rPr>
              <a:t>chứng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từ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chưa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hoàn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thiện</a:t>
            </a:r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50" name="Rectangle 49"/>
          <p:cNvSpPr/>
          <p:nvPr/>
        </p:nvSpPr>
        <p:spPr>
          <a:xfrm>
            <a:off x="7964423" y="3996963"/>
            <a:ext cx="3657600" cy="438912"/>
          </a:xfrm>
          <a:prstGeom prst="rect">
            <a:avLst/>
          </a:prstGeom>
          <a:solidFill>
            <a:srgbClr val="F7F9FD"/>
          </a:solidFill>
          <a:ln>
            <a:solidFill>
              <a:srgbClr val="D9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8000998" y="4051827"/>
            <a:ext cx="3584448" cy="307777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780" b="0">
                <a:solidFill>
                  <a:srgbClr val="202838"/>
                </a:solidFill>
                <a:latin typeface="Arial"/>
              </a:defRPr>
            </a:pPr>
            <a:r>
              <a:rPr sz="1400" dirty="0">
                <a:latin typeface="Tahoma" panose="020B0604030504040204" pitchFamily="34" charset="0"/>
              </a:rPr>
              <a:t>Chi </a:t>
            </a:r>
            <a:r>
              <a:rPr sz="1400" dirty="0" err="1">
                <a:latin typeface="Tahoma" panose="020B0604030504040204" pitchFamily="34" charset="0"/>
              </a:rPr>
              <a:t>3,2M</a:t>
            </a:r>
            <a:r>
              <a:rPr sz="1400" dirty="0">
                <a:latin typeface="Tahoma" panose="020B0604030504040204" pitchFamily="34" charset="0"/>
              </a:rPr>
              <a:t> – 0 </a:t>
            </a:r>
            <a:r>
              <a:rPr sz="1400" dirty="0" err="1">
                <a:latin typeface="Tahoma" panose="020B0604030504040204" pitchFamily="34" charset="0"/>
              </a:rPr>
              <a:t>chứng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từ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thiếu</a:t>
            </a:r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52" name="Rectangle 51"/>
          <p:cNvSpPr/>
          <p:nvPr/>
        </p:nvSpPr>
        <p:spPr>
          <a:xfrm>
            <a:off x="466343" y="4435875"/>
            <a:ext cx="1828800" cy="438912"/>
          </a:xfrm>
          <a:prstGeom prst="rect">
            <a:avLst/>
          </a:prstGeom>
          <a:solidFill>
            <a:srgbClr val="FFFFFF"/>
          </a:solidFill>
          <a:ln>
            <a:solidFill>
              <a:srgbClr val="D9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502919" y="4490739"/>
            <a:ext cx="1755648" cy="307777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780" b="0">
                <a:solidFill>
                  <a:srgbClr val="202838"/>
                </a:solidFill>
                <a:latin typeface="Arial"/>
              </a:defRPr>
            </a:pPr>
            <a:r>
              <a:rPr sz="1400" dirty="0">
                <a:latin typeface="Tahoma" panose="020B0604030504040204" pitchFamily="34" charset="0"/>
              </a:rPr>
              <a:t>G. </a:t>
            </a:r>
            <a:r>
              <a:rPr sz="1400" dirty="0" err="1">
                <a:latin typeface="Tahoma" panose="020B0604030504040204" pitchFamily="34" charset="0"/>
              </a:rPr>
              <a:t>Kế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hoạch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tháng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tới</a:t>
            </a:r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54" name="Rectangle 53"/>
          <p:cNvSpPr/>
          <p:nvPr/>
        </p:nvSpPr>
        <p:spPr>
          <a:xfrm>
            <a:off x="2295143" y="4435875"/>
            <a:ext cx="5669280" cy="438912"/>
          </a:xfrm>
          <a:prstGeom prst="rect">
            <a:avLst/>
          </a:prstGeom>
          <a:solidFill>
            <a:srgbClr val="FFFFFF"/>
          </a:solidFill>
          <a:ln>
            <a:solidFill>
              <a:srgbClr val="D9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2331719" y="4490739"/>
            <a:ext cx="5596128" cy="307777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780" b="0">
                <a:solidFill>
                  <a:srgbClr val="202838"/>
                </a:solidFill>
                <a:latin typeface="Arial"/>
              </a:defRPr>
            </a:pPr>
            <a:r>
              <a:rPr sz="1400" dirty="0" err="1">
                <a:latin typeface="Tahoma" panose="020B0604030504040204" pitchFamily="34" charset="0"/>
              </a:rPr>
              <a:t>Hoạt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động</a:t>
            </a:r>
            <a:r>
              <a:rPr sz="1400" dirty="0">
                <a:latin typeface="Tahoma" panose="020B0604030504040204" pitchFamily="34" charset="0"/>
              </a:rPr>
              <a:t>; </a:t>
            </a:r>
            <a:r>
              <a:rPr sz="1400" dirty="0" err="1">
                <a:latin typeface="Tahoma" panose="020B0604030504040204" pitchFamily="34" charset="0"/>
              </a:rPr>
              <a:t>thời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gian</a:t>
            </a:r>
            <a:r>
              <a:rPr sz="1400" dirty="0">
                <a:latin typeface="Tahoma" panose="020B0604030504040204" pitchFamily="34" charset="0"/>
              </a:rPr>
              <a:t>; PIC; </a:t>
            </a:r>
            <a:r>
              <a:rPr sz="1400" dirty="0" err="1">
                <a:latin typeface="Tahoma" panose="020B0604030504040204" pitchFamily="34" charset="0"/>
              </a:rPr>
              <a:t>ngân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sách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dự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kiến</a:t>
            </a:r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56" name="Rectangle 55"/>
          <p:cNvSpPr/>
          <p:nvPr/>
        </p:nvSpPr>
        <p:spPr>
          <a:xfrm>
            <a:off x="7964423" y="4435875"/>
            <a:ext cx="3657600" cy="438912"/>
          </a:xfrm>
          <a:prstGeom prst="rect">
            <a:avLst/>
          </a:prstGeom>
          <a:solidFill>
            <a:srgbClr val="FFFFFF"/>
          </a:solidFill>
          <a:ln>
            <a:solidFill>
              <a:srgbClr val="D9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8000998" y="4490739"/>
            <a:ext cx="3584448" cy="307777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780" b="0">
                <a:solidFill>
                  <a:srgbClr val="202838"/>
                </a:solidFill>
                <a:latin typeface="Arial"/>
              </a:defRPr>
            </a:pPr>
            <a:r>
              <a:rPr sz="1400" dirty="0" err="1">
                <a:latin typeface="Tahoma" panose="020B0604030504040204" pitchFamily="34" charset="0"/>
              </a:rPr>
              <a:t>Tuần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lễ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lắng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nghe</a:t>
            </a:r>
            <a:r>
              <a:rPr sz="1400" dirty="0">
                <a:latin typeface="Tahoma" panose="020B0604030504040204" pitchFamily="34" charset="0"/>
              </a:rPr>
              <a:t> – 15/09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66343" y="4874787"/>
            <a:ext cx="1828800" cy="438912"/>
          </a:xfrm>
          <a:prstGeom prst="rect">
            <a:avLst/>
          </a:prstGeom>
          <a:solidFill>
            <a:srgbClr val="F7F9FD"/>
          </a:solidFill>
          <a:ln>
            <a:solidFill>
              <a:srgbClr val="D9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502919" y="4929651"/>
            <a:ext cx="1755648" cy="307777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780" b="0">
                <a:solidFill>
                  <a:srgbClr val="202838"/>
                </a:solidFill>
                <a:latin typeface="Arial"/>
              </a:defRPr>
            </a:pPr>
            <a:r>
              <a:rPr sz="1400" dirty="0">
                <a:latin typeface="Tahoma" panose="020B0604030504040204" pitchFamily="34" charset="0"/>
              </a:rPr>
              <a:t>H. </a:t>
            </a:r>
            <a:r>
              <a:rPr sz="1400" dirty="0" err="1">
                <a:latin typeface="Tahoma" panose="020B0604030504040204" pitchFamily="34" charset="0"/>
              </a:rPr>
              <a:t>Đề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xuất</a:t>
            </a:r>
            <a:r>
              <a:rPr sz="1400" dirty="0">
                <a:latin typeface="Tahoma" panose="020B0604030504040204" pitchFamily="34" charset="0"/>
              </a:rPr>
              <a:t>/</a:t>
            </a:r>
            <a:r>
              <a:rPr sz="1400" dirty="0" err="1">
                <a:latin typeface="Tahoma" panose="020B0604030504040204" pitchFamily="34" charset="0"/>
              </a:rPr>
              <a:t>kiến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nghị</a:t>
            </a:r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60" name="Rectangle 59"/>
          <p:cNvSpPr/>
          <p:nvPr/>
        </p:nvSpPr>
        <p:spPr>
          <a:xfrm>
            <a:off x="2295143" y="4874787"/>
            <a:ext cx="5669280" cy="438912"/>
          </a:xfrm>
          <a:prstGeom prst="rect">
            <a:avLst/>
          </a:prstGeom>
          <a:solidFill>
            <a:srgbClr val="F7F9FD"/>
          </a:solidFill>
          <a:ln>
            <a:solidFill>
              <a:srgbClr val="D9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2331719" y="4929651"/>
            <a:ext cx="5596128" cy="307777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780" b="0">
                <a:solidFill>
                  <a:srgbClr val="202838"/>
                </a:solidFill>
                <a:latin typeface="Arial"/>
              </a:defRPr>
            </a:pPr>
            <a:r>
              <a:rPr sz="1400" dirty="0" err="1">
                <a:latin typeface="Tahoma" panose="020B0604030504040204" pitchFamily="34" charset="0"/>
              </a:rPr>
              <a:t>Nội</a:t>
            </a:r>
            <a:r>
              <a:rPr sz="1400" dirty="0">
                <a:latin typeface="Tahoma" panose="020B0604030504040204" pitchFamily="34" charset="0"/>
              </a:rPr>
              <a:t> dung </a:t>
            </a:r>
            <a:r>
              <a:rPr sz="1400" dirty="0" err="1">
                <a:latin typeface="Tahoma" panose="020B0604030504040204" pitchFamily="34" charset="0"/>
              </a:rPr>
              <a:t>cần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CĐ</a:t>
            </a:r>
            <a:r>
              <a:rPr sz="1400" dirty="0">
                <a:latin typeface="Tahoma" panose="020B0604030504040204" pitchFamily="34" charset="0"/>
              </a:rPr>
              <a:t> GPG/Ban </a:t>
            </a:r>
            <a:r>
              <a:rPr sz="1400" dirty="0" err="1">
                <a:latin typeface="Tahoma" panose="020B0604030504040204" pitchFamily="34" charset="0"/>
              </a:rPr>
              <a:t>CSNLĐ</a:t>
            </a:r>
            <a:r>
              <a:rPr sz="1400" dirty="0">
                <a:latin typeface="Tahoma" panose="020B0604030504040204" pitchFamily="34" charset="0"/>
              </a:rPr>
              <a:t>/</a:t>
            </a:r>
            <a:r>
              <a:rPr sz="1400" dirty="0" err="1">
                <a:latin typeface="Tahoma" panose="020B0604030504040204" pitchFamily="34" charset="0"/>
              </a:rPr>
              <a:t>BLĐ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hỗ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trợ</a:t>
            </a:r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62" name="Rectangle 61"/>
          <p:cNvSpPr/>
          <p:nvPr/>
        </p:nvSpPr>
        <p:spPr>
          <a:xfrm>
            <a:off x="7964423" y="4874787"/>
            <a:ext cx="3657600" cy="438912"/>
          </a:xfrm>
          <a:prstGeom prst="rect">
            <a:avLst/>
          </a:prstGeom>
          <a:solidFill>
            <a:srgbClr val="F7F9FD"/>
          </a:solidFill>
          <a:ln>
            <a:solidFill>
              <a:srgbClr val="D9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8000998" y="4929651"/>
            <a:ext cx="3584448" cy="307777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780" b="0">
                <a:solidFill>
                  <a:srgbClr val="202838"/>
                </a:solidFill>
                <a:latin typeface="Arial"/>
              </a:defRPr>
            </a:pPr>
            <a:r>
              <a:rPr sz="1400" dirty="0">
                <a:latin typeface="Tahoma" panose="020B0604030504040204" pitchFamily="34" charset="0"/>
              </a:rPr>
              <a:t>Xin </a:t>
            </a:r>
            <a:r>
              <a:rPr sz="1400" dirty="0" err="1">
                <a:latin typeface="Tahoma" panose="020B0604030504040204" pitchFamily="34" charset="0"/>
              </a:rPr>
              <a:t>duyệt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thêm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ngân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sách</a:t>
            </a:r>
            <a:r>
              <a:rPr sz="1400" dirty="0">
                <a:latin typeface="Tahoma" panose="020B0604030504040204" pitchFamily="34" charset="0"/>
              </a:rPr>
              <a:t>...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914400" y="5882913"/>
            <a:ext cx="10332720" cy="566928"/>
          </a:xfrm>
          <a:prstGeom prst="roundRect">
            <a:avLst/>
          </a:prstGeom>
          <a:solidFill>
            <a:srgbClr val="051F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1115568" y="6010928"/>
            <a:ext cx="9930384" cy="5232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rPr sz="1400" dirty="0">
                <a:latin typeface="Tahoma" panose="020B0604030504040204" pitchFamily="34" charset="0"/>
              </a:rPr>
              <a:t>Nguyên </a:t>
            </a:r>
            <a:r>
              <a:rPr sz="1400" dirty="0" err="1">
                <a:latin typeface="Tahoma" panose="020B0604030504040204" pitchFamily="34" charset="0"/>
              </a:rPr>
              <a:t>tắc</a:t>
            </a:r>
            <a:r>
              <a:rPr sz="1400" dirty="0">
                <a:latin typeface="Tahoma" panose="020B0604030504040204" pitchFamily="34" charset="0"/>
              </a:rPr>
              <a:t>: </a:t>
            </a:r>
            <a:r>
              <a:rPr sz="1400" dirty="0" err="1">
                <a:latin typeface="Tahoma" panose="020B0604030504040204" pitchFamily="34" charset="0"/>
              </a:rPr>
              <a:t>báo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cáo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phải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thể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hiện</a:t>
            </a:r>
            <a:r>
              <a:rPr sz="1400" dirty="0">
                <a:latin typeface="Tahoma" panose="020B0604030504040204" pitchFamily="34" charset="0"/>
              </a:rPr>
              <a:t> “</a:t>
            </a:r>
            <a:r>
              <a:rPr sz="1400" dirty="0" err="1">
                <a:latin typeface="Tahoma" panose="020B0604030504040204" pitchFamily="34" charset="0"/>
              </a:rPr>
              <a:t>đã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làm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gì</a:t>
            </a:r>
            <a:r>
              <a:rPr sz="1400" dirty="0">
                <a:latin typeface="Tahoma" panose="020B0604030504040204" pitchFamily="34" charset="0"/>
              </a:rPr>
              <a:t> – </a:t>
            </a:r>
            <a:r>
              <a:rPr sz="1400" dirty="0" err="1">
                <a:latin typeface="Tahoma" panose="020B0604030504040204" pitchFamily="34" charset="0"/>
              </a:rPr>
              <a:t>còn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gì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chưa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xong</a:t>
            </a:r>
            <a:r>
              <a:rPr sz="1400" dirty="0">
                <a:latin typeface="Tahoma" panose="020B0604030504040204" pitchFamily="34" charset="0"/>
              </a:rPr>
              <a:t> – ai </a:t>
            </a:r>
            <a:r>
              <a:rPr sz="1400" dirty="0" err="1">
                <a:latin typeface="Tahoma" panose="020B0604030504040204" pitchFamily="34" charset="0"/>
              </a:rPr>
              <a:t>chịu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trách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nhiệm</a:t>
            </a:r>
            <a:r>
              <a:rPr sz="1400" dirty="0">
                <a:latin typeface="Tahoma" panose="020B0604030504040204" pitchFamily="34" charset="0"/>
              </a:rPr>
              <a:t> – </a:t>
            </a:r>
            <a:r>
              <a:rPr sz="1400" dirty="0" err="1">
                <a:latin typeface="Tahoma" panose="020B0604030504040204" pitchFamily="34" charset="0"/>
              </a:rPr>
              <a:t>khi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nào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hoàn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tất</a:t>
            </a:r>
            <a:r>
              <a:rPr sz="1400" dirty="0">
                <a:latin typeface="Tahoma" panose="020B0604030504040204" pitchFamily="34" charset="0"/>
              </a:rPr>
              <a:t> – </a:t>
            </a:r>
            <a:r>
              <a:rPr sz="1400" dirty="0" err="1">
                <a:latin typeface="Tahoma" panose="020B0604030504040204" pitchFamily="34" charset="0"/>
              </a:rPr>
              <a:t>cần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hỗ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trợ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gì</a:t>
            </a:r>
            <a:r>
              <a:rPr sz="1400" dirty="0">
                <a:latin typeface="Tahoma" panose="020B0604030504040204" pitchFamily="34" charset="0"/>
              </a:rPr>
              <a:t>”.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608" y="82296"/>
            <a:ext cx="960120" cy="548640"/>
          </a:xfrm>
          <a:prstGeom prst="rect">
            <a:avLst/>
          </a:prstGeom>
        </p:spPr>
      </p:pic>
      <p:pic>
        <p:nvPicPr>
          <p:cNvPr id="3" name="Picture 2" descr="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64008"/>
            <a:ext cx="646818" cy="585216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274320" y="749808"/>
            <a:ext cx="11649456" cy="22860"/>
          </a:xfrm>
          <a:prstGeom prst="rect">
            <a:avLst/>
          </a:prstGeom>
          <a:solidFill>
            <a:srgbClr val="051F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Tahoma" panose="020B0604030504040204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20040" y="6483096"/>
            <a:ext cx="2077813" cy="22313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051F71"/>
                </a:solidFill>
                <a:latin typeface="Arial"/>
              </a:defRPr>
            </a:pPr>
            <a:r>
              <a:rPr dirty="0">
                <a:latin typeface="Tahoma" panose="020B0604030504040204" pitchFamily="34" charset="0"/>
              </a:rPr>
              <a:t>CÔNG ĐOÀN GPG | GPG TRADE UNION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88474" y="6473952"/>
            <a:ext cx="1284326" cy="21839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19">
                <a:solidFill>
                  <a:srgbClr val="677180"/>
                </a:solidFill>
                <a:latin typeface="Arial"/>
              </a:defRPr>
            </a:pPr>
            <a:r>
              <a:rPr dirty="0">
                <a:latin typeface="Tahoma" panose="020B0604030504040204" pitchFamily="34" charset="0"/>
              </a:rPr>
              <a:t>IV. </a:t>
            </a:r>
            <a:r>
              <a:rPr dirty="0" err="1">
                <a:latin typeface="Tahoma" panose="020B0604030504040204" pitchFamily="34" charset="0"/>
              </a:rPr>
              <a:t>BIỂU</a:t>
            </a:r>
            <a:r>
              <a:rPr dirty="0">
                <a:latin typeface="Tahoma" panose="020B0604030504040204" pitchFamily="34" charset="0"/>
              </a:rPr>
              <a:t> </a:t>
            </a:r>
            <a:r>
              <a:rPr dirty="0" err="1">
                <a:latin typeface="Tahoma" panose="020B0604030504040204" pitchFamily="34" charset="0"/>
              </a:rPr>
              <a:t>MẪU</a:t>
            </a:r>
            <a:r>
              <a:rPr dirty="0">
                <a:latin typeface="Tahoma" panose="020B0604030504040204" pitchFamily="34" charset="0"/>
              </a:rPr>
              <a:t> BÁO CÁO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93198" y="6455664"/>
            <a:ext cx="338554" cy="2385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051F71"/>
                </a:solidFill>
                <a:latin typeface="Arial"/>
              </a:defRPr>
            </a:pPr>
            <a:r>
              <a:rPr dirty="0">
                <a:latin typeface="Tahoma" panose="020B0604030504040204" pitchFamily="34" charset="0"/>
              </a:rPr>
              <a:t>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3179" y="235157"/>
            <a:ext cx="13130518" cy="50013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50" b="1">
                <a:solidFill>
                  <a:srgbClr val="051F71"/>
                </a:solidFill>
                <a:latin typeface="Arial Narrow"/>
              </a:defRPr>
            </a:pPr>
            <a:r>
              <a:rPr dirty="0" err="1">
                <a:latin typeface="Tahoma" panose="020B0604030504040204" pitchFamily="34" charset="0"/>
              </a:rPr>
              <a:t>BIỂU</a:t>
            </a:r>
            <a:r>
              <a:rPr dirty="0">
                <a:latin typeface="Tahoma" panose="020B0604030504040204" pitchFamily="34" charset="0"/>
              </a:rPr>
              <a:t> </a:t>
            </a:r>
            <a:r>
              <a:rPr dirty="0" err="1">
                <a:latin typeface="Tahoma" panose="020B0604030504040204" pitchFamily="34" charset="0"/>
              </a:rPr>
              <a:t>MẪU</a:t>
            </a:r>
            <a:r>
              <a:rPr dirty="0">
                <a:latin typeface="Tahoma" panose="020B0604030504040204" pitchFamily="34" charset="0"/>
              </a:rPr>
              <a:t> </a:t>
            </a:r>
            <a:r>
              <a:rPr dirty="0" err="1">
                <a:latin typeface="Tahoma" panose="020B0604030504040204" pitchFamily="34" charset="0"/>
              </a:rPr>
              <a:t>M02</a:t>
            </a:r>
            <a:r>
              <a:rPr dirty="0">
                <a:latin typeface="Tahoma" panose="020B0604030504040204" pitchFamily="34" charset="0"/>
              </a:rPr>
              <a:t> – BÁO CÁO SAU </a:t>
            </a:r>
            <a:r>
              <a:rPr dirty="0" err="1">
                <a:latin typeface="Tahoma" panose="020B0604030504040204" pitchFamily="34" charset="0"/>
              </a:rPr>
              <a:t>CHƯƠNG</a:t>
            </a:r>
            <a:r>
              <a:rPr dirty="0">
                <a:latin typeface="Tahoma" panose="020B0604030504040204" pitchFamily="34" charset="0"/>
              </a:rPr>
              <a:t> </a:t>
            </a:r>
            <a:r>
              <a:rPr dirty="0" err="1">
                <a:latin typeface="Tahoma" panose="020B0604030504040204" pitchFamily="34" charset="0"/>
              </a:rPr>
              <a:t>TRÌNH</a:t>
            </a:r>
            <a:r>
              <a:rPr dirty="0">
                <a:latin typeface="Tahoma" panose="020B0604030504040204" pitchFamily="34" charset="0"/>
              </a:rPr>
              <a:t> / </a:t>
            </a:r>
            <a:r>
              <a:rPr dirty="0" err="1">
                <a:latin typeface="Tahoma" panose="020B0604030504040204" pitchFamily="34" charset="0"/>
              </a:rPr>
              <a:t>HOẠT</a:t>
            </a:r>
            <a:r>
              <a:rPr dirty="0">
                <a:latin typeface="Tahoma" panose="020B0604030504040204" pitchFamily="34" charset="0"/>
              </a:rPr>
              <a:t> </a:t>
            </a:r>
            <a:r>
              <a:rPr dirty="0" err="1">
                <a:latin typeface="Tahoma" panose="020B0604030504040204" pitchFamily="34" charset="0"/>
              </a:rPr>
              <a:t>ĐỘNG</a:t>
            </a:r>
            <a:r>
              <a:rPr dirty="0">
                <a:latin typeface="Tahoma" panose="020B0604030504040204" pitchFamily="34" charset="0"/>
              </a:rPr>
              <a:t> CÔNG ĐOÀN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042272"/>
            <a:ext cx="2286000" cy="475488"/>
          </a:xfrm>
          <a:prstGeom prst="rect">
            <a:avLst/>
          </a:prstGeom>
          <a:solidFill>
            <a:srgbClr val="051F71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22376" y="1106280"/>
            <a:ext cx="2212848" cy="307777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900" b="1">
                <a:solidFill>
                  <a:srgbClr val="FFFFFF"/>
                </a:solidFill>
                <a:latin typeface="Arial"/>
              </a:defRPr>
            </a:pPr>
            <a:r>
              <a:rPr sz="1400" dirty="0" err="1">
                <a:latin typeface="Tahoma" panose="020B0604030504040204" pitchFamily="34" charset="0"/>
              </a:rPr>
              <a:t>Mục</a:t>
            </a:r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2971800" y="1042272"/>
            <a:ext cx="8595360" cy="475488"/>
          </a:xfrm>
          <a:prstGeom prst="rect">
            <a:avLst/>
          </a:prstGeom>
          <a:solidFill>
            <a:srgbClr val="051F71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008376" y="1106280"/>
            <a:ext cx="8522208" cy="307777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900" b="1">
                <a:solidFill>
                  <a:srgbClr val="FFFFFF"/>
                </a:solidFill>
                <a:latin typeface="Arial"/>
              </a:defRPr>
            </a:pPr>
            <a:r>
              <a:rPr sz="1400" dirty="0" err="1">
                <a:latin typeface="Tahoma" panose="020B0604030504040204" pitchFamily="34" charset="0"/>
              </a:rPr>
              <a:t>Nội</a:t>
            </a:r>
            <a:r>
              <a:rPr sz="1400" dirty="0">
                <a:latin typeface="Tahoma" panose="020B0604030504040204" pitchFamily="34" charset="0"/>
              </a:rPr>
              <a:t> dung </a:t>
            </a:r>
            <a:r>
              <a:rPr sz="1400" dirty="0" err="1">
                <a:latin typeface="Tahoma" panose="020B0604030504040204" pitchFamily="34" charset="0"/>
              </a:rPr>
              <a:t>bắt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buộc</a:t>
            </a:r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685800" y="1517760"/>
            <a:ext cx="228600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9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22376" y="1572624"/>
            <a:ext cx="2212848" cy="307777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840" b="0">
                <a:solidFill>
                  <a:srgbClr val="202838"/>
                </a:solidFill>
                <a:latin typeface="Arial"/>
              </a:defRPr>
            </a:pPr>
            <a:r>
              <a:rPr sz="1400" dirty="0">
                <a:latin typeface="Tahoma" panose="020B0604030504040204" pitchFamily="34" charset="0"/>
              </a:rPr>
              <a:t>1. Thông tin </a:t>
            </a:r>
            <a:r>
              <a:rPr sz="1400" dirty="0" err="1">
                <a:latin typeface="Tahoma" panose="020B0604030504040204" pitchFamily="34" charset="0"/>
              </a:rPr>
              <a:t>chương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trình</a:t>
            </a:r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2971800" y="1517760"/>
            <a:ext cx="859536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9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3008376" y="1572624"/>
            <a:ext cx="8522208" cy="307777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840" b="0">
                <a:solidFill>
                  <a:srgbClr val="202838"/>
                </a:solidFill>
                <a:latin typeface="Arial"/>
              </a:defRPr>
            </a:pPr>
            <a:r>
              <a:rPr sz="1400" dirty="0" err="1">
                <a:latin typeface="Tahoma" panose="020B0604030504040204" pitchFamily="34" charset="0"/>
              </a:rPr>
              <a:t>Tên</a:t>
            </a:r>
            <a:r>
              <a:rPr sz="1400" dirty="0">
                <a:latin typeface="Tahoma" panose="020B0604030504040204" pitchFamily="34" charset="0"/>
              </a:rPr>
              <a:t>; </a:t>
            </a:r>
            <a:r>
              <a:rPr sz="1400" dirty="0" err="1">
                <a:latin typeface="Tahoma" panose="020B0604030504040204" pitchFamily="34" charset="0"/>
              </a:rPr>
              <a:t>mục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tiêu</a:t>
            </a:r>
            <a:r>
              <a:rPr sz="1400" dirty="0">
                <a:latin typeface="Tahoma" panose="020B0604030504040204" pitchFamily="34" charset="0"/>
              </a:rPr>
              <a:t>; </a:t>
            </a:r>
            <a:r>
              <a:rPr sz="1400" dirty="0" err="1">
                <a:latin typeface="Tahoma" panose="020B0604030504040204" pitchFamily="34" charset="0"/>
              </a:rPr>
              <a:t>đơn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vị</a:t>
            </a:r>
            <a:r>
              <a:rPr sz="1400" dirty="0">
                <a:latin typeface="Tahoma" panose="020B0604030504040204" pitchFamily="34" charset="0"/>
              </a:rPr>
              <a:t>; </a:t>
            </a:r>
            <a:r>
              <a:rPr sz="1400" dirty="0" err="1">
                <a:latin typeface="Tahoma" panose="020B0604030504040204" pitchFamily="34" charset="0"/>
              </a:rPr>
              <a:t>ngày</a:t>
            </a:r>
            <a:r>
              <a:rPr sz="1400" dirty="0">
                <a:latin typeface="Tahoma" panose="020B0604030504040204" pitchFamily="34" charset="0"/>
              </a:rPr>
              <a:t>/</a:t>
            </a:r>
            <a:r>
              <a:rPr sz="1400" dirty="0" err="1">
                <a:latin typeface="Tahoma" panose="020B0604030504040204" pitchFamily="34" charset="0"/>
              </a:rPr>
              <a:t>giờ</a:t>
            </a:r>
            <a:r>
              <a:rPr sz="1400" dirty="0">
                <a:latin typeface="Tahoma" panose="020B0604030504040204" pitchFamily="34" charset="0"/>
              </a:rPr>
              <a:t>; </a:t>
            </a:r>
            <a:r>
              <a:rPr sz="1400" dirty="0" err="1">
                <a:latin typeface="Tahoma" panose="020B0604030504040204" pitchFamily="34" charset="0"/>
              </a:rPr>
              <a:t>địa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điểm</a:t>
            </a:r>
            <a:r>
              <a:rPr sz="1400" dirty="0">
                <a:latin typeface="Tahoma" panose="020B0604030504040204" pitchFamily="34" charset="0"/>
              </a:rPr>
              <a:t>; PIC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5800" y="1993248"/>
            <a:ext cx="2286000" cy="475488"/>
          </a:xfrm>
          <a:prstGeom prst="rect">
            <a:avLst/>
          </a:prstGeom>
          <a:solidFill>
            <a:srgbClr val="F7F9FD"/>
          </a:solidFill>
          <a:ln>
            <a:solidFill>
              <a:srgbClr val="D9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22376" y="2048112"/>
            <a:ext cx="2212848" cy="307777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840" b="0">
                <a:solidFill>
                  <a:srgbClr val="202838"/>
                </a:solidFill>
                <a:latin typeface="Arial"/>
              </a:defRPr>
            </a:pPr>
            <a:r>
              <a:rPr sz="1400" dirty="0">
                <a:latin typeface="Tahoma" panose="020B0604030504040204" pitchFamily="34" charset="0"/>
              </a:rPr>
              <a:t>2. Quy </a:t>
            </a:r>
            <a:r>
              <a:rPr sz="1400" dirty="0" err="1">
                <a:latin typeface="Tahoma" panose="020B0604030504040204" pitchFamily="34" charset="0"/>
              </a:rPr>
              <a:t>mô</a:t>
            </a:r>
            <a:r>
              <a:rPr sz="1400" dirty="0">
                <a:latin typeface="Tahoma" panose="020B0604030504040204" pitchFamily="34" charset="0"/>
              </a:rPr>
              <a:t> &amp; </a:t>
            </a:r>
            <a:r>
              <a:rPr sz="1400" dirty="0" err="1">
                <a:latin typeface="Tahoma" panose="020B0604030504040204" pitchFamily="34" charset="0"/>
              </a:rPr>
              <a:t>đối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tượng</a:t>
            </a:r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2971800" y="1993248"/>
            <a:ext cx="8595360" cy="475488"/>
          </a:xfrm>
          <a:prstGeom prst="rect">
            <a:avLst/>
          </a:prstGeom>
          <a:solidFill>
            <a:srgbClr val="F7F9FD"/>
          </a:solidFill>
          <a:ln>
            <a:solidFill>
              <a:srgbClr val="D9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3008376" y="2048112"/>
            <a:ext cx="8522208" cy="307777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840" b="0">
                <a:solidFill>
                  <a:srgbClr val="202838"/>
                </a:solidFill>
                <a:latin typeface="Arial"/>
              </a:defRPr>
            </a:pPr>
            <a:r>
              <a:rPr sz="1400" dirty="0" err="1">
                <a:latin typeface="Tahoma" panose="020B0604030504040204" pitchFamily="34" charset="0"/>
              </a:rPr>
              <a:t>Số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mời</a:t>
            </a:r>
            <a:r>
              <a:rPr sz="1400" dirty="0">
                <a:latin typeface="Tahoma" panose="020B0604030504040204" pitchFamily="34" charset="0"/>
              </a:rPr>
              <a:t>; </a:t>
            </a:r>
            <a:r>
              <a:rPr sz="1400" dirty="0" err="1">
                <a:latin typeface="Tahoma" panose="020B0604030504040204" pitchFamily="34" charset="0"/>
              </a:rPr>
              <a:t>số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tham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dự</a:t>
            </a:r>
            <a:r>
              <a:rPr sz="1400" dirty="0">
                <a:latin typeface="Tahoma" panose="020B0604030504040204" pitchFamily="34" charset="0"/>
              </a:rPr>
              <a:t>; </a:t>
            </a:r>
            <a:r>
              <a:rPr sz="1400" dirty="0" err="1">
                <a:latin typeface="Tahoma" panose="020B0604030504040204" pitchFamily="34" charset="0"/>
              </a:rPr>
              <a:t>tỷ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lệ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tham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gia</a:t>
            </a:r>
            <a:r>
              <a:rPr sz="1400" dirty="0">
                <a:latin typeface="Tahoma" panose="020B0604030504040204" pitchFamily="34" charset="0"/>
              </a:rPr>
              <a:t>; </a:t>
            </a:r>
            <a:r>
              <a:rPr sz="1400" dirty="0" err="1">
                <a:latin typeface="Tahoma" panose="020B0604030504040204" pitchFamily="34" charset="0"/>
              </a:rPr>
              <a:t>nhóm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NLĐ</a:t>
            </a:r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685800" y="2468736"/>
            <a:ext cx="228600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9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22376" y="2523600"/>
            <a:ext cx="2212848" cy="307777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840" b="0">
                <a:solidFill>
                  <a:srgbClr val="202838"/>
                </a:solidFill>
                <a:latin typeface="Arial"/>
              </a:defRPr>
            </a:pPr>
            <a:r>
              <a:rPr sz="1400" dirty="0">
                <a:latin typeface="Tahoma" panose="020B0604030504040204" pitchFamily="34" charset="0"/>
              </a:rPr>
              <a:t>3. </a:t>
            </a:r>
            <a:r>
              <a:rPr sz="1400" dirty="0" err="1">
                <a:latin typeface="Tahoma" panose="020B0604030504040204" pitchFamily="34" charset="0"/>
              </a:rPr>
              <a:t>Nội</a:t>
            </a:r>
            <a:r>
              <a:rPr sz="1400" dirty="0">
                <a:latin typeface="Tahoma" panose="020B0604030504040204" pitchFamily="34" charset="0"/>
              </a:rPr>
              <a:t> dung </a:t>
            </a:r>
            <a:r>
              <a:rPr sz="1400" dirty="0" err="1">
                <a:latin typeface="Tahoma" panose="020B0604030504040204" pitchFamily="34" charset="0"/>
              </a:rPr>
              <a:t>thực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tế</a:t>
            </a:r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2971800" y="2468736"/>
            <a:ext cx="859536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9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3008376" y="2523600"/>
            <a:ext cx="8522208" cy="307777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840" b="0">
                <a:solidFill>
                  <a:srgbClr val="202838"/>
                </a:solidFill>
                <a:latin typeface="Arial"/>
              </a:defRPr>
            </a:pPr>
            <a:r>
              <a:rPr sz="1400" dirty="0">
                <a:latin typeface="Tahoma" panose="020B0604030504040204" pitchFamily="34" charset="0"/>
              </a:rPr>
              <a:t>Các </a:t>
            </a:r>
            <a:r>
              <a:rPr sz="1400" dirty="0" err="1">
                <a:latin typeface="Tahoma" panose="020B0604030504040204" pitchFamily="34" charset="0"/>
              </a:rPr>
              <a:t>nội</a:t>
            </a:r>
            <a:r>
              <a:rPr sz="1400" dirty="0">
                <a:latin typeface="Tahoma" panose="020B0604030504040204" pitchFamily="34" charset="0"/>
              </a:rPr>
              <a:t> dung </a:t>
            </a:r>
            <a:r>
              <a:rPr sz="1400" dirty="0" err="1">
                <a:latin typeface="Tahoma" panose="020B0604030504040204" pitchFamily="34" charset="0"/>
              </a:rPr>
              <a:t>đã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triển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khai</a:t>
            </a:r>
            <a:r>
              <a:rPr sz="1400" dirty="0">
                <a:latin typeface="Tahoma" panose="020B0604030504040204" pitchFamily="34" charset="0"/>
              </a:rPr>
              <a:t>; </a:t>
            </a:r>
            <a:r>
              <a:rPr sz="1400" dirty="0" err="1">
                <a:latin typeface="Tahoma" panose="020B0604030504040204" pitchFamily="34" charset="0"/>
              </a:rPr>
              <a:t>khác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biệt</a:t>
            </a:r>
            <a:r>
              <a:rPr sz="1400" dirty="0">
                <a:latin typeface="Tahoma" panose="020B0604030504040204" pitchFamily="34" charset="0"/>
              </a:rPr>
              <a:t> so </a:t>
            </a:r>
            <a:r>
              <a:rPr sz="1400" dirty="0" err="1">
                <a:latin typeface="Tahoma" panose="020B0604030504040204" pitchFamily="34" charset="0"/>
              </a:rPr>
              <a:t>kế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hoạch</a:t>
            </a:r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685800" y="2944224"/>
            <a:ext cx="2286000" cy="475488"/>
          </a:xfrm>
          <a:prstGeom prst="rect">
            <a:avLst/>
          </a:prstGeom>
          <a:solidFill>
            <a:srgbClr val="F7F9FD"/>
          </a:solidFill>
          <a:ln>
            <a:solidFill>
              <a:srgbClr val="D9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722376" y="2999088"/>
            <a:ext cx="2212848" cy="307777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840" b="0">
                <a:solidFill>
                  <a:srgbClr val="202838"/>
                </a:solidFill>
                <a:latin typeface="Arial"/>
              </a:defRPr>
            </a:pPr>
            <a:r>
              <a:rPr sz="1400" dirty="0">
                <a:latin typeface="Tahoma" panose="020B0604030504040204" pitchFamily="34" charset="0"/>
              </a:rPr>
              <a:t>4. </a:t>
            </a:r>
            <a:r>
              <a:rPr sz="1400" dirty="0" err="1">
                <a:latin typeface="Tahoma" panose="020B0604030504040204" pitchFamily="34" charset="0"/>
              </a:rPr>
              <a:t>Kết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quả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đầu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ra</a:t>
            </a:r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2971800" y="2944224"/>
            <a:ext cx="8595360" cy="475488"/>
          </a:xfrm>
          <a:prstGeom prst="rect">
            <a:avLst/>
          </a:prstGeom>
          <a:solidFill>
            <a:srgbClr val="F7F9FD"/>
          </a:solidFill>
          <a:ln>
            <a:solidFill>
              <a:srgbClr val="D9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3008376" y="2999088"/>
            <a:ext cx="8522208" cy="307777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840" b="0">
                <a:solidFill>
                  <a:srgbClr val="202838"/>
                </a:solidFill>
                <a:latin typeface="Arial"/>
              </a:defRPr>
            </a:pPr>
            <a:r>
              <a:rPr sz="1400" dirty="0" err="1">
                <a:latin typeface="Tahoma" panose="020B0604030504040204" pitchFamily="34" charset="0"/>
              </a:rPr>
              <a:t>Số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NLĐ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được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tiếp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cận</a:t>
            </a:r>
            <a:r>
              <a:rPr sz="1400" dirty="0">
                <a:latin typeface="Tahoma" panose="020B0604030504040204" pitchFamily="34" charset="0"/>
              </a:rPr>
              <a:t>; </a:t>
            </a:r>
            <a:r>
              <a:rPr sz="1400" dirty="0" err="1">
                <a:latin typeface="Tahoma" panose="020B0604030504040204" pitchFamily="34" charset="0"/>
              </a:rPr>
              <a:t>phản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hồi</a:t>
            </a:r>
            <a:r>
              <a:rPr sz="1400" dirty="0">
                <a:latin typeface="Tahoma" panose="020B0604030504040204" pitchFamily="34" charset="0"/>
              </a:rPr>
              <a:t>; </a:t>
            </a:r>
            <a:r>
              <a:rPr sz="1400" dirty="0" err="1">
                <a:latin typeface="Tahoma" panose="020B0604030504040204" pitchFamily="34" charset="0"/>
              </a:rPr>
              <a:t>vấn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đề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ghi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nhận</a:t>
            </a:r>
            <a:r>
              <a:rPr sz="1400" dirty="0">
                <a:latin typeface="Tahoma" panose="020B0604030504040204" pitchFamily="34" charset="0"/>
              </a:rPr>
              <a:t>; </a:t>
            </a:r>
            <a:r>
              <a:rPr sz="1400" dirty="0" err="1">
                <a:latin typeface="Tahoma" panose="020B0604030504040204" pitchFamily="34" charset="0"/>
              </a:rPr>
              <a:t>đề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xuất</a:t>
            </a:r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685800" y="3419712"/>
            <a:ext cx="228600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9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722376" y="3474576"/>
            <a:ext cx="2212848" cy="307777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840" b="0">
                <a:solidFill>
                  <a:srgbClr val="202838"/>
                </a:solidFill>
                <a:latin typeface="Arial"/>
              </a:defRPr>
            </a:pPr>
            <a:r>
              <a:rPr sz="1400" dirty="0">
                <a:latin typeface="Tahoma" panose="020B0604030504040204" pitchFamily="34" charset="0"/>
              </a:rPr>
              <a:t>5. Ngân </a:t>
            </a:r>
            <a:r>
              <a:rPr sz="1400" dirty="0" err="1">
                <a:latin typeface="Tahoma" panose="020B0604030504040204" pitchFamily="34" charset="0"/>
              </a:rPr>
              <a:t>sách</a:t>
            </a:r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2971800" y="3419712"/>
            <a:ext cx="859536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9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3008376" y="3474576"/>
            <a:ext cx="8522208" cy="307777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840" b="0">
                <a:solidFill>
                  <a:srgbClr val="202838"/>
                </a:solidFill>
                <a:latin typeface="Arial"/>
              </a:defRPr>
            </a:pPr>
            <a:r>
              <a:rPr sz="1400" dirty="0" err="1">
                <a:latin typeface="Tahoma" panose="020B0604030504040204" pitchFamily="34" charset="0"/>
              </a:rPr>
              <a:t>Được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duyệt</a:t>
            </a:r>
            <a:r>
              <a:rPr sz="1400" dirty="0">
                <a:latin typeface="Tahoma" panose="020B0604030504040204" pitchFamily="34" charset="0"/>
              </a:rPr>
              <a:t>; </a:t>
            </a:r>
            <a:r>
              <a:rPr sz="1400" dirty="0" err="1">
                <a:latin typeface="Tahoma" panose="020B0604030504040204" pitchFamily="34" charset="0"/>
              </a:rPr>
              <a:t>thực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tế</a:t>
            </a:r>
            <a:r>
              <a:rPr sz="1400" dirty="0">
                <a:latin typeface="Tahoma" panose="020B0604030504040204" pitchFamily="34" charset="0"/>
              </a:rPr>
              <a:t>; </a:t>
            </a:r>
            <a:r>
              <a:rPr sz="1400" dirty="0" err="1">
                <a:latin typeface="Tahoma" panose="020B0604030504040204" pitchFamily="34" charset="0"/>
              </a:rPr>
              <a:t>chênh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lệch</a:t>
            </a:r>
            <a:r>
              <a:rPr sz="1400" dirty="0">
                <a:latin typeface="Tahoma" panose="020B0604030504040204" pitchFamily="34" charset="0"/>
              </a:rPr>
              <a:t>; </a:t>
            </a:r>
            <a:r>
              <a:rPr sz="1400" dirty="0" err="1">
                <a:latin typeface="Tahoma" panose="020B0604030504040204" pitchFamily="34" charset="0"/>
              </a:rPr>
              <a:t>tình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trạng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chứng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từ</a:t>
            </a:r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685800" y="3895200"/>
            <a:ext cx="2286000" cy="475488"/>
          </a:xfrm>
          <a:prstGeom prst="rect">
            <a:avLst/>
          </a:prstGeom>
          <a:solidFill>
            <a:srgbClr val="F7F9FD"/>
          </a:solidFill>
          <a:ln>
            <a:solidFill>
              <a:srgbClr val="D9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722376" y="3950063"/>
            <a:ext cx="2212848" cy="307777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840" b="0">
                <a:solidFill>
                  <a:srgbClr val="202838"/>
                </a:solidFill>
                <a:latin typeface="Arial"/>
              </a:defRPr>
            </a:pPr>
            <a:r>
              <a:rPr sz="1400" dirty="0">
                <a:latin typeface="Tahoma" panose="020B0604030504040204" pitchFamily="34" charset="0"/>
              </a:rPr>
              <a:t>6. </a:t>
            </a:r>
            <a:r>
              <a:rPr sz="1400" dirty="0" err="1">
                <a:latin typeface="Tahoma" panose="020B0604030504040204" pitchFamily="34" charset="0"/>
              </a:rPr>
              <a:t>Hình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ảnh</a:t>
            </a:r>
            <a:r>
              <a:rPr sz="1400" dirty="0">
                <a:latin typeface="Tahoma" panose="020B0604030504040204" pitchFamily="34" charset="0"/>
              </a:rPr>
              <a:t> / </a:t>
            </a:r>
            <a:r>
              <a:rPr sz="1400" dirty="0" err="1">
                <a:latin typeface="Tahoma" panose="020B0604030504040204" pitchFamily="34" charset="0"/>
              </a:rPr>
              <a:t>tài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liệu</a:t>
            </a:r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2971800" y="3895200"/>
            <a:ext cx="8595360" cy="475488"/>
          </a:xfrm>
          <a:prstGeom prst="rect">
            <a:avLst/>
          </a:prstGeom>
          <a:solidFill>
            <a:srgbClr val="F7F9FD"/>
          </a:solidFill>
          <a:ln>
            <a:solidFill>
              <a:srgbClr val="D9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3008376" y="3950063"/>
            <a:ext cx="8522208" cy="307777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840" b="0">
                <a:solidFill>
                  <a:srgbClr val="202838"/>
                </a:solidFill>
                <a:latin typeface="Arial"/>
              </a:defRPr>
            </a:pPr>
            <a:r>
              <a:rPr sz="1400" dirty="0">
                <a:latin typeface="Tahoma" panose="020B0604030504040204" pitchFamily="34" charset="0"/>
              </a:rPr>
              <a:t>Link </a:t>
            </a:r>
            <a:r>
              <a:rPr sz="1400" dirty="0" err="1">
                <a:latin typeface="Tahoma" panose="020B0604030504040204" pitchFamily="34" charset="0"/>
              </a:rPr>
              <a:t>ảnh</a:t>
            </a:r>
            <a:r>
              <a:rPr sz="1400" dirty="0">
                <a:latin typeface="Tahoma" panose="020B0604030504040204" pitchFamily="34" charset="0"/>
              </a:rPr>
              <a:t>; </a:t>
            </a:r>
            <a:r>
              <a:rPr sz="1400" dirty="0" err="1">
                <a:latin typeface="Tahoma" panose="020B0604030504040204" pitchFamily="34" charset="0"/>
              </a:rPr>
              <a:t>nội</a:t>
            </a:r>
            <a:r>
              <a:rPr sz="1400" dirty="0">
                <a:latin typeface="Tahoma" panose="020B0604030504040204" pitchFamily="34" charset="0"/>
              </a:rPr>
              <a:t> dung </a:t>
            </a:r>
            <a:r>
              <a:rPr sz="1400" dirty="0" err="1">
                <a:latin typeface="Tahoma" panose="020B0604030504040204" pitchFamily="34" charset="0"/>
              </a:rPr>
              <a:t>truyền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thông</a:t>
            </a:r>
            <a:r>
              <a:rPr sz="1400" dirty="0">
                <a:latin typeface="Tahoma" panose="020B0604030504040204" pitchFamily="34" charset="0"/>
              </a:rPr>
              <a:t>; </a:t>
            </a:r>
            <a:r>
              <a:rPr sz="1400" dirty="0" err="1">
                <a:latin typeface="Tahoma" panose="020B0604030504040204" pitchFamily="34" charset="0"/>
              </a:rPr>
              <a:t>danh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sách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tham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dự</a:t>
            </a:r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685800" y="4370687"/>
            <a:ext cx="228600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9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722376" y="4425551"/>
            <a:ext cx="2212848" cy="307777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840" b="0">
                <a:solidFill>
                  <a:srgbClr val="202838"/>
                </a:solidFill>
                <a:latin typeface="Arial"/>
              </a:defRPr>
            </a:pPr>
            <a:r>
              <a:rPr sz="1400" dirty="0">
                <a:latin typeface="Tahoma" panose="020B0604030504040204" pitchFamily="34" charset="0"/>
              </a:rPr>
              <a:t>7. </a:t>
            </a:r>
            <a:r>
              <a:rPr sz="1400" dirty="0" err="1">
                <a:latin typeface="Tahoma" panose="020B0604030504040204" pitchFamily="34" charset="0"/>
              </a:rPr>
              <a:t>Đánh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giá</a:t>
            </a:r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2971800" y="4370687"/>
            <a:ext cx="859536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9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3008376" y="4425551"/>
            <a:ext cx="8522208" cy="307777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840" b="0">
                <a:solidFill>
                  <a:srgbClr val="202838"/>
                </a:solidFill>
                <a:latin typeface="Arial"/>
              </a:defRPr>
            </a:pPr>
            <a:r>
              <a:rPr sz="1400" dirty="0" err="1">
                <a:latin typeface="Tahoma" panose="020B0604030504040204" pitchFamily="34" charset="0"/>
              </a:rPr>
              <a:t>Điểm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hài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lòng</a:t>
            </a:r>
            <a:r>
              <a:rPr sz="1400" dirty="0">
                <a:latin typeface="Tahoma" panose="020B0604030504040204" pitchFamily="34" charset="0"/>
              </a:rPr>
              <a:t>; </a:t>
            </a:r>
            <a:r>
              <a:rPr sz="1400" dirty="0" err="1">
                <a:latin typeface="Tahoma" panose="020B0604030504040204" pitchFamily="34" charset="0"/>
              </a:rPr>
              <a:t>điều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làm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tốt</a:t>
            </a:r>
            <a:r>
              <a:rPr sz="1400" dirty="0">
                <a:latin typeface="Tahoma" panose="020B0604030504040204" pitchFamily="34" charset="0"/>
              </a:rPr>
              <a:t>; </a:t>
            </a:r>
            <a:r>
              <a:rPr sz="1400" dirty="0" err="1">
                <a:latin typeface="Tahoma" panose="020B0604030504040204" pitchFamily="34" charset="0"/>
              </a:rPr>
              <a:t>điều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chưa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tốt</a:t>
            </a:r>
            <a:r>
              <a:rPr sz="1400" dirty="0">
                <a:latin typeface="Tahoma" panose="020B0604030504040204" pitchFamily="34" charset="0"/>
              </a:rPr>
              <a:t>; </a:t>
            </a:r>
            <a:r>
              <a:rPr sz="1400" dirty="0" err="1">
                <a:latin typeface="Tahoma" panose="020B0604030504040204" pitchFamily="34" charset="0"/>
              </a:rPr>
              <a:t>bài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học</a:t>
            </a:r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685800" y="4846175"/>
            <a:ext cx="2286000" cy="475488"/>
          </a:xfrm>
          <a:prstGeom prst="rect">
            <a:avLst/>
          </a:prstGeom>
          <a:solidFill>
            <a:srgbClr val="F7F9FD"/>
          </a:solidFill>
          <a:ln>
            <a:solidFill>
              <a:srgbClr val="D9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722376" y="4901039"/>
            <a:ext cx="2212848" cy="5232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840" b="0">
                <a:solidFill>
                  <a:srgbClr val="202838"/>
                </a:solidFill>
                <a:latin typeface="Arial"/>
              </a:defRPr>
            </a:pPr>
            <a:r>
              <a:rPr sz="1400" dirty="0">
                <a:latin typeface="Tahoma" panose="020B0604030504040204" pitchFamily="34" charset="0"/>
              </a:rPr>
              <a:t>8. </a:t>
            </a:r>
            <a:r>
              <a:rPr sz="1400" dirty="0" err="1">
                <a:latin typeface="Tahoma" panose="020B0604030504040204" pitchFamily="34" charset="0"/>
              </a:rPr>
              <a:t>Hành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động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sau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chương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trình</a:t>
            </a:r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43" name="Rectangle 42"/>
          <p:cNvSpPr/>
          <p:nvPr/>
        </p:nvSpPr>
        <p:spPr>
          <a:xfrm>
            <a:off x="2971800" y="4846175"/>
            <a:ext cx="8595360" cy="475488"/>
          </a:xfrm>
          <a:prstGeom prst="rect">
            <a:avLst/>
          </a:prstGeom>
          <a:solidFill>
            <a:srgbClr val="F7F9FD"/>
          </a:solidFill>
          <a:ln>
            <a:solidFill>
              <a:srgbClr val="D9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3008376" y="4901039"/>
            <a:ext cx="8522208" cy="307777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840" b="0">
                <a:solidFill>
                  <a:srgbClr val="202838"/>
                </a:solidFill>
                <a:latin typeface="Arial"/>
              </a:defRPr>
            </a:pPr>
            <a:r>
              <a:rPr sz="1400" dirty="0" err="1">
                <a:latin typeface="Tahoma" panose="020B0604030504040204" pitchFamily="34" charset="0"/>
              </a:rPr>
              <a:t>Vấn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đề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cần</a:t>
            </a:r>
            <a:r>
              <a:rPr sz="1400" dirty="0">
                <a:latin typeface="Tahoma" panose="020B0604030504040204" pitchFamily="34" charset="0"/>
              </a:rPr>
              <a:t> follow-up; PIC; deadline; </a:t>
            </a:r>
            <a:r>
              <a:rPr sz="1400" dirty="0" err="1">
                <a:latin typeface="Tahoma" panose="020B0604030504040204" pitchFamily="34" charset="0"/>
              </a:rPr>
              <a:t>tình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trạng</a:t>
            </a:r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45" name="Rounded Rectangle 44"/>
          <p:cNvSpPr/>
          <p:nvPr/>
        </p:nvSpPr>
        <p:spPr>
          <a:xfrm>
            <a:off x="685800" y="5532120"/>
            <a:ext cx="315468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9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886968" y="5561464"/>
            <a:ext cx="2788920" cy="307777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050" b="1">
                <a:solidFill>
                  <a:srgbClr val="051F71"/>
                </a:solidFill>
                <a:latin typeface="Arial"/>
              </a:defRPr>
            </a:pPr>
            <a:r>
              <a:rPr sz="1400" dirty="0">
                <a:latin typeface="Tahoma" panose="020B0604030504040204" pitchFamily="34" charset="0"/>
              </a:rPr>
              <a:t>KPI </a:t>
            </a:r>
            <a:r>
              <a:rPr sz="1400" dirty="0" err="1">
                <a:latin typeface="Tahoma" panose="020B0604030504040204" pitchFamily="34" charset="0"/>
              </a:rPr>
              <a:t>GỢI</a:t>
            </a:r>
            <a:r>
              <a:rPr sz="1400" dirty="0">
                <a:latin typeface="Tahoma" panose="020B0604030504040204" pitchFamily="34" charset="0"/>
              </a:rPr>
              <a:t> Ý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05256" y="5797150"/>
            <a:ext cx="2715768" cy="5232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819" b="0">
                <a:solidFill>
                  <a:srgbClr val="202838"/>
                </a:solidFill>
                <a:latin typeface="Arial"/>
              </a:defRPr>
            </a:pPr>
            <a:r>
              <a:rPr sz="1400" dirty="0" err="1">
                <a:latin typeface="Tahoma" panose="020B0604030504040204" pitchFamily="34" charset="0"/>
              </a:rPr>
              <a:t>Tỷ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lệ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tham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gia</a:t>
            </a:r>
            <a:r>
              <a:rPr sz="1400" dirty="0">
                <a:latin typeface="Tahoma" panose="020B0604030504040204" pitchFamily="34" charset="0"/>
              </a:rPr>
              <a:t> • </a:t>
            </a:r>
            <a:r>
              <a:rPr sz="1400" dirty="0" err="1">
                <a:latin typeface="Tahoma" panose="020B0604030504040204" pitchFamily="34" charset="0"/>
              </a:rPr>
              <a:t>Điểm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hữu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ích</a:t>
            </a:r>
            <a:r>
              <a:rPr sz="1400" dirty="0">
                <a:latin typeface="Tahoma" panose="020B0604030504040204" pitchFamily="34" charset="0"/>
              </a:rPr>
              <a:t> </a:t>
            </a:r>
            <a:endParaRPr lang="vi-VN" sz="1400" dirty="0">
              <a:latin typeface="Tahoma" panose="020B0604030504040204" pitchFamily="34" charset="0"/>
            </a:endParaRPr>
          </a:p>
          <a:p>
            <a:pPr algn="l">
              <a:defRPr sz="819" b="0">
                <a:solidFill>
                  <a:srgbClr val="202838"/>
                </a:solidFill>
                <a:latin typeface="Arial"/>
              </a:defRPr>
            </a:pPr>
            <a:r>
              <a:rPr sz="1400" dirty="0">
                <a:latin typeface="Tahoma" panose="020B0604030504040204" pitchFamily="34" charset="0"/>
              </a:rPr>
              <a:t>• Chi </a:t>
            </a:r>
            <a:r>
              <a:rPr sz="1400" dirty="0" err="1">
                <a:latin typeface="Tahoma" panose="020B0604030504040204" pitchFamily="34" charset="0"/>
              </a:rPr>
              <a:t>phí</a:t>
            </a:r>
            <a:r>
              <a:rPr sz="1400" dirty="0">
                <a:latin typeface="Tahoma" panose="020B0604030504040204" pitchFamily="34" charset="0"/>
              </a:rPr>
              <a:t>/</a:t>
            </a:r>
            <a:r>
              <a:rPr sz="1400" dirty="0" err="1">
                <a:latin typeface="Tahoma" panose="020B0604030504040204" pitchFamily="34" charset="0"/>
              </a:rPr>
              <a:t>người</a:t>
            </a:r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48" name="Rounded Rectangle 47"/>
          <p:cNvSpPr/>
          <p:nvPr/>
        </p:nvSpPr>
        <p:spPr>
          <a:xfrm>
            <a:off x="4069080" y="5532120"/>
            <a:ext cx="315468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9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4237882" y="5530196"/>
            <a:ext cx="2788920" cy="307777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050" b="1">
                <a:solidFill>
                  <a:srgbClr val="118F91"/>
                </a:solidFill>
                <a:latin typeface="Arial"/>
              </a:defRPr>
            </a:pPr>
            <a:r>
              <a:rPr sz="1400" dirty="0" err="1">
                <a:latin typeface="Tahoma" panose="020B0604030504040204" pitchFamily="34" charset="0"/>
              </a:rPr>
              <a:t>BẮT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BUỘC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CÓ</a:t>
            </a:r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4270248" y="5780053"/>
            <a:ext cx="2715768" cy="5232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819" b="0">
                <a:solidFill>
                  <a:srgbClr val="202838"/>
                </a:solidFill>
                <a:latin typeface="Arial"/>
              </a:defRPr>
            </a:pPr>
            <a:r>
              <a:rPr sz="1400" dirty="0" err="1">
                <a:latin typeface="Tahoma" panose="020B0604030504040204" pitchFamily="34" charset="0"/>
              </a:rPr>
              <a:t>Ảnh</a:t>
            </a:r>
            <a:r>
              <a:rPr sz="1400" dirty="0">
                <a:latin typeface="Tahoma" panose="020B0604030504040204" pitchFamily="34" charset="0"/>
              </a:rPr>
              <a:t> • </a:t>
            </a:r>
            <a:r>
              <a:rPr sz="1400" dirty="0" err="1">
                <a:latin typeface="Tahoma" panose="020B0604030504040204" pitchFamily="34" charset="0"/>
              </a:rPr>
              <a:t>chứng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từ</a:t>
            </a:r>
            <a:r>
              <a:rPr sz="1400" dirty="0">
                <a:latin typeface="Tahoma" panose="020B0604030504040204" pitchFamily="34" charset="0"/>
              </a:rPr>
              <a:t> • </a:t>
            </a:r>
            <a:r>
              <a:rPr sz="1400" dirty="0" err="1">
                <a:latin typeface="Tahoma" panose="020B0604030504040204" pitchFamily="34" charset="0"/>
              </a:rPr>
              <a:t>danh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sách</a:t>
            </a:r>
            <a:r>
              <a:rPr sz="1400" dirty="0">
                <a:latin typeface="Tahoma" panose="020B0604030504040204" pitchFamily="34" charset="0"/>
              </a:rPr>
              <a:t> • </a:t>
            </a:r>
            <a:r>
              <a:rPr sz="1400" dirty="0" err="1">
                <a:latin typeface="Tahoma" panose="020B0604030504040204" pitchFamily="34" charset="0"/>
              </a:rPr>
              <a:t>phản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hồi</a:t>
            </a:r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51" name="Rounded Rectangle 50"/>
          <p:cNvSpPr/>
          <p:nvPr/>
        </p:nvSpPr>
        <p:spPr>
          <a:xfrm>
            <a:off x="7452360" y="5532120"/>
            <a:ext cx="315468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9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7621162" y="5530196"/>
            <a:ext cx="2788919" cy="307777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050" b="1">
                <a:solidFill>
                  <a:srgbClr val="E87823"/>
                </a:solidFill>
                <a:latin typeface="Arial"/>
              </a:defRPr>
            </a:pPr>
            <a:r>
              <a:rPr sz="1400" dirty="0" err="1">
                <a:latin typeface="Tahoma" panose="020B0604030504040204" pitchFamily="34" charset="0"/>
              </a:rPr>
              <a:t>ĐÓNG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CHƯƠNG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TRÌNH</a:t>
            </a:r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7671816" y="5780053"/>
            <a:ext cx="2715768" cy="5232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819" b="0">
                <a:solidFill>
                  <a:srgbClr val="202838"/>
                </a:solidFill>
                <a:latin typeface="Arial"/>
              </a:defRPr>
            </a:pPr>
            <a:r>
              <a:rPr sz="1400" dirty="0" err="1">
                <a:latin typeface="Tahoma" panose="020B0604030504040204" pitchFamily="34" charset="0"/>
              </a:rPr>
              <a:t>Chỉ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đóng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khi</a:t>
            </a:r>
            <a:r>
              <a:rPr sz="1400" dirty="0">
                <a:latin typeface="Tahoma" panose="020B0604030504040204" pitchFamily="34" charset="0"/>
              </a:rPr>
              <a:t> follow-up </a:t>
            </a:r>
            <a:r>
              <a:rPr sz="1400" dirty="0" err="1">
                <a:latin typeface="Tahoma" panose="020B0604030504040204" pitchFamily="34" charset="0"/>
              </a:rPr>
              <a:t>đã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có</a:t>
            </a:r>
            <a:r>
              <a:rPr sz="1400" dirty="0">
                <a:latin typeface="Tahoma" panose="020B0604030504040204" pitchFamily="34" charset="0"/>
              </a:rPr>
              <a:t> PIC/deadline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608" y="82296"/>
            <a:ext cx="960120" cy="548640"/>
          </a:xfrm>
          <a:prstGeom prst="rect">
            <a:avLst/>
          </a:prstGeom>
        </p:spPr>
      </p:pic>
      <p:pic>
        <p:nvPicPr>
          <p:cNvPr id="3" name="Picture 2" descr="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64008"/>
            <a:ext cx="646818" cy="585216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274320" y="749808"/>
            <a:ext cx="11649456" cy="22860"/>
          </a:xfrm>
          <a:prstGeom prst="rect">
            <a:avLst/>
          </a:prstGeom>
          <a:solidFill>
            <a:srgbClr val="051F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Tahoma" panose="020B0604030504040204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20040" y="6483096"/>
            <a:ext cx="2077813" cy="22313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051F71"/>
                </a:solidFill>
                <a:latin typeface="Arial"/>
              </a:defRPr>
            </a:pPr>
            <a:r>
              <a:rPr dirty="0">
                <a:latin typeface="Tahoma" panose="020B0604030504040204" pitchFamily="34" charset="0"/>
              </a:rPr>
              <a:t>CÔNG ĐOÀN GPG | GPG TRADE UNION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88474" y="6473952"/>
            <a:ext cx="1284326" cy="21839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19">
                <a:solidFill>
                  <a:srgbClr val="677180"/>
                </a:solidFill>
                <a:latin typeface="Arial"/>
              </a:defRPr>
            </a:pPr>
            <a:r>
              <a:rPr dirty="0">
                <a:latin typeface="Tahoma" panose="020B0604030504040204" pitchFamily="34" charset="0"/>
              </a:rPr>
              <a:t>IV. </a:t>
            </a:r>
            <a:r>
              <a:rPr dirty="0" err="1">
                <a:latin typeface="Tahoma" panose="020B0604030504040204" pitchFamily="34" charset="0"/>
              </a:rPr>
              <a:t>BIỂU</a:t>
            </a:r>
            <a:r>
              <a:rPr dirty="0">
                <a:latin typeface="Tahoma" panose="020B0604030504040204" pitchFamily="34" charset="0"/>
              </a:rPr>
              <a:t> </a:t>
            </a:r>
            <a:r>
              <a:rPr dirty="0" err="1">
                <a:latin typeface="Tahoma" panose="020B0604030504040204" pitchFamily="34" charset="0"/>
              </a:rPr>
              <a:t>MẪU</a:t>
            </a:r>
            <a:r>
              <a:rPr dirty="0">
                <a:latin typeface="Tahoma" panose="020B0604030504040204" pitchFamily="34" charset="0"/>
              </a:rPr>
              <a:t> BÁO CÁO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93198" y="6455664"/>
            <a:ext cx="338554" cy="2385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051F71"/>
                </a:solidFill>
                <a:latin typeface="Arial"/>
              </a:defRPr>
            </a:pPr>
            <a:r>
              <a:rPr dirty="0">
                <a:latin typeface="Tahoma" panose="020B0604030504040204" pitchFamily="34" charset="0"/>
              </a:rPr>
              <a:t>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5256" y="159993"/>
            <a:ext cx="12539010" cy="50013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50" b="1">
                <a:solidFill>
                  <a:srgbClr val="051F71"/>
                </a:solidFill>
                <a:latin typeface="Arial Narrow"/>
              </a:defRPr>
            </a:pPr>
            <a:r>
              <a:rPr dirty="0" err="1">
                <a:latin typeface="Tahoma" panose="020B0604030504040204" pitchFamily="34" charset="0"/>
              </a:rPr>
              <a:t>BIỂU</a:t>
            </a:r>
            <a:r>
              <a:rPr dirty="0">
                <a:latin typeface="Tahoma" panose="020B0604030504040204" pitchFamily="34" charset="0"/>
              </a:rPr>
              <a:t> </a:t>
            </a:r>
            <a:r>
              <a:rPr dirty="0" err="1">
                <a:latin typeface="Tahoma" panose="020B0604030504040204" pitchFamily="34" charset="0"/>
              </a:rPr>
              <a:t>MẪU</a:t>
            </a:r>
            <a:r>
              <a:rPr dirty="0">
                <a:latin typeface="Tahoma" panose="020B0604030504040204" pitchFamily="34" charset="0"/>
              </a:rPr>
              <a:t> </a:t>
            </a:r>
            <a:r>
              <a:rPr dirty="0" err="1">
                <a:latin typeface="Tahoma" panose="020B0604030504040204" pitchFamily="34" charset="0"/>
              </a:rPr>
              <a:t>M03</a:t>
            </a:r>
            <a:r>
              <a:rPr dirty="0">
                <a:latin typeface="Tahoma" panose="020B0604030504040204" pitchFamily="34" charset="0"/>
              </a:rPr>
              <a:t> – </a:t>
            </a:r>
            <a:r>
              <a:rPr dirty="0" err="1">
                <a:latin typeface="Tahoma" panose="020B0604030504040204" pitchFamily="34" charset="0"/>
              </a:rPr>
              <a:t>SỔ</a:t>
            </a:r>
            <a:r>
              <a:rPr dirty="0">
                <a:latin typeface="Tahoma" panose="020B0604030504040204" pitchFamily="34" charset="0"/>
              </a:rPr>
              <a:t> THEO </a:t>
            </a:r>
            <a:r>
              <a:rPr dirty="0" err="1">
                <a:latin typeface="Tahoma" panose="020B0604030504040204" pitchFamily="34" charset="0"/>
              </a:rPr>
              <a:t>DÕI</a:t>
            </a:r>
            <a:r>
              <a:rPr dirty="0">
                <a:latin typeface="Tahoma" panose="020B0604030504040204" pitchFamily="34" charset="0"/>
              </a:rPr>
              <a:t> </a:t>
            </a:r>
            <a:r>
              <a:rPr dirty="0" err="1">
                <a:latin typeface="Tahoma" panose="020B0604030504040204" pitchFamily="34" charset="0"/>
              </a:rPr>
              <a:t>KIẾN</a:t>
            </a:r>
            <a:r>
              <a:rPr dirty="0">
                <a:latin typeface="Tahoma" panose="020B0604030504040204" pitchFamily="34" charset="0"/>
              </a:rPr>
              <a:t> </a:t>
            </a:r>
            <a:r>
              <a:rPr dirty="0" err="1">
                <a:latin typeface="Tahoma" panose="020B0604030504040204" pitchFamily="34" charset="0"/>
              </a:rPr>
              <a:t>NGHỊ</a:t>
            </a:r>
            <a:r>
              <a:rPr dirty="0">
                <a:latin typeface="Tahoma" panose="020B0604030504040204" pitchFamily="34" charset="0"/>
              </a:rPr>
              <a:t> / </a:t>
            </a:r>
            <a:r>
              <a:rPr dirty="0" err="1">
                <a:latin typeface="Tahoma" panose="020B0604030504040204" pitchFamily="34" charset="0"/>
              </a:rPr>
              <a:t>VỤ</a:t>
            </a:r>
            <a:r>
              <a:rPr dirty="0">
                <a:latin typeface="Tahoma" panose="020B0604030504040204" pitchFamily="34" charset="0"/>
              </a:rPr>
              <a:t> </a:t>
            </a:r>
            <a:r>
              <a:rPr dirty="0" err="1">
                <a:latin typeface="Tahoma" panose="020B0604030504040204" pitchFamily="34" charset="0"/>
              </a:rPr>
              <a:t>VIỆC</a:t>
            </a:r>
            <a:r>
              <a:rPr dirty="0">
                <a:latin typeface="Tahoma" panose="020B0604030504040204" pitchFamily="34" charset="0"/>
              </a:rPr>
              <a:t> </a:t>
            </a:r>
            <a:r>
              <a:rPr dirty="0" err="1">
                <a:latin typeface="Tahoma" panose="020B0604030504040204" pitchFamily="34" charset="0"/>
              </a:rPr>
              <a:t>NGƯỜI</a:t>
            </a:r>
            <a:r>
              <a:rPr dirty="0">
                <a:latin typeface="Tahoma" panose="020B0604030504040204" pitchFamily="34" charset="0"/>
              </a:rPr>
              <a:t> LAO </a:t>
            </a:r>
            <a:r>
              <a:rPr dirty="0" err="1">
                <a:latin typeface="Tahoma" panose="020B0604030504040204" pitchFamily="34" charset="0"/>
              </a:rPr>
              <a:t>ĐỘNG</a:t>
            </a:r>
            <a:endParaRPr dirty="0">
              <a:latin typeface="Tahoma" panose="020B0604030504040204" pitchFamily="34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393192" y="989111"/>
            <a:ext cx="731520" cy="548640"/>
          </a:xfrm>
          <a:prstGeom prst="rect">
            <a:avLst/>
          </a:prstGeom>
          <a:solidFill>
            <a:srgbClr val="051F71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29767" y="1053119"/>
            <a:ext cx="658368" cy="307777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rial"/>
              </a:defRPr>
            </a:pPr>
            <a:r>
              <a:rPr sz="1400" dirty="0" err="1">
                <a:latin typeface="Tahoma" panose="020B0604030504040204" pitchFamily="34" charset="0"/>
              </a:rPr>
              <a:t>Mã</a:t>
            </a:r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1124712" y="989111"/>
            <a:ext cx="914400" cy="548640"/>
          </a:xfrm>
          <a:prstGeom prst="rect">
            <a:avLst/>
          </a:prstGeom>
          <a:solidFill>
            <a:srgbClr val="051F71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161288" y="1053119"/>
            <a:ext cx="841248" cy="5232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rial"/>
              </a:defRPr>
            </a:pPr>
            <a:r>
              <a:rPr sz="1400" dirty="0" err="1">
                <a:latin typeface="Tahoma" panose="020B0604030504040204" pitchFamily="34" charset="0"/>
              </a:rPr>
              <a:t>Ngày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nhận</a:t>
            </a:r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2039112" y="989111"/>
            <a:ext cx="914400" cy="548640"/>
          </a:xfrm>
          <a:prstGeom prst="rect">
            <a:avLst/>
          </a:prstGeom>
          <a:solidFill>
            <a:srgbClr val="051F71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075688" y="1053119"/>
            <a:ext cx="841248" cy="307777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rial"/>
              </a:defRPr>
            </a:pPr>
            <a:r>
              <a:rPr sz="1400" dirty="0" err="1">
                <a:latin typeface="Tahoma" panose="020B0604030504040204" pitchFamily="34" charset="0"/>
              </a:rPr>
              <a:t>Đơn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vị</a:t>
            </a:r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2953512" y="989111"/>
            <a:ext cx="1417320" cy="548640"/>
          </a:xfrm>
          <a:prstGeom prst="rect">
            <a:avLst/>
          </a:prstGeom>
          <a:solidFill>
            <a:srgbClr val="051F71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990088" y="1053119"/>
            <a:ext cx="1344168" cy="307777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rial"/>
              </a:defRPr>
            </a:pPr>
            <a:r>
              <a:rPr sz="1400" dirty="0" err="1">
                <a:latin typeface="Tahoma" panose="020B0604030504040204" pitchFamily="34" charset="0"/>
              </a:rPr>
              <a:t>Nhóm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vấn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đề</a:t>
            </a:r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4370832" y="989111"/>
            <a:ext cx="731520" cy="548640"/>
          </a:xfrm>
          <a:prstGeom prst="rect">
            <a:avLst/>
          </a:prstGeom>
          <a:solidFill>
            <a:srgbClr val="051F71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407408" y="1053119"/>
            <a:ext cx="658368" cy="307777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rial"/>
              </a:defRPr>
            </a:pPr>
            <a:r>
              <a:rPr sz="1400" dirty="0" err="1">
                <a:latin typeface="Tahoma" panose="020B0604030504040204" pitchFamily="34" charset="0"/>
              </a:rPr>
              <a:t>Mức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độ</a:t>
            </a:r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5102352" y="989111"/>
            <a:ext cx="1143000" cy="548640"/>
          </a:xfrm>
          <a:prstGeom prst="rect">
            <a:avLst/>
          </a:prstGeom>
          <a:solidFill>
            <a:srgbClr val="051F71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138928" y="1053119"/>
            <a:ext cx="1069848" cy="307777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rial"/>
              </a:defRPr>
            </a:pPr>
            <a:r>
              <a:rPr sz="1400" dirty="0">
                <a:latin typeface="Tahoma" panose="020B0604030504040204" pitchFamily="34" charset="0"/>
              </a:rPr>
              <a:t>PIC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45352" y="989111"/>
            <a:ext cx="960120" cy="548640"/>
          </a:xfrm>
          <a:prstGeom prst="rect">
            <a:avLst/>
          </a:prstGeom>
          <a:solidFill>
            <a:srgbClr val="051F71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281928" y="1053119"/>
            <a:ext cx="886968" cy="307777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rial"/>
              </a:defRPr>
            </a:pPr>
            <a:r>
              <a:rPr sz="1400" dirty="0">
                <a:latin typeface="Tahoma" panose="020B0604030504040204" pitchFamily="34" charset="0"/>
              </a:rPr>
              <a:t>Deadline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205472" y="989111"/>
            <a:ext cx="1097280" cy="548640"/>
          </a:xfrm>
          <a:prstGeom prst="rect">
            <a:avLst/>
          </a:prstGeom>
          <a:solidFill>
            <a:srgbClr val="051F71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7242048" y="1053119"/>
            <a:ext cx="1024127" cy="307777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rial"/>
              </a:defRPr>
            </a:pPr>
            <a:r>
              <a:rPr sz="1400" dirty="0" err="1">
                <a:latin typeface="Tahoma" panose="020B0604030504040204" pitchFamily="34" charset="0"/>
              </a:rPr>
              <a:t>Trạng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thái</a:t>
            </a:r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8302752" y="989111"/>
            <a:ext cx="3108960" cy="548640"/>
          </a:xfrm>
          <a:prstGeom prst="rect">
            <a:avLst/>
          </a:prstGeom>
          <a:solidFill>
            <a:srgbClr val="051F71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8339327" y="1053119"/>
            <a:ext cx="3035808" cy="307777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rial"/>
              </a:defRPr>
            </a:pPr>
            <a:r>
              <a:rPr sz="1400" dirty="0" err="1">
                <a:latin typeface="Tahoma" panose="020B0604030504040204" pitchFamily="34" charset="0"/>
              </a:rPr>
              <a:t>Kết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quả</a:t>
            </a:r>
            <a:r>
              <a:rPr sz="1400" dirty="0">
                <a:latin typeface="Tahoma" panose="020B0604030504040204" pitchFamily="34" charset="0"/>
              </a:rPr>
              <a:t> / </a:t>
            </a:r>
            <a:r>
              <a:rPr sz="1400" dirty="0" err="1">
                <a:latin typeface="Tahoma" panose="020B0604030504040204" pitchFamily="34" charset="0"/>
              </a:rPr>
              <a:t>phản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hồi</a:t>
            </a:r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393192" y="1537751"/>
            <a:ext cx="731520" cy="548640"/>
          </a:xfrm>
          <a:prstGeom prst="rect">
            <a:avLst/>
          </a:prstGeom>
          <a:solidFill>
            <a:srgbClr val="FFFFFF"/>
          </a:solidFill>
          <a:ln>
            <a:solidFill>
              <a:srgbClr val="D9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429767" y="1592615"/>
            <a:ext cx="658368" cy="307777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defRPr sz="740" b="0">
                <a:solidFill>
                  <a:srgbClr val="202838"/>
                </a:solidFill>
                <a:latin typeface="Arial"/>
              </a:defRPr>
            </a:pPr>
            <a:r>
              <a:rPr sz="1400" dirty="0">
                <a:latin typeface="Tahoma" panose="020B0604030504040204" pitchFamily="34" charset="0"/>
              </a:rPr>
              <a:t>UV-001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24712" y="1537751"/>
            <a:ext cx="914400" cy="548640"/>
          </a:xfrm>
          <a:prstGeom prst="rect">
            <a:avLst/>
          </a:prstGeom>
          <a:solidFill>
            <a:srgbClr val="FFFFFF"/>
          </a:solidFill>
          <a:ln>
            <a:solidFill>
              <a:srgbClr val="D9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1161288" y="1592615"/>
            <a:ext cx="841248" cy="307777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740" b="0">
                <a:solidFill>
                  <a:srgbClr val="202838"/>
                </a:solidFill>
                <a:latin typeface="Arial"/>
              </a:defRPr>
            </a:pPr>
            <a:r>
              <a:rPr sz="1400" dirty="0">
                <a:latin typeface="Tahoma" panose="020B0604030504040204" pitchFamily="34" charset="0"/>
              </a:rPr>
              <a:t>08/08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039112" y="1537751"/>
            <a:ext cx="914400" cy="548640"/>
          </a:xfrm>
          <a:prstGeom prst="rect">
            <a:avLst/>
          </a:prstGeom>
          <a:solidFill>
            <a:srgbClr val="FFFFFF"/>
          </a:solidFill>
          <a:ln>
            <a:solidFill>
              <a:srgbClr val="D9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2075688" y="1592615"/>
            <a:ext cx="841248" cy="307777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740" b="0">
                <a:solidFill>
                  <a:srgbClr val="202838"/>
                </a:solidFill>
                <a:latin typeface="Arial"/>
              </a:defRPr>
            </a:pPr>
            <a:r>
              <a:rPr sz="1400" dirty="0">
                <a:latin typeface="Tahoma" panose="020B0604030504040204" pitchFamily="34" charset="0"/>
              </a:rPr>
              <a:t>VCS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953512" y="1537751"/>
            <a:ext cx="1417320" cy="548640"/>
          </a:xfrm>
          <a:prstGeom prst="rect">
            <a:avLst/>
          </a:prstGeom>
          <a:solidFill>
            <a:srgbClr val="FFFFFF"/>
          </a:solidFill>
          <a:ln>
            <a:solidFill>
              <a:srgbClr val="D9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2990088" y="1592615"/>
            <a:ext cx="1344168" cy="5232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740" b="0">
                <a:solidFill>
                  <a:srgbClr val="202838"/>
                </a:solidFill>
                <a:latin typeface="Arial"/>
              </a:defRPr>
            </a:pPr>
            <a:r>
              <a:rPr sz="1400" dirty="0" err="1">
                <a:latin typeface="Tahoma" panose="020B0604030504040204" pitchFamily="34" charset="0"/>
              </a:rPr>
              <a:t>Điều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kiện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làm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việc</a:t>
            </a:r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4370832" y="1537751"/>
            <a:ext cx="731520" cy="548640"/>
          </a:xfrm>
          <a:prstGeom prst="rect">
            <a:avLst/>
          </a:prstGeom>
          <a:solidFill>
            <a:srgbClr val="FFFFFF"/>
          </a:solidFill>
          <a:ln>
            <a:solidFill>
              <a:srgbClr val="D9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4407408" y="1592615"/>
            <a:ext cx="658368" cy="307777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740" b="0">
                <a:solidFill>
                  <a:srgbClr val="202838"/>
                </a:solidFill>
                <a:latin typeface="Arial"/>
              </a:defRPr>
            </a:pPr>
            <a:r>
              <a:rPr sz="1400" dirty="0">
                <a:latin typeface="Tahoma" panose="020B0604030504040204" pitchFamily="34" charset="0"/>
              </a:rPr>
              <a:t>Cao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102352" y="1537751"/>
            <a:ext cx="1143000" cy="548640"/>
          </a:xfrm>
          <a:prstGeom prst="rect">
            <a:avLst/>
          </a:prstGeom>
          <a:solidFill>
            <a:srgbClr val="FFFFFF"/>
          </a:solidFill>
          <a:ln>
            <a:solidFill>
              <a:srgbClr val="D9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5138928" y="1592615"/>
            <a:ext cx="1069848" cy="307777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740" b="0">
                <a:solidFill>
                  <a:srgbClr val="202838"/>
                </a:solidFill>
                <a:latin typeface="Arial"/>
              </a:defRPr>
            </a:pPr>
            <a:r>
              <a:rPr sz="1400" dirty="0" err="1">
                <a:latin typeface="Tahoma" panose="020B0604030504040204" pitchFamily="34" charset="0"/>
              </a:rPr>
              <a:t>CĐCS</a:t>
            </a:r>
            <a:r>
              <a:rPr sz="1400" dirty="0">
                <a:latin typeface="Tahoma" panose="020B0604030504040204" pitchFamily="34" charset="0"/>
              </a:rPr>
              <a:t> + HR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245352" y="1537751"/>
            <a:ext cx="960120" cy="548640"/>
          </a:xfrm>
          <a:prstGeom prst="rect">
            <a:avLst/>
          </a:prstGeom>
          <a:solidFill>
            <a:srgbClr val="FFFFFF"/>
          </a:solidFill>
          <a:ln>
            <a:solidFill>
              <a:srgbClr val="D9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6281928" y="1592615"/>
            <a:ext cx="886968" cy="307777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740" b="0">
                <a:solidFill>
                  <a:srgbClr val="202838"/>
                </a:solidFill>
                <a:latin typeface="Arial"/>
              </a:defRPr>
            </a:pPr>
            <a:r>
              <a:rPr sz="1400" dirty="0">
                <a:latin typeface="Tahoma" panose="020B0604030504040204" pitchFamily="34" charset="0"/>
              </a:rPr>
              <a:t>12/08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205472" y="1537751"/>
            <a:ext cx="1097280" cy="548640"/>
          </a:xfrm>
          <a:prstGeom prst="rect">
            <a:avLst/>
          </a:prstGeom>
          <a:solidFill>
            <a:srgbClr val="FFFFFF"/>
          </a:solidFill>
          <a:ln>
            <a:solidFill>
              <a:srgbClr val="D9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7242048" y="1592615"/>
            <a:ext cx="1024127" cy="307777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740" b="0">
                <a:solidFill>
                  <a:srgbClr val="202838"/>
                </a:solidFill>
                <a:latin typeface="Arial"/>
              </a:defRPr>
            </a:pPr>
            <a:r>
              <a:rPr sz="1400" dirty="0" err="1">
                <a:latin typeface="Tahoma" panose="020B0604030504040204" pitchFamily="34" charset="0"/>
              </a:rPr>
              <a:t>Đang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xử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lý</a:t>
            </a:r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43" name="Rectangle 42"/>
          <p:cNvSpPr/>
          <p:nvPr/>
        </p:nvSpPr>
        <p:spPr>
          <a:xfrm>
            <a:off x="8302752" y="1537751"/>
            <a:ext cx="3108960" cy="548640"/>
          </a:xfrm>
          <a:prstGeom prst="rect">
            <a:avLst/>
          </a:prstGeom>
          <a:solidFill>
            <a:srgbClr val="FFFFFF"/>
          </a:solidFill>
          <a:ln>
            <a:solidFill>
              <a:srgbClr val="D9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8339327" y="1592615"/>
            <a:ext cx="3035808" cy="307777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740" b="0">
                <a:solidFill>
                  <a:srgbClr val="202838"/>
                </a:solidFill>
                <a:latin typeface="Arial"/>
              </a:defRPr>
            </a:pPr>
            <a:r>
              <a:rPr sz="1400" dirty="0" err="1">
                <a:latin typeface="Tahoma" panose="020B0604030504040204" pitchFamily="34" charset="0"/>
              </a:rPr>
              <a:t>Đã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xác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minh</a:t>
            </a:r>
            <a:r>
              <a:rPr sz="1400" dirty="0">
                <a:latin typeface="Tahoma" panose="020B0604030504040204" pitchFamily="34" charset="0"/>
              </a:rPr>
              <a:t>, </a:t>
            </a:r>
            <a:r>
              <a:rPr sz="1400" dirty="0" err="1">
                <a:latin typeface="Tahoma" panose="020B0604030504040204" pitchFamily="34" charset="0"/>
              </a:rPr>
              <a:t>chờ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phương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án</a:t>
            </a:r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393192" y="2086391"/>
            <a:ext cx="731520" cy="548640"/>
          </a:xfrm>
          <a:prstGeom prst="rect">
            <a:avLst/>
          </a:prstGeom>
          <a:solidFill>
            <a:srgbClr val="F7F9FD"/>
          </a:solidFill>
          <a:ln>
            <a:solidFill>
              <a:srgbClr val="D9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429767" y="2141255"/>
            <a:ext cx="658368" cy="307777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defRPr sz="740" b="0">
                <a:solidFill>
                  <a:srgbClr val="202838"/>
                </a:solidFill>
                <a:latin typeface="Arial"/>
              </a:defRPr>
            </a:pPr>
            <a:r>
              <a:rPr sz="1400" dirty="0">
                <a:latin typeface="Tahoma" panose="020B0604030504040204" pitchFamily="34" charset="0"/>
              </a:rPr>
              <a:t>UV-002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124712" y="2086391"/>
            <a:ext cx="914400" cy="548640"/>
          </a:xfrm>
          <a:prstGeom prst="rect">
            <a:avLst/>
          </a:prstGeom>
          <a:solidFill>
            <a:srgbClr val="F7F9FD"/>
          </a:solidFill>
          <a:ln>
            <a:solidFill>
              <a:srgbClr val="D9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1161288" y="2141255"/>
            <a:ext cx="841248" cy="307777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740" b="0">
                <a:solidFill>
                  <a:srgbClr val="202838"/>
                </a:solidFill>
                <a:latin typeface="Arial"/>
              </a:defRPr>
            </a:pPr>
            <a:r>
              <a:rPr sz="1400" dirty="0">
                <a:latin typeface="Tahoma" panose="020B0604030504040204" pitchFamily="34" charset="0"/>
              </a:rPr>
              <a:t>09/08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039112" y="2086391"/>
            <a:ext cx="914400" cy="548640"/>
          </a:xfrm>
          <a:prstGeom prst="rect">
            <a:avLst/>
          </a:prstGeom>
          <a:solidFill>
            <a:srgbClr val="F7F9FD"/>
          </a:solidFill>
          <a:ln>
            <a:solidFill>
              <a:srgbClr val="D9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2075688" y="2141255"/>
            <a:ext cx="841248" cy="307777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740" b="0">
                <a:solidFill>
                  <a:srgbClr val="202838"/>
                </a:solidFill>
                <a:latin typeface="Arial"/>
              </a:defRPr>
            </a:pPr>
            <a:r>
              <a:rPr sz="1400" dirty="0">
                <a:latin typeface="Tahoma" panose="020B0604030504040204" pitchFamily="34" charset="0"/>
              </a:rPr>
              <a:t>GPL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953512" y="2086391"/>
            <a:ext cx="1417320" cy="548640"/>
          </a:xfrm>
          <a:prstGeom prst="rect">
            <a:avLst/>
          </a:prstGeom>
          <a:solidFill>
            <a:srgbClr val="F7F9FD"/>
          </a:solidFill>
          <a:ln>
            <a:solidFill>
              <a:srgbClr val="D9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2990088" y="2141255"/>
            <a:ext cx="1344168" cy="307777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740" b="0">
                <a:solidFill>
                  <a:srgbClr val="202838"/>
                </a:solidFill>
                <a:latin typeface="Arial"/>
              </a:defRPr>
            </a:pPr>
            <a:r>
              <a:rPr sz="1400" dirty="0">
                <a:latin typeface="Tahoma" panose="020B0604030504040204" pitchFamily="34" charset="0"/>
              </a:rPr>
              <a:t>Phúc </a:t>
            </a:r>
            <a:r>
              <a:rPr sz="1400" dirty="0" err="1">
                <a:latin typeface="Tahoma" panose="020B0604030504040204" pitchFamily="34" charset="0"/>
              </a:rPr>
              <a:t>lợi</a:t>
            </a:r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53" name="Rectangle 52"/>
          <p:cNvSpPr/>
          <p:nvPr/>
        </p:nvSpPr>
        <p:spPr>
          <a:xfrm>
            <a:off x="4370832" y="2086391"/>
            <a:ext cx="731520" cy="548640"/>
          </a:xfrm>
          <a:prstGeom prst="rect">
            <a:avLst/>
          </a:prstGeom>
          <a:solidFill>
            <a:srgbClr val="F7F9FD"/>
          </a:solidFill>
          <a:ln>
            <a:solidFill>
              <a:srgbClr val="D9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4407408" y="2141255"/>
            <a:ext cx="658368" cy="307777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740" b="0">
                <a:solidFill>
                  <a:srgbClr val="202838"/>
                </a:solidFill>
                <a:latin typeface="Arial"/>
              </a:defRPr>
            </a:pPr>
            <a:r>
              <a:rPr sz="1400" dirty="0">
                <a:latin typeface="Tahoma" panose="020B0604030504040204" pitchFamily="34" charset="0"/>
              </a:rPr>
              <a:t>TB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102352" y="2086391"/>
            <a:ext cx="1143000" cy="548640"/>
          </a:xfrm>
          <a:prstGeom prst="rect">
            <a:avLst/>
          </a:prstGeom>
          <a:solidFill>
            <a:srgbClr val="F7F9FD"/>
          </a:solidFill>
          <a:ln>
            <a:solidFill>
              <a:srgbClr val="D9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5138928" y="2141255"/>
            <a:ext cx="1069848" cy="307777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740" b="0">
                <a:solidFill>
                  <a:srgbClr val="202838"/>
                </a:solidFill>
                <a:latin typeface="Arial"/>
              </a:defRPr>
            </a:pPr>
            <a:r>
              <a:rPr sz="1400" dirty="0" err="1">
                <a:latin typeface="Tahoma" panose="020B0604030504040204" pitchFamily="34" charset="0"/>
              </a:rPr>
              <a:t>CĐCS</a:t>
            </a:r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57" name="Rectangle 56"/>
          <p:cNvSpPr/>
          <p:nvPr/>
        </p:nvSpPr>
        <p:spPr>
          <a:xfrm>
            <a:off x="6245352" y="2086391"/>
            <a:ext cx="960120" cy="548640"/>
          </a:xfrm>
          <a:prstGeom prst="rect">
            <a:avLst/>
          </a:prstGeom>
          <a:solidFill>
            <a:srgbClr val="F7F9FD"/>
          </a:solidFill>
          <a:ln>
            <a:solidFill>
              <a:srgbClr val="D9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6281928" y="2141255"/>
            <a:ext cx="886968" cy="307777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740" b="0">
                <a:solidFill>
                  <a:srgbClr val="202838"/>
                </a:solidFill>
                <a:latin typeface="Arial"/>
              </a:defRPr>
            </a:pPr>
            <a:r>
              <a:rPr sz="1400" dirty="0">
                <a:latin typeface="Tahoma" panose="020B0604030504040204" pitchFamily="34" charset="0"/>
              </a:rPr>
              <a:t>11/08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205472" y="2086391"/>
            <a:ext cx="1097280" cy="548640"/>
          </a:xfrm>
          <a:prstGeom prst="rect">
            <a:avLst/>
          </a:prstGeom>
          <a:solidFill>
            <a:srgbClr val="F7F9FD"/>
          </a:solidFill>
          <a:ln>
            <a:solidFill>
              <a:srgbClr val="D9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7242048" y="2141255"/>
            <a:ext cx="1024127" cy="307777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740" b="0">
                <a:solidFill>
                  <a:srgbClr val="202838"/>
                </a:solidFill>
                <a:latin typeface="Arial"/>
              </a:defRPr>
            </a:pPr>
            <a:r>
              <a:rPr sz="1400" dirty="0" err="1">
                <a:latin typeface="Tahoma" panose="020B0604030504040204" pitchFamily="34" charset="0"/>
              </a:rPr>
              <a:t>Đã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đóng</a:t>
            </a:r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61" name="Rectangle 60"/>
          <p:cNvSpPr/>
          <p:nvPr/>
        </p:nvSpPr>
        <p:spPr>
          <a:xfrm>
            <a:off x="8302752" y="2086391"/>
            <a:ext cx="3108960" cy="548640"/>
          </a:xfrm>
          <a:prstGeom prst="rect">
            <a:avLst/>
          </a:prstGeom>
          <a:solidFill>
            <a:srgbClr val="F7F9FD"/>
          </a:solidFill>
          <a:ln>
            <a:solidFill>
              <a:srgbClr val="D9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8339327" y="2141255"/>
            <a:ext cx="3035808" cy="307777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740" b="0">
                <a:solidFill>
                  <a:srgbClr val="202838"/>
                </a:solidFill>
                <a:latin typeface="Arial"/>
              </a:defRPr>
            </a:pPr>
            <a:r>
              <a:rPr sz="1400" dirty="0" err="1">
                <a:latin typeface="Tahoma" panose="020B0604030504040204" pitchFamily="34" charset="0"/>
              </a:rPr>
              <a:t>Đã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thực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hiện</a:t>
            </a:r>
            <a:r>
              <a:rPr sz="1400" dirty="0">
                <a:latin typeface="Tahoma" panose="020B0604030504040204" pitchFamily="34" charset="0"/>
              </a:rPr>
              <a:t> &amp; </a:t>
            </a:r>
            <a:r>
              <a:rPr sz="1400" dirty="0" err="1">
                <a:latin typeface="Tahoma" panose="020B0604030504040204" pitchFamily="34" charset="0"/>
              </a:rPr>
              <a:t>phản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hồi</a:t>
            </a:r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63" name="Rectangle 62"/>
          <p:cNvSpPr/>
          <p:nvPr/>
        </p:nvSpPr>
        <p:spPr>
          <a:xfrm>
            <a:off x="393192" y="2635031"/>
            <a:ext cx="731520" cy="548640"/>
          </a:xfrm>
          <a:prstGeom prst="rect">
            <a:avLst/>
          </a:prstGeom>
          <a:solidFill>
            <a:srgbClr val="FFFFFF"/>
          </a:solidFill>
          <a:ln>
            <a:solidFill>
              <a:srgbClr val="D9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429767" y="2689895"/>
            <a:ext cx="658368" cy="307777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defRPr sz="740" b="0">
                <a:solidFill>
                  <a:srgbClr val="202838"/>
                </a:solidFill>
                <a:latin typeface="Arial"/>
              </a:defRPr>
            </a:pPr>
            <a:r>
              <a:rPr sz="1400" dirty="0">
                <a:latin typeface="Tahoma" panose="020B0604030504040204" pitchFamily="34" charset="0"/>
              </a:rPr>
              <a:t>UV-003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124712" y="2635031"/>
            <a:ext cx="914400" cy="548640"/>
          </a:xfrm>
          <a:prstGeom prst="rect">
            <a:avLst/>
          </a:prstGeom>
          <a:solidFill>
            <a:srgbClr val="FFFFFF"/>
          </a:solidFill>
          <a:ln>
            <a:solidFill>
              <a:srgbClr val="D9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66" name="TextBox 65"/>
          <p:cNvSpPr txBox="1"/>
          <p:nvPr/>
        </p:nvSpPr>
        <p:spPr>
          <a:xfrm>
            <a:off x="1161288" y="2689895"/>
            <a:ext cx="841248" cy="307777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740" b="0">
                <a:solidFill>
                  <a:srgbClr val="202838"/>
                </a:solidFill>
                <a:latin typeface="Arial"/>
              </a:defRPr>
            </a:pPr>
            <a:r>
              <a:rPr sz="1400" dirty="0">
                <a:latin typeface="Tahoma" panose="020B0604030504040204" pitchFamily="34" charset="0"/>
              </a:rPr>
              <a:t>10/08</a:t>
            </a:r>
          </a:p>
        </p:txBody>
      </p:sp>
      <p:sp>
        <p:nvSpPr>
          <p:cNvPr id="67" name="Rectangle 66"/>
          <p:cNvSpPr/>
          <p:nvPr/>
        </p:nvSpPr>
        <p:spPr>
          <a:xfrm>
            <a:off x="2039112" y="2635031"/>
            <a:ext cx="914400" cy="548640"/>
          </a:xfrm>
          <a:prstGeom prst="rect">
            <a:avLst/>
          </a:prstGeom>
          <a:solidFill>
            <a:srgbClr val="FFFFFF"/>
          </a:solidFill>
          <a:ln>
            <a:solidFill>
              <a:srgbClr val="D9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68" name="TextBox 67"/>
          <p:cNvSpPr txBox="1"/>
          <p:nvPr/>
        </p:nvSpPr>
        <p:spPr>
          <a:xfrm>
            <a:off x="2075688" y="2689895"/>
            <a:ext cx="841248" cy="307777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740" b="0">
                <a:solidFill>
                  <a:srgbClr val="202838"/>
                </a:solidFill>
                <a:latin typeface="Arial"/>
              </a:defRPr>
            </a:pPr>
            <a:r>
              <a:rPr sz="1400" dirty="0">
                <a:latin typeface="Tahoma" panose="020B0604030504040204" pitchFamily="34" charset="0"/>
              </a:rPr>
              <a:t>AZC</a:t>
            </a:r>
          </a:p>
        </p:txBody>
      </p:sp>
      <p:sp>
        <p:nvSpPr>
          <p:cNvPr id="69" name="Rectangle 68"/>
          <p:cNvSpPr/>
          <p:nvPr/>
        </p:nvSpPr>
        <p:spPr>
          <a:xfrm>
            <a:off x="2953512" y="2635031"/>
            <a:ext cx="1417320" cy="548640"/>
          </a:xfrm>
          <a:prstGeom prst="rect">
            <a:avLst/>
          </a:prstGeom>
          <a:solidFill>
            <a:srgbClr val="FFFFFF"/>
          </a:solidFill>
          <a:ln>
            <a:solidFill>
              <a:srgbClr val="D9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70" name="TextBox 69"/>
          <p:cNvSpPr txBox="1"/>
          <p:nvPr/>
        </p:nvSpPr>
        <p:spPr>
          <a:xfrm>
            <a:off x="2990088" y="2689895"/>
            <a:ext cx="1344168" cy="307777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740" b="0">
                <a:solidFill>
                  <a:srgbClr val="202838"/>
                </a:solidFill>
                <a:latin typeface="Arial"/>
              </a:defRPr>
            </a:pPr>
            <a:r>
              <a:rPr sz="1400" dirty="0">
                <a:latin typeface="Tahoma" panose="020B0604030504040204" pitchFamily="34" charset="0"/>
              </a:rPr>
              <a:t>Ca </a:t>
            </a:r>
            <a:r>
              <a:rPr sz="1400" dirty="0" err="1">
                <a:latin typeface="Tahoma" panose="020B0604030504040204" pitchFamily="34" charset="0"/>
              </a:rPr>
              <a:t>làm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việc</a:t>
            </a:r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71" name="Rectangle 70"/>
          <p:cNvSpPr/>
          <p:nvPr/>
        </p:nvSpPr>
        <p:spPr>
          <a:xfrm>
            <a:off x="4370832" y="2635031"/>
            <a:ext cx="731520" cy="548640"/>
          </a:xfrm>
          <a:prstGeom prst="rect">
            <a:avLst/>
          </a:prstGeom>
          <a:solidFill>
            <a:srgbClr val="FFFFFF"/>
          </a:solidFill>
          <a:ln>
            <a:solidFill>
              <a:srgbClr val="D9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72" name="TextBox 71"/>
          <p:cNvSpPr txBox="1"/>
          <p:nvPr/>
        </p:nvSpPr>
        <p:spPr>
          <a:xfrm>
            <a:off x="4407408" y="2689895"/>
            <a:ext cx="658368" cy="307777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740" b="0">
                <a:solidFill>
                  <a:srgbClr val="202838"/>
                </a:solidFill>
                <a:latin typeface="Arial"/>
              </a:defRPr>
            </a:pPr>
            <a:r>
              <a:rPr sz="1400" dirty="0">
                <a:latin typeface="Tahoma" panose="020B0604030504040204" pitchFamily="34" charset="0"/>
              </a:rPr>
              <a:t>Cao</a:t>
            </a:r>
          </a:p>
        </p:txBody>
      </p:sp>
      <p:sp>
        <p:nvSpPr>
          <p:cNvPr id="73" name="Rectangle 72"/>
          <p:cNvSpPr/>
          <p:nvPr/>
        </p:nvSpPr>
        <p:spPr>
          <a:xfrm>
            <a:off x="5102352" y="2635031"/>
            <a:ext cx="1143000" cy="548640"/>
          </a:xfrm>
          <a:prstGeom prst="rect">
            <a:avLst/>
          </a:prstGeom>
          <a:solidFill>
            <a:srgbClr val="FFFFFF"/>
          </a:solidFill>
          <a:ln>
            <a:solidFill>
              <a:srgbClr val="D9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74" name="TextBox 73"/>
          <p:cNvSpPr txBox="1"/>
          <p:nvPr/>
        </p:nvSpPr>
        <p:spPr>
          <a:xfrm>
            <a:off x="5138928" y="2689895"/>
            <a:ext cx="1069848" cy="5232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740" b="0">
                <a:solidFill>
                  <a:srgbClr val="202838"/>
                </a:solidFill>
                <a:latin typeface="Arial"/>
              </a:defRPr>
            </a:pPr>
            <a:r>
              <a:rPr sz="1400" dirty="0">
                <a:latin typeface="Tahoma" panose="020B0604030504040204" pitchFamily="34" charset="0"/>
              </a:rPr>
              <a:t>HR + </a:t>
            </a:r>
            <a:r>
              <a:rPr sz="1400" dirty="0" err="1">
                <a:latin typeface="Tahoma" panose="020B0604030504040204" pitchFamily="34" charset="0"/>
              </a:rPr>
              <a:t>CĐ</a:t>
            </a:r>
            <a:r>
              <a:rPr sz="1400" dirty="0">
                <a:latin typeface="Tahoma" panose="020B0604030504040204" pitchFamily="34" charset="0"/>
              </a:rPr>
              <a:t> GPG</a:t>
            </a:r>
          </a:p>
        </p:txBody>
      </p:sp>
      <p:sp>
        <p:nvSpPr>
          <p:cNvPr id="75" name="Rectangle 74"/>
          <p:cNvSpPr/>
          <p:nvPr/>
        </p:nvSpPr>
        <p:spPr>
          <a:xfrm>
            <a:off x="6245352" y="2635031"/>
            <a:ext cx="960120" cy="548640"/>
          </a:xfrm>
          <a:prstGeom prst="rect">
            <a:avLst/>
          </a:prstGeom>
          <a:solidFill>
            <a:srgbClr val="FFFFFF"/>
          </a:solidFill>
          <a:ln>
            <a:solidFill>
              <a:srgbClr val="D9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76" name="TextBox 75"/>
          <p:cNvSpPr txBox="1"/>
          <p:nvPr/>
        </p:nvSpPr>
        <p:spPr>
          <a:xfrm>
            <a:off x="6281928" y="2689895"/>
            <a:ext cx="886968" cy="307777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740" b="0">
                <a:solidFill>
                  <a:srgbClr val="202838"/>
                </a:solidFill>
                <a:latin typeface="Arial"/>
              </a:defRPr>
            </a:pPr>
            <a:r>
              <a:rPr sz="1400" dirty="0">
                <a:latin typeface="Tahoma" panose="020B0604030504040204" pitchFamily="34" charset="0"/>
              </a:rPr>
              <a:t>15/08</a:t>
            </a:r>
          </a:p>
        </p:txBody>
      </p:sp>
      <p:sp>
        <p:nvSpPr>
          <p:cNvPr id="77" name="Rectangle 76"/>
          <p:cNvSpPr/>
          <p:nvPr/>
        </p:nvSpPr>
        <p:spPr>
          <a:xfrm>
            <a:off x="7205472" y="2635031"/>
            <a:ext cx="1097280" cy="548640"/>
          </a:xfrm>
          <a:prstGeom prst="rect">
            <a:avLst/>
          </a:prstGeom>
          <a:solidFill>
            <a:srgbClr val="FFFFFF"/>
          </a:solidFill>
          <a:ln>
            <a:solidFill>
              <a:srgbClr val="D9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78" name="TextBox 77"/>
          <p:cNvSpPr txBox="1"/>
          <p:nvPr/>
        </p:nvSpPr>
        <p:spPr>
          <a:xfrm>
            <a:off x="7242048" y="2689895"/>
            <a:ext cx="1024127" cy="307777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740" b="0">
                <a:solidFill>
                  <a:srgbClr val="202838"/>
                </a:solidFill>
                <a:latin typeface="Arial"/>
              </a:defRPr>
            </a:pPr>
            <a:r>
              <a:rPr sz="1400" dirty="0" err="1">
                <a:latin typeface="Tahoma" panose="020B0604030504040204" pitchFamily="34" charset="0"/>
              </a:rPr>
              <a:t>Đang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xử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lý</a:t>
            </a:r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79" name="Rectangle 78"/>
          <p:cNvSpPr/>
          <p:nvPr/>
        </p:nvSpPr>
        <p:spPr>
          <a:xfrm>
            <a:off x="8302752" y="2635031"/>
            <a:ext cx="3108960" cy="548640"/>
          </a:xfrm>
          <a:prstGeom prst="rect">
            <a:avLst/>
          </a:prstGeom>
          <a:solidFill>
            <a:srgbClr val="FFFFFF"/>
          </a:solidFill>
          <a:ln>
            <a:solidFill>
              <a:srgbClr val="D9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80" name="TextBox 79"/>
          <p:cNvSpPr txBox="1"/>
          <p:nvPr/>
        </p:nvSpPr>
        <p:spPr>
          <a:xfrm>
            <a:off x="8339327" y="2689895"/>
            <a:ext cx="3035808" cy="307777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740" b="0">
                <a:solidFill>
                  <a:srgbClr val="202838"/>
                </a:solidFill>
                <a:latin typeface="Arial"/>
              </a:defRPr>
            </a:pPr>
            <a:r>
              <a:rPr sz="1400" dirty="0" err="1">
                <a:latin typeface="Tahoma" panose="020B0604030504040204" pitchFamily="34" charset="0"/>
              </a:rPr>
              <a:t>Đang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tổng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hợp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dữ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liệu</a:t>
            </a:r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81" name="Rectangle 80"/>
          <p:cNvSpPr/>
          <p:nvPr/>
        </p:nvSpPr>
        <p:spPr>
          <a:xfrm>
            <a:off x="393192" y="3183671"/>
            <a:ext cx="731520" cy="548640"/>
          </a:xfrm>
          <a:prstGeom prst="rect">
            <a:avLst/>
          </a:prstGeom>
          <a:solidFill>
            <a:srgbClr val="F7F9FD"/>
          </a:solidFill>
          <a:ln>
            <a:solidFill>
              <a:srgbClr val="D9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82" name="TextBox 81"/>
          <p:cNvSpPr txBox="1"/>
          <p:nvPr/>
        </p:nvSpPr>
        <p:spPr>
          <a:xfrm>
            <a:off x="429767" y="3238535"/>
            <a:ext cx="658368" cy="307777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defRPr sz="740" b="0">
                <a:solidFill>
                  <a:srgbClr val="202838"/>
                </a:solidFill>
                <a:latin typeface="Arial"/>
              </a:defRPr>
            </a:pPr>
            <a:r>
              <a:rPr sz="1400" dirty="0">
                <a:latin typeface="Tahoma" panose="020B0604030504040204" pitchFamily="34" charset="0"/>
              </a:rPr>
              <a:t>UV-004</a:t>
            </a:r>
          </a:p>
        </p:txBody>
      </p:sp>
      <p:sp>
        <p:nvSpPr>
          <p:cNvPr id="83" name="Rectangle 82"/>
          <p:cNvSpPr/>
          <p:nvPr/>
        </p:nvSpPr>
        <p:spPr>
          <a:xfrm>
            <a:off x="1124712" y="3183671"/>
            <a:ext cx="914400" cy="548640"/>
          </a:xfrm>
          <a:prstGeom prst="rect">
            <a:avLst/>
          </a:prstGeom>
          <a:solidFill>
            <a:srgbClr val="F7F9FD"/>
          </a:solidFill>
          <a:ln>
            <a:solidFill>
              <a:srgbClr val="D9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84" name="TextBox 83"/>
          <p:cNvSpPr txBox="1"/>
          <p:nvPr/>
        </p:nvSpPr>
        <p:spPr>
          <a:xfrm>
            <a:off x="1161288" y="3238535"/>
            <a:ext cx="841248" cy="307777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740" b="0">
                <a:solidFill>
                  <a:srgbClr val="202838"/>
                </a:solidFill>
                <a:latin typeface="Arial"/>
              </a:defRPr>
            </a:pPr>
            <a:r>
              <a:rPr sz="1400" dirty="0">
                <a:latin typeface="Tahoma" panose="020B0604030504040204" pitchFamily="34" charset="0"/>
              </a:rPr>
              <a:t>10/08</a:t>
            </a:r>
          </a:p>
        </p:txBody>
      </p:sp>
      <p:sp>
        <p:nvSpPr>
          <p:cNvPr id="85" name="Rectangle 84"/>
          <p:cNvSpPr/>
          <p:nvPr/>
        </p:nvSpPr>
        <p:spPr>
          <a:xfrm>
            <a:off x="2039112" y="3183671"/>
            <a:ext cx="914400" cy="548640"/>
          </a:xfrm>
          <a:prstGeom prst="rect">
            <a:avLst/>
          </a:prstGeom>
          <a:solidFill>
            <a:srgbClr val="F7F9FD"/>
          </a:solidFill>
          <a:ln>
            <a:solidFill>
              <a:srgbClr val="D9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86" name="TextBox 85"/>
          <p:cNvSpPr txBox="1"/>
          <p:nvPr/>
        </p:nvSpPr>
        <p:spPr>
          <a:xfrm>
            <a:off x="2075688" y="3238535"/>
            <a:ext cx="841248" cy="307777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740" b="0">
                <a:solidFill>
                  <a:srgbClr val="202838"/>
                </a:solidFill>
                <a:latin typeface="Arial"/>
              </a:defRPr>
            </a:pPr>
            <a:r>
              <a:rPr sz="1400" dirty="0">
                <a:latin typeface="Tahoma" panose="020B0604030504040204" pitchFamily="34" charset="0"/>
              </a:rPr>
              <a:t>GPD</a:t>
            </a:r>
          </a:p>
        </p:txBody>
      </p:sp>
      <p:sp>
        <p:nvSpPr>
          <p:cNvPr id="87" name="Rectangle 86"/>
          <p:cNvSpPr/>
          <p:nvPr/>
        </p:nvSpPr>
        <p:spPr>
          <a:xfrm>
            <a:off x="2953512" y="3183671"/>
            <a:ext cx="1417320" cy="548640"/>
          </a:xfrm>
          <a:prstGeom prst="rect">
            <a:avLst/>
          </a:prstGeom>
          <a:solidFill>
            <a:srgbClr val="F7F9FD"/>
          </a:solidFill>
          <a:ln>
            <a:solidFill>
              <a:srgbClr val="D9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88" name="TextBox 87"/>
          <p:cNvSpPr txBox="1"/>
          <p:nvPr/>
        </p:nvSpPr>
        <p:spPr>
          <a:xfrm>
            <a:off x="2990088" y="3238535"/>
            <a:ext cx="1344168" cy="307777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740" b="0">
                <a:solidFill>
                  <a:srgbClr val="202838"/>
                </a:solidFill>
                <a:latin typeface="Arial"/>
              </a:defRPr>
            </a:pPr>
            <a:r>
              <a:rPr sz="1400" dirty="0" err="1">
                <a:latin typeface="Tahoma" panose="020B0604030504040204" pitchFamily="34" charset="0"/>
              </a:rPr>
              <a:t>Đề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xuất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kết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nối</a:t>
            </a:r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89" name="Rectangle 88"/>
          <p:cNvSpPr/>
          <p:nvPr/>
        </p:nvSpPr>
        <p:spPr>
          <a:xfrm>
            <a:off x="4370832" y="3183671"/>
            <a:ext cx="731520" cy="548640"/>
          </a:xfrm>
          <a:prstGeom prst="rect">
            <a:avLst/>
          </a:prstGeom>
          <a:solidFill>
            <a:srgbClr val="F7F9FD"/>
          </a:solidFill>
          <a:ln>
            <a:solidFill>
              <a:srgbClr val="D9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90" name="TextBox 89"/>
          <p:cNvSpPr txBox="1"/>
          <p:nvPr/>
        </p:nvSpPr>
        <p:spPr>
          <a:xfrm>
            <a:off x="4407408" y="3238535"/>
            <a:ext cx="658368" cy="307777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740" b="0">
                <a:solidFill>
                  <a:srgbClr val="202838"/>
                </a:solidFill>
                <a:latin typeface="Arial"/>
              </a:defRPr>
            </a:pPr>
            <a:r>
              <a:rPr sz="1400" dirty="0" err="1">
                <a:latin typeface="Tahoma" panose="020B0604030504040204" pitchFamily="34" charset="0"/>
              </a:rPr>
              <a:t>Thấp</a:t>
            </a:r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91" name="Rectangle 90"/>
          <p:cNvSpPr/>
          <p:nvPr/>
        </p:nvSpPr>
        <p:spPr>
          <a:xfrm>
            <a:off x="5102352" y="3183671"/>
            <a:ext cx="1143000" cy="548640"/>
          </a:xfrm>
          <a:prstGeom prst="rect">
            <a:avLst/>
          </a:prstGeom>
          <a:solidFill>
            <a:srgbClr val="F7F9FD"/>
          </a:solidFill>
          <a:ln>
            <a:solidFill>
              <a:srgbClr val="D9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92" name="TextBox 91"/>
          <p:cNvSpPr txBox="1"/>
          <p:nvPr/>
        </p:nvSpPr>
        <p:spPr>
          <a:xfrm>
            <a:off x="5138928" y="3238535"/>
            <a:ext cx="1069848" cy="307777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740" b="0">
                <a:solidFill>
                  <a:srgbClr val="202838"/>
                </a:solidFill>
                <a:latin typeface="Arial"/>
              </a:defRPr>
            </a:pPr>
            <a:r>
              <a:rPr sz="1400" dirty="0" err="1">
                <a:latin typeface="Tahoma" panose="020B0604030504040204" pitchFamily="34" charset="0"/>
              </a:rPr>
              <a:t>CĐCS</a:t>
            </a:r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93" name="Rectangle 92"/>
          <p:cNvSpPr/>
          <p:nvPr/>
        </p:nvSpPr>
        <p:spPr>
          <a:xfrm>
            <a:off x="6245352" y="3183671"/>
            <a:ext cx="960120" cy="548640"/>
          </a:xfrm>
          <a:prstGeom prst="rect">
            <a:avLst/>
          </a:prstGeom>
          <a:solidFill>
            <a:srgbClr val="F7F9FD"/>
          </a:solidFill>
          <a:ln>
            <a:solidFill>
              <a:srgbClr val="D9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94" name="TextBox 93"/>
          <p:cNvSpPr txBox="1"/>
          <p:nvPr/>
        </p:nvSpPr>
        <p:spPr>
          <a:xfrm>
            <a:off x="6281928" y="3238535"/>
            <a:ext cx="886968" cy="307777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740" b="0">
                <a:solidFill>
                  <a:srgbClr val="202838"/>
                </a:solidFill>
                <a:latin typeface="Arial"/>
              </a:defRPr>
            </a:pPr>
            <a:r>
              <a:rPr sz="1400" dirty="0">
                <a:latin typeface="Tahoma" panose="020B0604030504040204" pitchFamily="34" charset="0"/>
              </a:rPr>
              <a:t>30/08</a:t>
            </a:r>
          </a:p>
        </p:txBody>
      </p:sp>
      <p:sp>
        <p:nvSpPr>
          <p:cNvPr id="95" name="Rectangle 94"/>
          <p:cNvSpPr/>
          <p:nvPr/>
        </p:nvSpPr>
        <p:spPr>
          <a:xfrm>
            <a:off x="7205472" y="3183671"/>
            <a:ext cx="1097280" cy="548640"/>
          </a:xfrm>
          <a:prstGeom prst="rect">
            <a:avLst/>
          </a:prstGeom>
          <a:solidFill>
            <a:srgbClr val="F7F9FD"/>
          </a:solidFill>
          <a:ln>
            <a:solidFill>
              <a:srgbClr val="D9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96" name="TextBox 95"/>
          <p:cNvSpPr txBox="1"/>
          <p:nvPr/>
        </p:nvSpPr>
        <p:spPr>
          <a:xfrm>
            <a:off x="7242048" y="3238535"/>
            <a:ext cx="1024127" cy="307777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740" b="0">
                <a:solidFill>
                  <a:srgbClr val="202838"/>
                </a:solidFill>
                <a:latin typeface="Arial"/>
              </a:defRPr>
            </a:pPr>
            <a:r>
              <a:rPr sz="1400" dirty="0" err="1">
                <a:latin typeface="Tahoma" panose="020B0604030504040204" pitchFamily="34" charset="0"/>
              </a:rPr>
              <a:t>Kế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hoạch</a:t>
            </a:r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97" name="Rectangle 96"/>
          <p:cNvSpPr/>
          <p:nvPr/>
        </p:nvSpPr>
        <p:spPr>
          <a:xfrm>
            <a:off x="8302752" y="3183671"/>
            <a:ext cx="3108960" cy="548640"/>
          </a:xfrm>
          <a:prstGeom prst="rect">
            <a:avLst/>
          </a:prstGeom>
          <a:solidFill>
            <a:srgbClr val="F7F9FD"/>
          </a:solidFill>
          <a:ln>
            <a:solidFill>
              <a:srgbClr val="D9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98" name="TextBox 97"/>
          <p:cNvSpPr txBox="1"/>
          <p:nvPr/>
        </p:nvSpPr>
        <p:spPr>
          <a:xfrm>
            <a:off x="8339327" y="3238535"/>
            <a:ext cx="3035808" cy="307777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740" b="0">
                <a:solidFill>
                  <a:srgbClr val="202838"/>
                </a:solidFill>
                <a:latin typeface="Arial"/>
              </a:defRPr>
            </a:pPr>
            <a:r>
              <a:rPr sz="1400" dirty="0" err="1">
                <a:latin typeface="Tahoma" panose="020B0604030504040204" pitchFamily="34" charset="0"/>
              </a:rPr>
              <a:t>Đưa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vào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kế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hoạch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tháng</a:t>
            </a:r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99" name="Rounded Rectangle 98"/>
          <p:cNvSpPr/>
          <p:nvPr/>
        </p:nvSpPr>
        <p:spPr>
          <a:xfrm>
            <a:off x="685800" y="4343400"/>
            <a:ext cx="338328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9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100" name="TextBox 99"/>
          <p:cNvSpPr txBox="1"/>
          <p:nvPr/>
        </p:nvSpPr>
        <p:spPr>
          <a:xfrm>
            <a:off x="1124712" y="4400603"/>
            <a:ext cx="3017520" cy="307777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310" b="1">
                <a:solidFill>
                  <a:srgbClr val="051F71"/>
                </a:solidFill>
                <a:latin typeface="Arial"/>
              </a:defRPr>
            </a:pPr>
            <a:r>
              <a:rPr sz="1400" dirty="0">
                <a:latin typeface="Tahoma" panose="020B0604030504040204" pitchFamily="34" charset="0"/>
              </a:rPr>
              <a:t>QUY </a:t>
            </a:r>
            <a:r>
              <a:rPr sz="1400" dirty="0" err="1">
                <a:latin typeface="Tahoma" panose="020B0604030504040204" pitchFamily="34" charset="0"/>
              </a:rPr>
              <a:t>TẮC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MÃ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HÓA</a:t>
            </a:r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101" name="TextBox 100"/>
          <p:cNvSpPr txBox="1"/>
          <p:nvPr/>
        </p:nvSpPr>
        <p:spPr>
          <a:xfrm>
            <a:off x="932687" y="4717406"/>
            <a:ext cx="2944368" cy="10310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50"/>
              </a:spcAft>
              <a:defRPr sz="900">
                <a:solidFill>
                  <a:srgbClr val="202838"/>
                </a:solidFill>
                <a:latin typeface="Arial"/>
              </a:defRPr>
            </a:pPr>
            <a:r>
              <a:rPr sz="1400" dirty="0">
                <a:latin typeface="Tahoma" panose="020B0604030504040204" pitchFamily="34" charset="0"/>
              </a:rPr>
              <a:t>• </a:t>
            </a:r>
            <a:r>
              <a:rPr sz="1400" dirty="0" err="1">
                <a:latin typeface="Tahoma" panose="020B0604030504040204" pitchFamily="34" charset="0"/>
              </a:rPr>
              <a:t>Mỗi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vụ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việc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có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mã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duy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nhất</a:t>
            </a:r>
            <a:r>
              <a:rPr sz="1400" dirty="0">
                <a:latin typeface="Tahoma" panose="020B0604030504040204" pitchFamily="34" charset="0"/>
              </a:rPr>
              <a:t>.</a:t>
            </a:r>
          </a:p>
          <a:p>
            <a:pPr>
              <a:spcAft>
                <a:spcPts val="550"/>
              </a:spcAft>
              <a:defRPr sz="900">
                <a:solidFill>
                  <a:srgbClr val="202838"/>
                </a:solidFill>
                <a:latin typeface="Arial"/>
              </a:defRPr>
            </a:pPr>
            <a:r>
              <a:rPr sz="1400" dirty="0">
                <a:latin typeface="Tahoma" panose="020B0604030504040204" pitchFamily="34" charset="0"/>
              </a:rPr>
              <a:t>• </a:t>
            </a:r>
            <a:r>
              <a:rPr sz="1400" dirty="0" err="1">
                <a:latin typeface="Tahoma" panose="020B0604030504040204" pitchFamily="34" charset="0"/>
              </a:rPr>
              <a:t>Không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dùng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tên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NLĐ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trên</a:t>
            </a:r>
            <a:r>
              <a:rPr sz="1400" dirty="0">
                <a:latin typeface="Tahoma" panose="020B0604030504040204" pitchFamily="34" charset="0"/>
              </a:rPr>
              <a:t> dashboard </a:t>
            </a:r>
            <a:r>
              <a:rPr sz="1400" dirty="0" err="1">
                <a:latin typeface="Tahoma" panose="020B0604030504040204" pitchFamily="34" charset="0"/>
              </a:rPr>
              <a:t>công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khai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nếu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không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cần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thiết</a:t>
            </a:r>
            <a:r>
              <a:rPr sz="1400" dirty="0">
                <a:latin typeface="Tahoma" panose="020B0604030504040204" pitchFamily="34" charset="0"/>
              </a:rPr>
              <a:t>.</a:t>
            </a:r>
          </a:p>
        </p:txBody>
      </p:sp>
      <p:sp>
        <p:nvSpPr>
          <p:cNvPr id="102" name="Rounded Rectangle 101"/>
          <p:cNvSpPr/>
          <p:nvPr/>
        </p:nvSpPr>
        <p:spPr>
          <a:xfrm>
            <a:off x="4389120" y="4343400"/>
            <a:ext cx="338328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9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103" name="TextBox 102"/>
          <p:cNvSpPr txBox="1"/>
          <p:nvPr/>
        </p:nvSpPr>
        <p:spPr>
          <a:xfrm>
            <a:off x="4828032" y="4400603"/>
            <a:ext cx="3017520" cy="307777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310" b="1">
                <a:solidFill>
                  <a:srgbClr val="118F91"/>
                </a:solidFill>
                <a:latin typeface="Arial"/>
              </a:defRPr>
            </a:pPr>
            <a:r>
              <a:rPr sz="1400" dirty="0">
                <a:latin typeface="Tahoma" panose="020B0604030504040204" pitchFamily="34" charset="0"/>
              </a:rPr>
              <a:t>QUY </a:t>
            </a:r>
            <a:r>
              <a:rPr sz="1400" dirty="0" err="1">
                <a:latin typeface="Tahoma" panose="020B0604030504040204" pitchFamily="34" charset="0"/>
              </a:rPr>
              <a:t>TẮC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TRẠNG</a:t>
            </a:r>
            <a:r>
              <a:rPr sz="1400" dirty="0">
                <a:latin typeface="Tahoma" panose="020B0604030504040204" pitchFamily="34" charset="0"/>
              </a:rPr>
              <a:t> THÁI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4636007" y="4717406"/>
            <a:ext cx="2944368" cy="815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50"/>
              </a:spcAft>
              <a:defRPr sz="900">
                <a:solidFill>
                  <a:srgbClr val="202838"/>
                </a:solidFill>
                <a:latin typeface="Arial"/>
              </a:defRPr>
            </a:pPr>
            <a:r>
              <a:rPr sz="1400" dirty="0">
                <a:latin typeface="Tahoma" panose="020B0604030504040204" pitchFamily="34" charset="0"/>
              </a:rPr>
              <a:t>• </a:t>
            </a:r>
            <a:r>
              <a:rPr sz="1400" dirty="0" err="1">
                <a:latin typeface="Tahoma" panose="020B0604030504040204" pitchFamily="34" charset="0"/>
              </a:rPr>
              <a:t>Mới</a:t>
            </a:r>
            <a:r>
              <a:rPr sz="1400" dirty="0">
                <a:latin typeface="Tahoma" panose="020B0604030504040204" pitchFamily="34" charset="0"/>
              </a:rPr>
              <a:t> → </a:t>
            </a:r>
            <a:r>
              <a:rPr sz="1400" dirty="0" err="1">
                <a:latin typeface="Tahoma" panose="020B0604030504040204" pitchFamily="34" charset="0"/>
              </a:rPr>
              <a:t>Đang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xác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minh</a:t>
            </a:r>
            <a:r>
              <a:rPr sz="1400" dirty="0">
                <a:latin typeface="Tahoma" panose="020B0604030504040204" pitchFamily="34" charset="0"/>
              </a:rPr>
              <a:t> → </a:t>
            </a:r>
            <a:r>
              <a:rPr sz="1400" dirty="0" err="1">
                <a:latin typeface="Tahoma" panose="020B0604030504040204" pitchFamily="34" charset="0"/>
              </a:rPr>
              <a:t>Đang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xử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lý</a:t>
            </a:r>
            <a:r>
              <a:rPr sz="1400" dirty="0">
                <a:latin typeface="Tahoma" panose="020B0604030504040204" pitchFamily="34" charset="0"/>
              </a:rPr>
              <a:t> → </a:t>
            </a:r>
            <a:r>
              <a:rPr sz="1400" dirty="0" err="1">
                <a:latin typeface="Tahoma" panose="020B0604030504040204" pitchFamily="34" charset="0"/>
              </a:rPr>
              <a:t>Chờ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phản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hồi</a:t>
            </a:r>
            <a:r>
              <a:rPr sz="1400" dirty="0">
                <a:latin typeface="Tahoma" panose="020B0604030504040204" pitchFamily="34" charset="0"/>
              </a:rPr>
              <a:t> → </a:t>
            </a:r>
            <a:r>
              <a:rPr sz="1400" dirty="0" err="1">
                <a:latin typeface="Tahoma" panose="020B0604030504040204" pitchFamily="34" charset="0"/>
              </a:rPr>
              <a:t>Đã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đóng</a:t>
            </a:r>
            <a:r>
              <a:rPr sz="1400" dirty="0">
                <a:latin typeface="Tahoma" panose="020B0604030504040204" pitchFamily="34" charset="0"/>
              </a:rPr>
              <a:t>.</a:t>
            </a:r>
          </a:p>
          <a:p>
            <a:pPr>
              <a:spcAft>
                <a:spcPts val="550"/>
              </a:spcAft>
              <a:defRPr sz="900">
                <a:solidFill>
                  <a:srgbClr val="202838"/>
                </a:solidFill>
                <a:latin typeface="Arial"/>
              </a:defRPr>
            </a:pPr>
            <a:r>
              <a:rPr sz="1400" dirty="0">
                <a:latin typeface="Tahoma" panose="020B0604030504040204" pitchFamily="34" charset="0"/>
              </a:rPr>
              <a:t>• </a:t>
            </a:r>
            <a:r>
              <a:rPr sz="1400" dirty="0" err="1">
                <a:latin typeface="Tahoma" panose="020B0604030504040204" pitchFamily="34" charset="0"/>
              </a:rPr>
              <a:t>Quá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hạn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phải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có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lý</a:t>
            </a:r>
            <a:r>
              <a:rPr sz="1400" dirty="0">
                <a:latin typeface="Tahoma" panose="020B0604030504040204" pitchFamily="34" charset="0"/>
              </a:rPr>
              <a:t> do/ETA </a:t>
            </a:r>
            <a:r>
              <a:rPr sz="1400" dirty="0" err="1">
                <a:latin typeface="Tahoma" panose="020B0604030504040204" pitchFamily="34" charset="0"/>
              </a:rPr>
              <a:t>mới</a:t>
            </a:r>
            <a:r>
              <a:rPr sz="1400" dirty="0">
                <a:latin typeface="Tahoma" panose="020B0604030504040204" pitchFamily="34" charset="0"/>
              </a:rPr>
              <a:t>.</a:t>
            </a:r>
          </a:p>
        </p:txBody>
      </p:sp>
      <p:sp>
        <p:nvSpPr>
          <p:cNvPr id="105" name="Rounded Rectangle 104"/>
          <p:cNvSpPr/>
          <p:nvPr/>
        </p:nvSpPr>
        <p:spPr>
          <a:xfrm>
            <a:off x="8092440" y="4343400"/>
            <a:ext cx="338328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9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106" name="TextBox 105"/>
          <p:cNvSpPr txBox="1"/>
          <p:nvPr/>
        </p:nvSpPr>
        <p:spPr>
          <a:xfrm>
            <a:off x="8531352" y="4400603"/>
            <a:ext cx="3017519" cy="307777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310" b="1">
                <a:solidFill>
                  <a:srgbClr val="E87823"/>
                </a:solidFill>
                <a:latin typeface="Arial"/>
              </a:defRPr>
            </a:pPr>
            <a:r>
              <a:rPr sz="1400" dirty="0">
                <a:latin typeface="Tahoma" panose="020B0604030504040204" pitchFamily="34" charset="0"/>
              </a:rPr>
              <a:t>QUY </a:t>
            </a:r>
            <a:r>
              <a:rPr sz="1400" dirty="0" err="1">
                <a:latin typeface="Tahoma" panose="020B0604030504040204" pitchFamily="34" charset="0"/>
              </a:rPr>
              <a:t>TẮC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VƯỢT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CẤP</a:t>
            </a:r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107" name="TextBox 106"/>
          <p:cNvSpPr txBox="1"/>
          <p:nvPr/>
        </p:nvSpPr>
        <p:spPr>
          <a:xfrm>
            <a:off x="8339327" y="4717406"/>
            <a:ext cx="2944368" cy="10310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50"/>
              </a:spcAft>
              <a:defRPr sz="900">
                <a:solidFill>
                  <a:srgbClr val="202838"/>
                </a:solidFill>
                <a:latin typeface="Arial"/>
              </a:defRPr>
            </a:pPr>
            <a:r>
              <a:rPr sz="1400" dirty="0">
                <a:latin typeface="Tahoma" panose="020B0604030504040204" pitchFamily="34" charset="0"/>
              </a:rPr>
              <a:t>• </a:t>
            </a:r>
            <a:r>
              <a:rPr sz="1400" dirty="0" err="1">
                <a:latin typeface="Tahoma" panose="020B0604030504040204" pitchFamily="34" charset="0"/>
              </a:rPr>
              <a:t>Vụ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ảnh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hưởng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nhiều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NLĐ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hoặc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có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rủi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ro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cao</a:t>
            </a:r>
            <a:r>
              <a:rPr sz="1400" dirty="0">
                <a:latin typeface="Tahoma" panose="020B0604030504040204" pitchFamily="34" charset="0"/>
              </a:rPr>
              <a:t>: </a:t>
            </a:r>
            <a:r>
              <a:rPr sz="1400" dirty="0" err="1">
                <a:latin typeface="Tahoma" panose="020B0604030504040204" pitchFamily="34" charset="0"/>
              </a:rPr>
              <a:t>báo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ngay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CĐ</a:t>
            </a:r>
            <a:r>
              <a:rPr sz="1400" dirty="0">
                <a:latin typeface="Tahoma" panose="020B0604030504040204" pitchFamily="34" charset="0"/>
              </a:rPr>
              <a:t> GPG/Ban </a:t>
            </a:r>
            <a:r>
              <a:rPr sz="1400" dirty="0" err="1">
                <a:latin typeface="Tahoma" panose="020B0604030504040204" pitchFamily="34" charset="0"/>
              </a:rPr>
              <a:t>CSNLĐ</a:t>
            </a:r>
            <a:r>
              <a:rPr sz="1400" dirty="0">
                <a:latin typeface="Tahoma" panose="020B0604030504040204" pitchFamily="34" charset="0"/>
              </a:rPr>
              <a:t>.</a:t>
            </a:r>
          </a:p>
          <a:p>
            <a:pPr>
              <a:spcAft>
                <a:spcPts val="550"/>
              </a:spcAft>
              <a:defRPr sz="900">
                <a:solidFill>
                  <a:srgbClr val="202838"/>
                </a:solidFill>
                <a:latin typeface="Arial"/>
              </a:defRPr>
            </a:pPr>
            <a:r>
              <a:rPr sz="1400" dirty="0">
                <a:latin typeface="Tahoma" panose="020B0604030504040204" pitchFamily="34" charset="0"/>
              </a:rPr>
              <a:t>• </a:t>
            </a:r>
            <a:r>
              <a:rPr sz="1400" dirty="0" err="1">
                <a:latin typeface="Tahoma" panose="020B0604030504040204" pitchFamily="34" charset="0"/>
              </a:rPr>
              <a:t>Không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chờ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báo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cáo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tháng</a:t>
            </a:r>
            <a:r>
              <a:rPr sz="1400" dirty="0">
                <a:latin typeface="Tahoma" panose="020B0604030504040204" pitchFamily="34" charset="0"/>
              </a:rPr>
              <a:t>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608" y="82296"/>
            <a:ext cx="960120" cy="548640"/>
          </a:xfrm>
          <a:prstGeom prst="rect">
            <a:avLst/>
          </a:prstGeom>
        </p:spPr>
      </p:pic>
      <p:pic>
        <p:nvPicPr>
          <p:cNvPr id="3" name="Picture 2" descr="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64008"/>
            <a:ext cx="646818" cy="585216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274320" y="749808"/>
            <a:ext cx="11649456" cy="22860"/>
          </a:xfrm>
          <a:prstGeom prst="rect">
            <a:avLst/>
          </a:prstGeom>
          <a:solidFill>
            <a:srgbClr val="051F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Tahoma" panose="020B0604030504040204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20040" y="6483096"/>
            <a:ext cx="2077813" cy="22313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051F71"/>
                </a:solidFill>
                <a:latin typeface="Arial"/>
              </a:defRPr>
            </a:pPr>
            <a:r>
              <a:rPr dirty="0">
                <a:latin typeface="Tahoma" panose="020B0604030504040204" pitchFamily="34" charset="0"/>
              </a:rPr>
              <a:t>CÔNG ĐOÀN GPG | GPG TRADE UNION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88474" y="6473952"/>
            <a:ext cx="1284326" cy="21839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19">
                <a:solidFill>
                  <a:srgbClr val="677180"/>
                </a:solidFill>
                <a:latin typeface="Arial"/>
              </a:defRPr>
            </a:pPr>
            <a:r>
              <a:rPr dirty="0">
                <a:latin typeface="Tahoma" panose="020B0604030504040204" pitchFamily="34" charset="0"/>
              </a:rPr>
              <a:t>IV. </a:t>
            </a:r>
            <a:r>
              <a:rPr dirty="0" err="1">
                <a:latin typeface="Tahoma" panose="020B0604030504040204" pitchFamily="34" charset="0"/>
              </a:rPr>
              <a:t>BIỂU</a:t>
            </a:r>
            <a:r>
              <a:rPr dirty="0">
                <a:latin typeface="Tahoma" panose="020B0604030504040204" pitchFamily="34" charset="0"/>
              </a:rPr>
              <a:t> </a:t>
            </a:r>
            <a:r>
              <a:rPr dirty="0" err="1">
                <a:latin typeface="Tahoma" panose="020B0604030504040204" pitchFamily="34" charset="0"/>
              </a:rPr>
              <a:t>MẪU</a:t>
            </a:r>
            <a:r>
              <a:rPr dirty="0">
                <a:latin typeface="Tahoma" panose="020B0604030504040204" pitchFamily="34" charset="0"/>
              </a:rPr>
              <a:t> BÁO CÁO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93198" y="6455664"/>
            <a:ext cx="338554" cy="2385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051F71"/>
                </a:solidFill>
                <a:latin typeface="Arial"/>
              </a:defRPr>
            </a:pPr>
            <a:r>
              <a:rPr dirty="0">
                <a:latin typeface="Tahoma" panose="020B0604030504040204" pitchFamily="34" charset="0"/>
              </a:rPr>
              <a:t>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" y="92721"/>
            <a:ext cx="11617283" cy="50013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50" b="1">
                <a:solidFill>
                  <a:srgbClr val="051F71"/>
                </a:solidFill>
                <a:latin typeface="Arial Narrow"/>
              </a:defRPr>
            </a:pPr>
            <a:r>
              <a:rPr dirty="0" err="1">
                <a:latin typeface="Tahoma" panose="020B0604030504040204" pitchFamily="34" charset="0"/>
              </a:rPr>
              <a:t>BIỂU</a:t>
            </a:r>
            <a:r>
              <a:rPr dirty="0">
                <a:latin typeface="Tahoma" panose="020B0604030504040204" pitchFamily="34" charset="0"/>
              </a:rPr>
              <a:t> </a:t>
            </a:r>
            <a:r>
              <a:rPr dirty="0" err="1">
                <a:latin typeface="Tahoma" panose="020B0604030504040204" pitchFamily="34" charset="0"/>
              </a:rPr>
              <a:t>MẪU</a:t>
            </a:r>
            <a:r>
              <a:rPr dirty="0">
                <a:latin typeface="Tahoma" panose="020B0604030504040204" pitchFamily="34" charset="0"/>
              </a:rPr>
              <a:t> </a:t>
            </a:r>
            <a:r>
              <a:rPr dirty="0" err="1">
                <a:latin typeface="Tahoma" panose="020B0604030504040204" pitchFamily="34" charset="0"/>
              </a:rPr>
              <a:t>M04</a:t>
            </a:r>
            <a:r>
              <a:rPr dirty="0">
                <a:latin typeface="Tahoma" panose="020B0604030504040204" pitchFamily="34" charset="0"/>
              </a:rPr>
              <a:t> – BÁO CÁO </a:t>
            </a:r>
            <a:r>
              <a:rPr dirty="0" err="1">
                <a:latin typeface="Tahoma" panose="020B0604030504040204" pitchFamily="34" charset="0"/>
              </a:rPr>
              <a:t>TỔNG</a:t>
            </a:r>
            <a:r>
              <a:rPr dirty="0">
                <a:latin typeface="Tahoma" panose="020B0604030504040204" pitchFamily="34" charset="0"/>
              </a:rPr>
              <a:t> </a:t>
            </a:r>
            <a:r>
              <a:rPr dirty="0" err="1">
                <a:latin typeface="Tahoma" panose="020B0604030504040204" pitchFamily="34" charset="0"/>
              </a:rPr>
              <a:t>HỢP</a:t>
            </a:r>
            <a:r>
              <a:rPr dirty="0">
                <a:latin typeface="Tahoma" panose="020B0604030504040204" pitchFamily="34" charset="0"/>
              </a:rPr>
              <a:t> CÔNG ĐOÀN </a:t>
            </a:r>
            <a:r>
              <a:rPr dirty="0" err="1">
                <a:latin typeface="Tahoma" panose="020B0604030504040204" pitchFamily="34" charset="0"/>
              </a:rPr>
              <a:t>TỔNG</a:t>
            </a:r>
            <a:r>
              <a:rPr dirty="0">
                <a:latin typeface="Tahoma" panose="020B0604030504040204" pitchFamily="34" charset="0"/>
              </a:rPr>
              <a:t> CÔNG TY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600200"/>
            <a:ext cx="3429000" cy="4343400"/>
          </a:xfrm>
          <a:prstGeom prst="roundRect">
            <a:avLst/>
          </a:prstGeom>
          <a:solidFill>
            <a:srgbClr val="FFFFFF"/>
          </a:solidFill>
          <a:ln>
            <a:solidFill>
              <a:srgbClr val="D9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Tahoma" panose="020B0604030504040204" pitchFamily="34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95528" y="1728216"/>
            <a:ext cx="3063240" cy="307777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310" b="1">
                <a:solidFill>
                  <a:srgbClr val="051F71"/>
                </a:solidFill>
                <a:latin typeface="Arial"/>
              </a:defRPr>
            </a:pPr>
            <a:r>
              <a:rPr sz="1400" dirty="0">
                <a:latin typeface="Tahoma" panose="020B0604030504040204" pitchFamily="34" charset="0"/>
              </a:rPr>
              <a:t>PHẦN 1 – </a:t>
            </a:r>
            <a:r>
              <a:rPr sz="1400" dirty="0" err="1">
                <a:latin typeface="Tahoma" panose="020B0604030504040204" pitchFamily="34" charset="0"/>
              </a:rPr>
              <a:t>TỔNG</a:t>
            </a:r>
            <a:r>
              <a:rPr sz="1400" dirty="0">
                <a:latin typeface="Tahoma" panose="020B0604030504040204" pitchFamily="34" charset="0"/>
              </a:rPr>
              <a:t> QUAN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3816" y="2176272"/>
            <a:ext cx="2990088" cy="14003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50"/>
              </a:spcAft>
              <a:defRPr sz="969">
                <a:solidFill>
                  <a:srgbClr val="202838"/>
                </a:solidFill>
                <a:latin typeface="Arial"/>
              </a:defRPr>
            </a:pPr>
            <a:r>
              <a:rPr sz="1400" dirty="0">
                <a:latin typeface="Tahoma" panose="020B0604030504040204" pitchFamily="34" charset="0"/>
              </a:rPr>
              <a:t>• </a:t>
            </a:r>
            <a:r>
              <a:rPr sz="1400" dirty="0" err="1">
                <a:latin typeface="Tahoma" panose="020B0604030504040204" pitchFamily="34" charset="0"/>
              </a:rPr>
              <a:t>Số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CĐCS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báo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cáo</a:t>
            </a:r>
            <a:r>
              <a:rPr sz="1400" dirty="0">
                <a:latin typeface="Tahoma" panose="020B0604030504040204" pitchFamily="34" charset="0"/>
              </a:rPr>
              <a:t> / </a:t>
            </a:r>
            <a:r>
              <a:rPr sz="1400" dirty="0" err="1">
                <a:latin typeface="Tahoma" panose="020B0604030504040204" pitchFamily="34" charset="0"/>
              </a:rPr>
              <a:t>chưa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báo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cáo</a:t>
            </a:r>
            <a:r>
              <a:rPr sz="1400" dirty="0">
                <a:latin typeface="Tahoma" panose="020B0604030504040204" pitchFamily="34" charset="0"/>
              </a:rPr>
              <a:t>.</a:t>
            </a:r>
          </a:p>
          <a:p>
            <a:pPr>
              <a:spcAft>
                <a:spcPts val="550"/>
              </a:spcAft>
              <a:defRPr sz="969">
                <a:solidFill>
                  <a:srgbClr val="202838"/>
                </a:solidFill>
                <a:latin typeface="Arial"/>
              </a:defRPr>
            </a:pPr>
            <a:r>
              <a:rPr sz="1400" dirty="0">
                <a:latin typeface="Tahoma" panose="020B0604030504040204" pitchFamily="34" charset="0"/>
              </a:rPr>
              <a:t>• </a:t>
            </a:r>
            <a:r>
              <a:rPr sz="1400" dirty="0" err="1">
                <a:latin typeface="Tahoma" panose="020B0604030504040204" pitchFamily="34" charset="0"/>
              </a:rPr>
              <a:t>Số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đoàn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viên</a:t>
            </a:r>
            <a:r>
              <a:rPr sz="1400" dirty="0">
                <a:latin typeface="Tahoma" panose="020B0604030504040204" pitchFamily="34" charset="0"/>
              </a:rPr>
              <a:t>, </a:t>
            </a:r>
            <a:r>
              <a:rPr sz="1400" dirty="0" err="1">
                <a:latin typeface="Tahoma" panose="020B0604030504040204" pitchFamily="34" charset="0"/>
              </a:rPr>
              <a:t>tỷ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lệ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tham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gia</a:t>
            </a:r>
            <a:r>
              <a:rPr sz="1400" dirty="0">
                <a:latin typeface="Tahoma" panose="020B0604030504040204" pitchFamily="34" charset="0"/>
              </a:rPr>
              <a:t>.</a:t>
            </a:r>
          </a:p>
          <a:p>
            <a:pPr>
              <a:spcAft>
                <a:spcPts val="550"/>
              </a:spcAft>
              <a:defRPr sz="969">
                <a:solidFill>
                  <a:srgbClr val="202838"/>
                </a:solidFill>
                <a:latin typeface="Arial"/>
              </a:defRPr>
            </a:pPr>
            <a:r>
              <a:rPr sz="1400" dirty="0">
                <a:latin typeface="Tahoma" panose="020B0604030504040204" pitchFamily="34" charset="0"/>
              </a:rPr>
              <a:t>• </a:t>
            </a:r>
            <a:r>
              <a:rPr sz="1400" dirty="0" err="1">
                <a:latin typeface="Tahoma" panose="020B0604030504040204" pitchFamily="34" charset="0"/>
              </a:rPr>
              <a:t>Số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hoạt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động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và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số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NLĐ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được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tiếp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cận</a:t>
            </a:r>
            <a:r>
              <a:rPr sz="1400" dirty="0">
                <a:latin typeface="Tahoma" panose="020B0604030504040204" pitchFamily="34" charset="0"/>
              </a:rPr>
              <a:t>.</a:t>
            </a:r>
          </a:p>
          <a:p>
            <a:pPr>
              <a:spcAft>
                <a:spcPts val="550"/>
              </a:spcAft>
              <a:defRPr sz="969">
                <a:solidFill>
                  <a:srgbClr val="202838"/>
                </a:solidFill>
                <a:latin typeface="Arial"/>
              </a:defRPr>
            </a:pPr>
            <a:r>
              <a:rPr sz="1400" dirty="0">
                <a:latin typeface="Tahoma" panose="020B0604030504040204" pitchFamily="34" charset="0"/>
              </a:rPr>
              <a:t>• </a:t>
            </a:r>
            <a:r>
              <a:rPr sz="1400" dirty="0" err="1">
                <a:latin typeface="Tahoma" panose="020B0604030504040204" pitchFamily="34" charset="0"/>
              </a:rPr>
              <a:t>Tổng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thu</a:t>
            </a:r>
            <a:r>
              <a:rPr sz="1400" dirty="0">
                <a:latin typeface="Tahoma" panose="020B0604030504040204" pitchFamily="34" charset="0"/>
              </a:rPr>
              <a:t> – chi </a:t>
            </a:r>
            <a:r>
              <a:rPr sz="1400" dirty="0" err="1">
                <a:latin typeface="Tahoma" panose="020B0604030504040204" pitchFamily="34" charset="0"/>
              </a:rPr>
              <a:t>và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số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dư</a:t>
            </a:r>
            <a:r>
              <a:rPr sz="1400" dirty="0">
                <a:latin typeface="Tahoma" panose="020B0604030504040204" pitchFamily="34" charset="0"/>
              </a:rPr>
              <a:t>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600200"/>
            <a:ext cx="3429000" cy="4343400"/>
          </a:xfrm>
          <a:prstGeom prst="roundRect">
            <a:avLst/>
          </a:prstGeom>
          <a:solidFill>
            <a:srgbClr val="FFFFFF"/>
          </a:solidFill>
          <a:ln>
            <a:solidFill>
              <a:srgbClr val="D9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Tahoma" panose="020B0604030504040204" pitchFamily="3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590288" y="1728216"/>
            <a:ext cx="3063240" cy="5232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310" b="1">
                <a:solidFill>
                  <a:srgbClr val="118F91"/>
                </a:solidFill>
                <a:latin typeface="Arial"/>
              </a:defRPr>
            </a:pPr>
            <a:r>
              <a:rPr sz="1400" dirty="0">
                <a:latin typeface="Tahoma" panose="020B0604030504040204" pitchFamily="34" charset="0"/>
              </a:rPr>
              <a:t>PHẦN 2 – XU </a:t>
            </a:r>
            <a:r>
              <a:rPr sz="1400" dirty="0" err="1">
                <a:latin typeface="Tahoma" panose="020B0604030504040204" pitchFamily="34" charset="0"/>
              </a:rPr>
              <a:t>HƯỚNG</a:t>
            </a:r>
            <a:r>
              <a:rPr sz="1400" dirty="0">
                <a:latin typeface="Tahoma" panose="020B0604030504040204" pitchFamily="34" charset="0"/>
              </a:rPr>
              <a:t> &amp; </a:t>
            </a:r>
            <a:r>
              <a:rPr sz="1400" dirty="0" err="1">
                <a:latin typeface="Tahoma" panose="020B0604030504040204" pitchFamily="34" charset="0"/>
              </a:rPr>
              <a:t>CẢNH</a:t>
            </a:r>
            <a:r>
              <a:rPr sz="1400" dirty="0">
                <a:latin typeface="Tahoma" panose="020B0604030504040204" pitchFamily="34" charset="0"/>
              </a:rPr>
              <a:t> BÁO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08576" y="2176272"/>
            <a:ext cx="2990088" cy="19082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50"/>
              </a:spcAft>
              <a:defRPr sz="969">
                <a:solidFill>
                  <a:srgbClr val="202838"/>
                </a:solidFill>
                <a:latin typeface="Arial"/>
              </a:defRPr>
            </a:pPr>
            <a:r>
              <a:rPr sz="1400" dirty="0">
                <a:latin typeface="Tahoma" panose="020B0604030504040204" pitchFamily="34" charset="0"/>
              </a:rPr>
              <a:t>• Top </a:t>
            </a:r>
            <a:r>
              <a:rPr sz="1400" dirty="0" err="1">
                <a:latin typeface="Tahoma" panose="020B0604030504040204" pitchFamily="34" charset="0"/>
              </a:rPr>
              <a:t>nhóm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kiến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nghị</a:t>
            </a:r>
            <a:r>
              <a:rPr sz="1400" dirty="0">
                <a:latin typeface="Tahoma" panose="020B0604030504040204" pitchFamily="34" charset="0"/>
              </a:rPr>
              <a:t>.</a:t>
            </a:r>
          </a:p>
          <a:p>
            <a:pPr>
              <a:spcAft>
                <a:spcPts val="550"/>
              </a:spcAft>
              <a:defRPr sz="969">
                <a:solidFill>
                  <a:srgbClr val="202838"/>
                </a:solidFill>
                <a:latin typeface="Arial"/>
              </a:defRPr>
            </a:pPr>
            <a:r>
              <a:rPr sz="1400" dirty="0">
                <a:latin typeface="Tahoma" panose="020B0604030504040204" pitchFamily="34" charset="0"/>
              </a:rPr>
              <a:t>• </a:t>
            </a:r>
            <a:r>
              <a:rPr sz="1400" dirty="0" err="1">
                <a:latin typeface="Tahoma" panose="020B0604030504040204" pitchFamily="34" charset="0"/>
              </a:rPr>
              <a:t>Vụ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việc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quá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hạn</a:t>
            </a:r>
            <a:r>
              <a:rPr sz="1400" dirty="0">
                <a:latin typeface="Tahoma" panose="020B0604030504040204" pitchFamily="34" charset="0"/>
              </a:rPr>
              <a:t> / </a:t>
            </a:r>
            <a:r>
              <a:rPr sz="1400" dirty="0" err="1">
                <a:latin typeface="Tahoma" panose="020B0604030504040204" pitchFamily="34" charset="0"/>
              </a:rPr>
              <a:t>rủi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ro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cao</a:t>
            </a:r>
            <a:r>
              <a:rPr sz="1400" dirty="0">
                <a:latin typeface="Tahoma" panose="020B0604030504040204" pitchFamily="34" charset="0"/>
              </a:rPr>
              <a:t>.</a:t>
            </a:r>
          </a:p>
          <a:p>
            <a:pPr>
              <a:spcAft>
                <a:spcPts val="550"/>
              </a:spcAft>
              <a:defRPr sz="969">
                <a:solidFill>
                  <a:srgbClr val="202838"/>
                </a:solidFill>
                <a:latin typeface="Arial"/>
              </a:defRPr>
            </a:pPr>
            <a:r>
              <a:rPr sz="1400" dirty="0">
                <a:latin typeface="Tahoma" panose="020B0604030504040204" pitchFamily="34" charset="0"/>
              </a:rPr>
              <a:t>• </a:t>
            </a:r>
            <a:r>
              <a:rPr sz="1400" dirty="0" err="1">
                <a:latin typeface="Tahoma" panose="020B0604030504040204" pitchFamily="34" charset="0"/>
              </a:rPr>
              <a:t>Đơn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vị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triển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khai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chính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sách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chậm</a:t>
            </a:r>
            <a:r>
              <a:rPr sz="1400" dirty="0">
                <a:latin typeface="Tahoma" panose="020B0604030504040204" pitchFamily="34" charset="0"/>
              </a:rPr>
              <a:t>.</a:t>
            </a:r>
          </a:p>
          <a:p>
            <a:pPr>
              <a:spcAft>
                <a:spcPts val="550"/>
              </a:spcAft>
              <a:defRPr sz="969">
                <a:solidFill>
                  <a:srgbClr val="202838"/>
                </a:solidFill>
                <a:latin typeface="Arial"/>
              </a:defRPr>
            </a:pPr>
            <a:r>
              <a:rPr sz="1400" dirty="0">
                <a:latin typeface="Tahoma" panose="020B0604030504040204" pitchFamily="34" charset="0"/>
              </a:rPr>
              <a:t>• </a:t>
            </a:r>
            <a:r>
              <a:rPr sz="1400" dirty="0" err="1">
                <a:latin typeface="Tahoma" panose="020B0604030504040204" pitchFamily="34" charset="0"/>
              </a:rPr>
              <a:t>Chương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trình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có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mức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tham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gia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thấp</a:t>
            </a:r>
            <a:r>
              <a:rPr sz="1400" dirty="0">
                <a:latin typeface="Tahoma" panose="020B0604030504040204" pitchFamily="34" charset="0"/>
              </a:rPr>
              <a:t>/</a:t>
            </a:r>
            <a:r>
              <a:rPr sz="1400" dirty="0" err="1">
                <a:latin typeface="Tahoma" panose="020B0604030504040204" pitchFamily="34" charset="0"/>
              </a:rPr>
              <a:t>cao</a:t>
            </a:r>
            <a:r>
              <a:rPr sz="1400" dirty="0">
                <a:latin typeface="Tahoma" panose="020B0604030504040204" pitchFamily="34" charset="0"/>
              </a:rPr>
              <a:t>.</a:t>
            </a:r>
          </a:p>
          <a:p>
            <a:pPr>
              <a:spcAft>
                <a:spcPts val="550"/>
              </a:spcAft>
              <a:defRPr sz="969">
                <a:solidFill>
                  <a:srgbClr val="202838"/>
                </a:solidFill>
                <a:latin typeface="Arial"/>
              </a:defRPr>
            </a:pPr>
            <a:r>
              <a:rPr sz="1400" dirty="0">
                <a:latin typeface="Tahoma" panose="020B0604030504040204" pitchFamily="34" charset="0"/>
              </a:rPr>
              <a:t>• Ngân </a:t>
            </a:r>
            <a:r>
              <a:rPr sz="1400" dirty="0" err="1">
                <a:latin typeface="Tahoma" panose="020B0604030504040204" pitchFamily="34" charset="0"/>
              </a:rPr>
              <a:t>sách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biến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động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bất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thường</a:t>
            </a:r>
            <a:r>
              <a:rPr sz="1400" dirty="0">
                <a:latin typeface="Tahoma" panose="020B0604030504040204" pitchFamily="34" charset="0"/>
              </a:rPr>
              <a:t>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60" y="1600200"/>
            <a:ext cx="3429000" cy="4343400"/>
          </a:xfrm>
          <a:prstGeom prst="roundRect">
            <a:avLst/>
          </a:prstGeom>
          <a:solidFill>
            <a:srgbClr val="FFFFFF"/>
          </a:solidFill>
          <a:ln>
            <a:solidFill>
              <a:srgbClr val="D9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Tahoma" panose="020B0604030504040204" pitchFamily="34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339328" y="1728216"/>
            <a:ext cx="3063239" cy="307777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310" b="1">
                <a:solidFill>
                  <a:srgbClr val="E87823"/>
                </a:solidFill>
                <a:latin typeface="Arial"/>
              </a:defRPr>
            </a:pPr>
            <a:r>
              <a:rPr sz="1400" dirty="0">
                <a:latin typeface="Tahoma" panose="020B0604030504040204" pitchFamily="34" charset="0"/>
              </a:rPr>
              <a:t>PHẦN 3 – </a:t>
            </a:r>
            <a:r>
              <a:rPr sz="1400" dirty="0" err="1">
                <a:latin typeface="Tahoma" panose="020B0604030504040204" pitchFamily="34" charset="0"/>
              </a:rPr>
              <a:t>KIẾN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NGHỊ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BLĐ</a:t>
            </a:r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357616" y="2176272"/>
            <a:ext cx="2990088" cy="16927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50"/>
              </a:spcAft>
              <a:defRPr sz="969">
                <a:solidFill>
                  <a:srgbClr val="202838"/>
                </a:solidFill>
                <a:latin typeface="Arial"/>
              </a:defRPr>
            </a:pPr>
            <a:r>
              <a:rPr sz="1400" dirty="0">
                <a:latin typeface="Tahoma" panose="020B0604030504040204" pitchFamily="34" charset="0"/>
              </a:rPr>
              <a:t>• </a:t>
            </a:r>
            <a:r>
              <a:rPr sz="1400" dirty="0" err="1">
                <a:latin typeface="Tahoma" panose="020B0604030504040204" pitchFamily="34" charset="0"/>
              </a:rPr>
              <a:t>Nội</a:t>
            </a:r>
            <a:r>
              <a:rPr sz="1400" dirty="0">
                <a:latin typeface="Tahoma" panose="020B0604030504040204" pitchFamily="34" charset="0"/>
              </a:rPr>
              <a:t> dung </a:t>
            </a:r>
            <a:r>
              <a:rPr sz="1400" dirty="0" err="1">
                <a:latin typeface="Tahoma" panose="020B0604030504040204" pitchFamily="34" charset="0"/>
              </a:rPr>
              <a:t>cần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quyết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định</a:t>
            </a:r>
            <a:r>
              <a:rPr sz="1400" dirty="0">
                <a:latin typeface="Tahoma" panose="020B0604030504040204" pitchFamily="34" charset="0"/>
              </a:rPr>
              <a:t>.</a:t>
            </a:r>
          </a:p>
          <a:p>
            <a:pPr>
              <a:spcAft>
                <a:spcPts val="550"/>
              </a:spcAft>
              <a:defRPr sz="969">
                <a:solidFill>
                  <a:srgbClr val="202838"/>
                </a:solidFill>
                <a:latin typeface="Arial"/>
              </a:defRPr>
            </a:pPr>
            <a:r>
              <a:rPr sz="1400" dirty="0">
                <a:latin typeface="Tahoma" panose="020B0604030504040204" pitchFamily="34" charset="0"/>
              </a:rPr>
              <a:t>• </a:t>
            </a:r>
            <a:r>
              <a:rPr sz="1400" dirty="0" err="1">
                <a:latin typeface="Tahoma" panose="020B0604030504040204" pitchFamily="34" charset="0"/>
              </a:rPr>
              <a:t>Nguồn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lực</a:t>
            </a:r>
            <a:r>
              <a:rPr sz="1400" dirty="0">
                <a:latin typeface="Tahoma" panose="020B0604030504040204" pitchFamily="34" charset="0"/>
              </a:rPr>
              <a:t>/</a:t>
            </a:r>
            <a:r>
              <a:rPr sz="1400" dirty="0" err="1">
                <a:latin typeface="Tahoma" panose="020B0604030504040204" pitchFamily="34" charset="0"/>
              </a:rPr>
              <a:t>ngân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sách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cần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phê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duyệt</a:t>
            </a:r>
            <a:r>
              <a:rPr sz="1400" dirty="0">
                <a:latin typeface="Tahoma" panose="020B0604030504040204" pitchFamily="34" charset="0"/>
              </a:rPr>
              <a:t>.</a:t>
            </a:r>
          </a:p>
          <a:p>
            <a:pPr>
              <a:spcAft>
                <a:spcPts val="550"/>
              </a:spcAft>
              <a:defRPr sz="969">
                <a:solidFill>
                  <a:srgbClr val="202838"/>
                </a:solidFill>
                <a:latin typeface="Arial"/>
              </a:defRPr>
            </a:pPr>
            <a:r>
              <a:rPr sz="1400" dirty="0">
                <a:latin typeface="Tahoma" panose="020B0604030504040204" pitchFamily="34" charset="0"/>
              </a:rPr>
              <a:t>• </a:t>
            </a:r>
            <a:r>
              <a:rPr sz="1400" dirty="0" err="1">
                <a:latin typeface="Tahoma" panose="020B0604030504040204" pitchFamily="34" charset="0"/>
              </a:rPr>
              <a:t>Chính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sách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cần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điều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chỉnh</a:t>
            </a:r>
            <a:r>
              <a:rPr sz="1400" dirty="0">
                <a:latin typeface="Tahoma" panose="020B0604030504040204" pitchFamily="34" charset="0"/>
              </a:rPr>
              <a:t>.</a:t>
            </a:r>
          </a:p>
          <a:p>
            <a:pPr>
              <a:spcAft>
                <a:spcPts val="550"/>
              </a:spcAft>
              <a:defRPr sz="969">
                <a:solidFill>
                  <a:srgbClr val="202838"/>
                </a:solidFill>
                <a:latin typeface="Arial"/>
              </a:defRPr>
            </a:pPr>
            <a:r>
              <a:rPr sz="1400" dirty="0">
                <a:latin typeface="Tahoma" panose="020B0604030504040204" pitchFamily="34" charset="0"/>
              </a:rPr>
              <a:t>• </a:t>
            </a:r>
            <a:r>
              <a:rPr sz="1400" dirty="0" err="1">
                <a:latin typeface="Tahoma" panose="020B0604030504040204" pitchFamily="34" charset="0"/>
              </a:rPr>
              <a:t>Đề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xuất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hỗ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trợ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đơn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vị</a:t>
            </a:r>
            <a:r>
              <a:rPr sz="1400" dirty="0">
                <a:latin typeface="Tahoma" panose="020B0604030504040204" pitchFamily="34" charset="0"/>
              </a:rPr>
              <a:t>.</a:t>
            </a:r>
          </a:p>
          <a:p>
            <a:pPr>
              <a:spcAft>
                <a:spcPts val="550"/>
              </a:spcAft>
              <a:defRPr sz="969">
                <a:solidFill>
                  <a:srgbClr val="202838"/>
                </a:solidFill>
                <a:latin typeface="Arial"/>
              </a:defRPr>
            </a:pPr>
            <a:r>
              <a:rPr sz="1400" dirty="0">
                <a:latin typeface="Tahoma" panose="020B0604030504040204" pitchFamily="34" charset="0"/>
              </a:rPr>
              <a:t>• </a:t>
            </a:r>
            <a:r>
              <a:rPr sz="1400" dirty="0" err="1">
                <a:latin typeface="Tahoma" panose="020B0604030504040204" pitchFamily="34" charset="0"/>
              </a:rPr>
              <a:t>Kế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hoạch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tháng</a:t>
            </a:r>
            <a:r>
              <a:rPr sz="1400" dirty="0">
                <a:latin typeface="Tahoma" panose="020B0604030504040204" pitchFamily="34" charset="0"/>
              </a:rPr>
              <a:t>/</a:t>
            </a:r>
            <a:r>
              <a:rPr sz="1400" dirty="0" err="1">
                <a:latin typeface="Tahoma" panose="020B0604030504040204" pitchFamily="34" charset="0"/>
              </a:rPr>
              <a:t>quý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tiếp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theo.</a:t>
            </a:r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914400" y="5760720"/>
            <a:ext cx="10332720" cy="566928"/>
          </a:xfrm>
          <a:prstGeom prst="roundRect">
            <a:avLst/>
          </a:prstGeom>
          <a:solidFill>
            <a:srgbClr val="051F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Tahoma" panose="020B0604030504040204" pitchFamily="34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115568" y="5888736"/>
            <a:ext cx="9930384" cy="430887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rPr dirty="0">
                <a:latin typeface="Tahoma" panose="020B0604030504040204" pitchFamily="34" charset="0"/>
              </a:rPr>
              <a:t>Báo </a:t>
            </a:r>
            <a:r>
              <a:rPr dirty="0" err="1">
                <a:latin typeface="Tahoma" panose="020B0604030504040204" pitchFamily="34" charset="0"/>
              </a:rPr>
              <a:t>cáo</a:t>
            </a:r>
            <a:r>
              <a:rPr dirty="0">
                <a:latin typeface="Tahoma" panose="020B0604030504040204" pitchFamily="34" charset="0"/>
              </a:rPr>
              <a:t> </a:t>
            </a:r>
            <a:r>
              <a:rPr dirty="0" err="1">
                <a:latin typeface="Tahoma" panose="020B0604030504040204" pitchFamily="34" charset="0"/>
              </a:rPr>
              <a:t>Tổng</a:t>
            </a:r>
            <a:r>
              <a:rPr dirty="0">
                <a:latin typeface="Tahoma" panose="020B0604030504040204" pitchFamily="34" charset="0"/>
              </a:rPr>
              <a:t> Công ty </a:t>
            </a:r>
            <a:r>
              <a:rPr dirty="0" err="1">
                <a:latin typeface="Tahoma" panose="020B0604030504040204" pitchFamily="34" charset="0"/>
              </a:rPr>
              <a:t>nên</a:t>
            </a:r>
            <a:r>
              <a:rPr dirty="0">
                <a:latin typeface="Tahoma" panose="020B0604030504040204" pitchFamily="34" charset="0"/>
              </a:rPr>
              <a:t> </a:t>
            </a:r>
            <a:r>
              <a:rPr dirty="0" err="1">
                <a:latin typeface="Tahoma" panose="020B0604030504040204" pitchFamily="34" charset="0"/>
              </a:rPr>
              <a:t>ngắn</a:t>
            </a:r>
            <a:r>
              <a:rPr dirty="0">
                <a:latin typeface="Tahoma" panose="020B0604030504040204" pitchFamily="34" charset="0"/>
              </a:rPr>
              <a:t> </a:t>
            </a:r>
            <a:r>
              <a:rPr dirty="0" err="1">
                <a:latin typeface="Tahoma" panose="020B0604030504040204" pitchFamily="34" charset="0"/>
              </a:rPr>
              <a:t>gọn</a:t>
            </a:r>
            <a:r>
              <a:rPr dirty="0">
                <a:latin typeface="Tahoma" panose="020B0604030504040204" pitchFamily="34" charset="0"/>
              </a:rPr>
              <a:t> ở </a:t>
            </a:r>
            <a:r>
              <a:rPr dirty="0" err="1">
                <a:latin typeface="Tahoma" panose="020B0604030504040204" pitchFamily="34" charset="0"/>
              </a:rPr>
              <a:t>phần</a:t>
            </a:r>
            <a:r>
              <a:rPr dirty="0">
                <a:latin typeface="Tahoma" panose="020B0604030504040204" pitchFamily="34" charset="0"/>
              </a:rPr>
              <a:t> </a:t>
            </a:r>
            <a:r>
              <a:rPr dirty="0" err="1">
                <a:latin typeface="Tahoma" panose="020B0604030504040204" pitchFamily="34" charset="0"/>
              </a:rPr>
              <a:t>chính</a:t>
            </a:r>
            <a:r>
              <a:rPr dirty="0">
                <a:latin typeface="Tahoma" panose="020B0604030504040204" pitchFamily="34" charset="0"/>
              </a:rPr>
              <a:t>, </a:t>
            </a:r>
            <a:r>
              <a:rPr dirty="0" err="1">
                <a:latin typeface="Tahoma" panose="020B0604030504040204" pitchFamily="34" charset="0"/>
              </a:rPr>
              <a:t>dữ</a:t>
            </a:r>
            <a:r>
              <a:rPr dirty="0">
                <a:latin typeface="Tahoma" panose="020B0604030504040204" pitchFamily="34" charset="0"/>
              </a:rPr>
              <a:t> </a:t>
            </a:r>
            <a:r>
              <a:rPr dirty="0" err="1">
                <a:latin typeface="Tahoma" panose="020B0604030504040204" pitchFamily="34" charset="0"/>
              </a:rPr>
              <a:t>liệu</a:t>
            </a:r>
            <a:r>
              <a:rPr dirty="0">
                <a:latin typeface="Tahoma" panose="020B0604030504040204" pitchFamily="34" charset="0"/>
              </a:rPr>
              <a:t> chi </a:t>
            </a:r>
            <a:r>
              <a:rPr dirty="0" err="1">
                <a:latin typeface="Tahoma" panose="020B0604030504040204" pitchFamily="34" charset="0"/>
              </a:rPr>
              <a:t>tiết</a:t>
            </a:r>
            <a:r>
              <a:rPr dirty="0">
                <a:latin typeface="Tahoma" panose="020B0604030504040204" pitchFamily="34" charset="0"/>
              </a:rPr>
              <a:t> </a:t>
            </a:r>
            <a:r>
              <a:rPr dirty="0" err="1">
                <a:latin typeface="Tahoma" panose="020B0604030504040204" pitchFamily="34" charset="0"/>
              </a:rPr>
              <a:t>đặt</a:t>
            </a:r>
            <a:r>
              <a:rPr dirty="0">
                <a:latin typeface="Tahoma" panose="020B0604030504040204" pitchFamily="34" charset="0"/>
              </a:rPr>
              <a:t> ở dashboard/</a:t>
            </a:r>
            <a:r>
              <a:rPr dirty="0" err="1">
                <a:latin typeface="Tahoma" panose="020B0604030504040204" pitchFamily="34" charset="0"/>
              </a:rPr>
              <a:t>phụ</a:t>
            </a:r>
            <a:r>
              <a:rPr dirty="0">
                <a:latin typeface="Tahoma" panose="020B0604030504040204" pitchFamily="34" charset="0"/>
              </a:rPr>
              <a:t> </a:t>
            </a:r>
            <a:r>
              <a:rPr dirty="0" err="1">
                <a:latin typeface="Tahoma" panose="020B0604030504040204" pitchFamily="34" charset="0"/>
              </a:rPr>
              <a:t>lục</a:t>
            </a:r>
            <a:r>
              <a:rPr dirty="0">
                <a:latin typeface="Tahoma" panose="020B0604030504040204" pitchFamily="34" charset="0"/>
              </a:rPr>
              <a:t>; </a:t>
            </a:r>
            <a:r>
              <a:rPr dirty="0" err="1">
                <a:latin typeface="Tahoma" panose="020B0604030504040204" pitchFamily="34" charset="0"/>
              </a:rPr>
              <a:t>BLĐ</a:t>
            </a:r>
            <a:r>
              <a:rPr dirty="0">
                <a:latin typeface="Tahoma" panose="020B0604030504040204" pitchFamily="34" charset="0"/>
              </a:rPr>
              <a:t> </a:t>
            </a:r>
            <a:r>
              <a:rPr dirty="0" err="1">
                <a:latin typeface="Tahoma" panose="020B0604030504040204" pitchFamily="34" charset="0"/>
              </a:rPr>
              <a:t>tập</a:t>
            </a:r>
            <a:r>
              <a:rPr dirty="0">
                <a:latin typeface="Tahoma" panose="020B0604030504040204" pitchFamily="34" charset="0"/>
              </a:rPr>
              <a:t> </a:t>
            </a:r>
            <a:r>
              <a:rPr dirty="0" err="1">
                <a:latin typeface="Tahoma" panose="020B0604030504040204" pitchFamily="34" charset="0"/>
              </a:rPr>
              <a:t>trung</a:t>
            </a:r>
            <a:r>
              <a:rPr dirty="0">
                <a:latin typeface="Tahoma" panose="020B0604030504040204" pitchFamily="34" charset="0"/>
              </a:rPr>
              <a:t> </a:t>
            </a:r>
            <a:r>
              <a:rPr dirty="0" err="1">
                <a:latin typeface="Tahoma" panose="020B0604030504040204" pitchFamily="34" charset="0"/>
              </a:rPr>
              <a:t>vào</a:t>
            </a:r>
            <a:r>
              <a:rPr dirty="0">
                <a:latin typeface="Tahoma" panose="020B0604030504040204" pitchFamily="34" charset="0"/>
              </a:rPr>
              <a:t> xu </a:t>
            </a:r>
            <a:r>
              <a:rPr dirty="0" err="1">
                <a:latin typeface="Tahoma" panose="020B0604030504040204" pitchFamily="34" charset="0"/>
              </a:rPr>
              <a:t>hướng</a:t>
            </a:r>
            <a:r>
              <a:rPr dirty="0">
                <a:latin typeface="Tahoma" panose="020B0604030504040204" pitchFamily="34" charset="0"/>
              </a:rPr>
              <a:t>, </a:t>
            </a:r>
            <a:r>
              <a:rPr dirty="0" err="1">
                <a:latin typeface="Tahoma" panose="020B0604030504040204" pitchFamily="34" charset="0"/>
              </a:rPr>
              <a:t>rủi</a:t>
            </a:r>
            <a:r>
              <a:rPr dirty="0">
                <a:latin typeface="Tahoma" panose="020B0604030504040204" pitchFamily="34" charset="0"/>
              </a:rPr>
              <a:t> </a:t>
            </a:r>
            <a:r>
              <a:rPr dirty="0" err="1">
                <a:latin typeface="Tahoma" panose="020B0604030504040204" pitchFamily="34" charset="0"/>
              </a:rPr>
              <a:t>ro</a:t>
            </a:r>
            <a:r>
              <a:rPr dirty="0">
                <a:latin typeface="Tahoma" panose="020B0604030504040204" pitchFamily="34" charset="0"/>
              </a:rPr>
              <a:t> </a:t>
            </a:r>
            <a:r>
              <a:rPr dirty="0" err="1">
                <a:latin typeface="Tahoma" panose="020B0604030504040204" pitchFamily="34" charset="0"/>
              </a:rPr>
              <a:t>và</a:t>
            </a:r>
            <a:r>
              <a:rPr dirty="0">
                <a:latin typeface="Tahoma" panose="020B0604030504040204" pitchFamily="34" charset="0"/>
              </a:rPr>
              <a:t> </a:t>
            </a:r>
            <a:r>
              <a:rPr dirty="0" err="1">
                <a:latin typeface="Tahoma" panose="020B0604030504040204" pitchFamily="34" charset="0"/>
              </a:rPr>
              <a:t>nội</a:t>
            </a:r>
            <a:r>
              <a:rPr dirty="0">
                <a:latin typeface="Tahoma" panose="020B0604030504040204" pitchFamily="34" charset="0"/>
              </a:rPr>
              <a:t> dung </a:t>
            </a:r>
            <a:r>
              <a:rPr dirty="0" err="1">
                <a:latin typeface="Tahoma" panose="020B0604030504040204" pitchFamily="34" charset="0"/>
              </a:rPr>
              <a:t>cần</a:t>
            </a:r>
            <a:r>
              <a:rPr dirty="0">
                <a:latin typeface="Tahoma" panose="020B0604030504040204" pitchFamily="34" charset="0"/>
              </a:rPr>
              <a:t> </a:t>
            </a:r>
            <a:r>
              <a:rPr dirty="0" err="1">
                <a:latin typeface="Tahoma" panose="020B0604030504040204" pitchFamily="34" charset="0"/>
              </a:rPr>
              <a:t>quyết</a:t>
            </a:r>
            <a:r>
              <a:rPr dirty="0">
                <a:latin typeface="Tahoma" panose="020B0604030504040204" pitchFamily="34" charset="0"/>
              </a:rPr>
              <a:t> </a:t>
            </a:r>
            <a:r>
              <a:rPr dirty="0" err="1">
                <a:latin typeface="Tahoma" panose="020B0604030504040204" pitchFamily="34" charset="0"/>
              </a:rPr>
              <a:t>định</a:t>
            </a:r>
            <a:r>
              <a:rPr dirty="0">
                <a:latin typeface="Tahoma" panose="020B0604030504040204" pitchFamily="34" charset="0"/>
              </a:rPr>
              <a:t>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608" y="82296"/>
            <a:ext cx="960120" cy="548640"/>
          </a:xfrm>
          <a:prstGeom prst="rect">
            <a:avLst/>
          </a:prstGeom>
        </p:spPr>
      </p:pic>
      <p:pic>
        <p:nvPicPr>
          <p:cNvPr id="3" name="Picture 2" descr="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64008"/>
            <a:ext cx="646818" cy="585216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274320" y="749808"/>
            <a:ext cx="11649456" cy="22860"/>
          </a:xfrm>
          <a:prstGeom prst="rect">
            <a:avLst/>
          </a:prstGeom>
          <a:solidFill>
            <a:srgbClr val="051F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Tahoma" panose="020B0604030504040204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20040" y="6483096"/>
            <a:ext cx="2077813" cy="22313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051F71"/>
                </a:solidFill>
                <a:latin typeface="Arial"/>
              </a:defRPr>
            </a:pPr>
            <a:r>
              <a:rPr dirty="0">
                <a:latin typeface="Tahoma" panose="020B0604030504040204" pitchFamily="34" charset="0"/>
              </a:rPr>
              <a:t>CÔNG ĐOÀN GPG | GPG TRADE UNION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25105" y="6473952"/>
            <a:ext cx="947695" cy="21839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19">
                <a:solidFill>
                  <a:srgbClr val="677180"/>
                </a:solidFill>
                <a:latin typeface="Arial"/>
              </a:defRPr>
            </a:pPr>
            <a:r>
              <a:rPr dirty="0">
                <a:latin typeface="Tahoma" panose="020B0604030504040204" pitchFamily="34" charset="0"/>
              </a:rPr>
              <a:t>IV. DASHBOARD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93198" y="6455664"/>
            <a:ext cx="338554" cy="2385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051F71"/>
                </a:solidFill>
                <a:latin typeface="Arial"/>
              </a:defRPr>
            </a:pPr>
            <a:r>
              <a:rPr dirty="0">
                <a:latin typeface="Tahoma" panose="020B0604030504040204" pitchFamily="34" charset="0"/>
              </a:rPr>
              <a:t>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7373" y="106547"/>
            <a:ext cx="11873763" cy="50013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50" b="1">
                <a:solidFill>
                  <a:srgbClr val="051F71"/>
                </a:solidFill>
                <a:latin typeface="Arial Narrow"/>
              </a:defRPr>
            </a:pPr>
            <a:r>
              <a:rPr dirty="0">
                <a:latin typeface="Tahoma" panose="020B0604030504040204" pitchFamily="34" charset="0"/>
              </a:rPr>
              <a:t> DASHBOARD CÔNG ĐOÀN – </a:t>
            </a:r>
            <a:r>
              <a:rPr dirty="0" err="1">
                <a:latin typeface="Tahoma" panose="020B0604030504040204" pitchFamily="34" charset="0"/>
              </a:rPr>
              <a:t>MÀN</a:t>
            </a:r>
            <a:r>
              <a:rPr dirty="0">
                <a:latin typeface="Tahoma" panose="020B0604030504040204" pitchFamily="34" charset="0"/>
              </a:rPr>
              <a:t> </a:t>
            </a:r>
            <a:r>
              <a:rPr dirty="0" err="1">
                <a:latin typeface="Tahoma" panose="020B0604030504040204" pitchFamily="34" charset="0"/>
              </a:rPr>
              <a:t>HÌNH</a:t>
            </a:r>
            <a:r>
              <a:rPr dirty="0">
                <a:latin typeface="Tahoma" panose="020B0604030504040204" pitchFamily="34" charset="0"/>
              </a:rPr>
              <a:t> </a:t>
            </a:r>
            <a:r>
              <a:rPr dirty="0" err="1">
                <a:latin typeface="Tahoma" panose="020B0604030504040204" pitchFamily="34" charset="0"/>
              </a:rPr>
              <a:t>TỔNG</a:t>
            </a:r>
            <a:r>
              <a:rPr dirty="0">
                <a:latin typeface="Tahoma" panose="020B0604030504040204" pitchFamily="34" charset="0"/>
              </a:rPr>
              <a:t> QUAN BAN </a:t>
            </a:r>
            <a:r>
              <a:rPr dirty="0" err="1">
                <a:latin typeface="Tahoma" panose="020B0604030504040204" pitchFamily="34" charset="0"/>
              </a:rPr>
              <a:t>LÃNH</a:t>
            </a:r>
            <a:r>
              <a:rPr dirty="0">
                <a:latin typeface="Tahoma" panose="020B0604030504040204" pitchFamily="34" charset="0"/>
              </a:rPr>
              <a:t> </a:t>
            </a:r>
            <a:r>
              <a:rPr dirty="0" err="1">
                <a:latin typeface="Tahoma" panose="020B0604030504040204" pitchFamily="34" charset="0"/>
              </a:rPr>
              <a:t>ĐẠO</a:t>
            </a:r>
            <a:endParaRPr dirty="0">
              <a:latin typeface="Tahoma" panose="020B0604030504040204" pitchFamily="34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07492" y="962404"/>
            <a:ext cx="5139548" cy="2646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20">
                <a:solidFill>
                  <a:srgbClr val="677180"/>
                </a:solidFill>
                <a:latin typeface="Arial"/>
              </a:defRPr>
            </a:pPr>
            <a:r>
              <a:rPr dirty="0">
                <a:latin typeface="Tahoma" panose="020B0604030504040204" pitchFamily="34" charset="0"/>
              </a:rPr>
              <a:t>Mockup </a:t>
            </a:r>
            <a:r>
              <a:rPr dirty="0" err="1">
                <a:latin typeface="Tahoma" panose="020B0604030504040204" pitchFamily="34" charset="0"/>
              </a:rPr>
              <a:t>đề</a:t>
            </a:r>
            <a:r>
              <a:rPr dirty="0">
                <a:latin typeface="Tahoma" panose="020B0604030504040204" pitchFamily="34" charset="0"/>
              </a:rPr>
              <a:t> </a:t>
            </a:r>
            <a:r>
              <a:rPr dirty="0" err="1">
                <a:latin typeface="Tahoma" panose="020B0604030504040204" pitchFamily="34" charset="0"/>
              </a:rPr>
              <a:t>xuất</a:t>
            </a:r>
            <a:r>
              <a:rPr dirty="0">
                <a:latin typeface="Tahoma" panose="020B0604030504040204" pitchFamily="34" charset="0"/>
              </a:rPr>
              <a:t>: </a:t>
            </a:r>
            <a:r>
              <a:rPr dirty="0" err="1">
                <a:latin typeface="Tahoma" panose="020B0604030504040204" pitchFamily="34" charset="0"/>
              </a:rPr>
              <a:t>xem</a:t>
            </a:r>
            <a:r>
              <a:rPr dirty="0">
                <a:latin typeface="Tahoma" panose="020B0604030504040204" pitchFamily="34" charset="0"/>
              </a:rPr>
              <a:t> </a:t>
            </a:r>
            <a:r>
              <a:rPr dirty="0" err="1">
                <a:latin typeface="Tahoma" panose="020B0604030504040204" pitchFamily="34" charset="0"/>
              </a:rPr>
              <a:t>nhanh</a:t>
            </a:r>
            <a:r>
              <a:rPr dirty="0">
                <a:latin typeface="Tahoma" panose="020B0604030504040204" pitchFamily="34" charset="0"/>
              </a:rPr>
              <a:t> </a:t>
            </a:r>
            <a:r>
              <a:rPr dirty="0" err="1">
                <a:latin typeface="Tahoma" panose="020B0604030504040204" pitchFamily="34" charset="0"/>
              </a:rPr>
              <a:t>trạng</a:t>
            </a:r>
            <a:r>
              <a:rPr dirty="0">
                <a:latin typeface="Tahoma" panose="020B0604030504040204" pitchFamily="34" charset="0"/>
              </a:rPr>
              <a:t> </a:t>
            </a:r>
            <a:r>
              <a:rPr dirty="0" err="1">
                <a:latin typeface="Tahoma" panose="020B0604030504040204" pitchFamily="34" charset="0"/>
              </a:rPr>
              <a:t>thái</a:t>
            </a:r>
            <a:r>
              <a:rPr dirty="0">
                <a:latin typeface="Tahoma" panose="020B0604030504040204" pitchFamily="34" charset="0"/>
              </a:rPr>
              <a:t> </a:t>
            </a:r>
            <a:r>
              <a:rPr dirty="0" err="1">
                <a:latin typeface="Tahoma" panose="020B0604030504040204" pitchFamily="34" charset="0"/>
              </a:rPr>
              <a:t>toàn</a:t>
            </a:r>
            <a:r>
              <a:rPr dirty="0">
                <a:latin typeface="Tahoma" panose="020B0604030504040204" pitchFamily="34" charset="0"/>
              </a:rPr>
              <a:t> </a:t>
            </a:r>
            <a:r>
              <a:rPr dirty="0" err="1">
                <a:latin typeface="Tahoma" panose="020B0604030504040204" pitchFamily="34" charset="0"/>
              </a:rPr>
              <a:t>Hệ</a:t>
            </a:r>
            <a:r>
              <a:rPr dirty="0">
                <a:latin typeface="Tahoma" panose="020B0604030504040204" pitchFamily="34" charset="0"/>
              </a:rPr>
              <a:t> </a:t>
            </a:r>
            <a:r>
              <a:rPr dirty="0" err="1">
                <a:latin typeface="Tahoma" panose="020B0604030504040204" pitchFamily="34" charset="0"/>
              </a:rPr>
              <a:t>sinh</a:t>
            </a:r>
            <a:r>
              <a:rPr dirty="0">
                <a:latin typeface="Tahoma" panose="020B0604030504040204" pitchFamily="34" charset="0"/>
              </a:rPr>
              <a:t> </a:t>
            </a:r>
            <a:r>
              <a:rPr dirty="0" err="1">
                <a:latin typeface="Tahoma" panose="020B0604030504040204" pitchFamily="34" charset="0"/>
              </a:rPr>
              <a:t>thái</a:t>
            </a:r>
            <a:r>
              <a:rPr dirty="0">
                <a:latin typeface="Tahoma" panose="020B0604030504040204" pitchFamily="34" charset="0"/>
              </a:rPr>
              <a:t> </a:t>
            </a:r>
            <a:r>
              <a:rPr dirty="0" err="1">
                <a:latin typeface="Tahoma" panose="020B0604030504040204" pitchFamily="34" charset="0"/>
              </a:rPr>
              <a:t>trong</a:t>
            </a:r>
            <a:r>
              <a:rPr dirty="0">
                <a:latin typeface="Tahoma" panose="020B0604030504040204" pitchFamily="34" charset="0"/>
              </a:rPr>
              <a:t> </a:t>
            </a:r>
            <a:r>
              <a:rPr dirty="0" err="1">
                <a:latin typeface="Tahoma" panose="020B0604030504040204" pitchFamily="34" charset="0"/>
              </a:rPr>
              <a:t>một</a:t>
            </a:r>
            <a:r>
              <a:rPr dirty="0">
                <a:latin typeface="Tahoma" panose="020B0604030504040204" pitchFamily="34" charset="0"/>
              </a:rPr>
              <a:t> </a:t>
            </a:r>
            <a:r>
              <a:rPr dirty="0" err="1">
                <a:latin typeface="Tahoma" panose="020B0604030504040204" pitchFamily="34" charset="0"/>
              </a:rPr>
              <a:t>màn</a:t>
            </a:r>
            <a:r>
              <a:rPr dirty="0">
                <a:latin typeface="Tahoma" panose="020B0604030504040204" pitchFamily="34" charset="0"/>
              </a:rPr>
              <a:t> </a:t>
            </a:r>
            <a:r>
              <a:rPr dirty="0" err="1">
                <a:latin typeface="Tahoma" panose="020B0604030504040204" pitchFamily="34" charset="0"/>
              </a:rPr>
              <a:t>hình</a:t>
            </a:r>
            <a:r>
              <a:rPr dirty="0">
                <a:latin typeface="Tahoma" panose="020B0604030504040204" pitchFamily="34" charset="0"/>
              </a:rPr>
              <a:t>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7492" y="1062989"/>
            <a:ext cx="1106424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9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Tahoma" panose="020B0604030504040204" pitchFamily="34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507492" y="1062989"/>
            <a:ext cx="11064240" cy="475488"/>
          </a:xfrm>
          <a:prstGeom prst="rect">
            <a:avLst/>
          </a:prstGeom>
          <a:solidFill>
            <a:srgbClr val="051F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Tahoma" panose="020B0604030504040204" pitchFamily="3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36092" y="1181861"/>
            <a:ext cx="10607040" cy="25391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050" b="1">
                <a:solidFill>
                  <a:srgbClr val="FFFFFF"/>
                </a:solidFill>
                <a:latin typeface="Arial"/>
              </a:defRPr>
            </a:pPr>
            <a:r>
              <a:rPr dirty="0">
                <a:latin typeface="Tahoma" panose="020B0604030504040204" pitchFamily="34" charset="0"/>
              </a:rPr>
              <a:t>GPG UNION DASHBOARD | Executive Overview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7492" y="1538476"/>
            <a:ext cx="1874519" cy="4050791"/>
          </a:xfrm>
          <a:prstGeom prst="rect">
            <a:avLst/>
          </a:prstGeom>
          <a:solidFill>
            <a:srgbClr val="F7F9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72084" y="1776221"/>
            <a:ext cx="1508760" cy="307777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869" b="1">
                <a:solidFill>
                  <a:srgbClr val="051F71"/>
                </a:solidFill>
                <a:latin typeface="Arial"/>
              </a:defRPr>
            </a:pPr>
            <a:r>
              <a:rPr sz="1400" dirty="0" err="1">
                <a:latin typeface="Tahoma" panose="020B0604030504040204" pitchFamily="34" charset="0"/>
              </a:rPr>
              <a:t>Tổng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quan</a:t>
            </a:r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72084" y="2233421"/>
            <a:ext cx="1508760" cy="307777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869" b="0">
                <a:solidFill>
                  <a:srgbClr val="677180"/>
                </a:solidFill>
                <a:latin typeface="Arial"/>
              </a:defRPr>
            </a:pPr>
            <a:r>
              <a:rPr sz="1400" dirty="0">
                <a:latin typeface="Tahoma" panose="020B0604030504040204" pitchFamily="34" charset="0"/>
              </a:rPr>
              <a:t>Đoàn </a:t>
            </a:r>
            <a:r>
              <a:rPr sz="1400" dirty="0" err="1">
                <a:latin typeface="Tahoma" panose="020B0604030504040204" pitchFamily="34" charset="0"/>
              </a:rPr>
              <a:t>viên</a:t>
            </a:r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72084" y="2690621"/>
            <a:ext cx="1508760" cy="307777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869" b="0">
                <a:solidFill>
                  <a:srgbClr val="677180"/>
                </a:solidFill>
                <a:latin typeface="Arial"/>
              </a:defRPr>
            </a:pPr>
            <a:r>
              <a:rPr sz="1400" dirty="0" err="1">
                <a:latin typeface="Tahoma" panose="020B0604030504040204" pitchFamily="34" charset="0"/>
              </a:rPr>
              <a:t>Chăm</a:t>
            </a:r>
            <a:r>
              <a:rPr sz="1400" dirty="0">
                <a:latin typeface="Tahoma" panose="020B0604030504040204" pitchFamily="34" charset="0"/>
              </a:rPr>
              <a:t> lo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2084" y="3147821"/>
            <a:ext cx="1508760" cy="307777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869" b="0">
                <a:solidFill>
                  <a:srgbClr val="677180"/>
                </a:solidFill>
                <a:latin typeface="Arial"/>
              </a:defRPr>
            </a:pPr>
            <a:r>
              <a:rPr sz="1400" dirty="0" err="1">
                <a:latin typeface="Tahoma" panose="020B0604030504040204" pitchFamily="34" charset="0"/>
              </a:rPr>
              <a:t>Kiến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nghị</a:t>
            </a:r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72084" y="3605021"/>
            <a:ext cx="1508760" cy="307777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869" b="0">
                <a:solidFill>
                  <a:srgbClr val="677180"/>
                </a:solidFill>
                <a:latin typeface="Arial"/>
              </a:defRPr>
            </a:pPr>
            <a:r>
              <a:rPr sz="1400" dirty="0" err="1">
                <a:latin typeface="Tahoma" panose="020B0604030504040204" pitchFamily="34" charset="0"/>
              </a:rPr>
              <a:t>Hoạt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động</a:t>
            </a:r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72084" y="4062221"/>
            <a:ext cx="1508760" cy="307777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869" b="0">
                <a:solidFill>
                  <a:srgbClr val="677180"/>
                </a:solidFill>
                <a:latin typeface="Arial"/>
              </a:defRPr>
            </a:pPr>
            <a:r>
              <a:rPr sz="1400" dirty="0">
                <a:latin typeface="Tahoma" panose="020B0604030504040204" pitchFamily="34" charset="0"/>
              </a:rPr>
              <a:t>Tài </a:t>
            </a:r>
            <a:r>
              <a:rPr sz="1400" dirty="0" err="1">
                <a:latin typeface="Tahoma" panose="020B0604030504040204" pitchFamily="34" charset="0"/>
              </a:rPr>
              <a:t>chính</a:t>
            </a:r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72084" y="4519421"/>
            <a:ext cx="1508760" cy="307777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869" b="0">
                <a:solidFill>
                  <a:srgbClr val="677180"/>
                </a:solidFill>
                <a:latin typeface="Arial"/>
              </a:defRPr>
            </a:pPr>
            <a:r>
              <a:rPr sz="1400" dirty="0">
                <a:latin typeface="Tahoma" panose="020B0604030504040204" pitchFamily="34" charset="0"/>
              </a:rPr>
              <a:t>Báo </a:t>
            </a:r>
            <a:r>
              <a:rPr sz="1400" dirty="0" err="1">
                <a:latin typeface="Tahoma" panose="020B0604030504040204" pitchFamily="34" charset="0"/>
              </a:rPr>
              <a:t>cáo</a:t>
            </a:r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2656331" y="1794509"/>
            <a:ext cx="1783080" cy="822960"/>
          </a:xfrm>
          <a:prstGeom prst="roundRect">
            <a:avLst/>
          </a:prstGeom>
          <a:solidFill>
            <a:srgbClr val="F7F9FD"/>
          </a:solidFill>
          <a:ln>
            <a:solidFill>
              <a:srgbClr val="D9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2729484" y="1904236"/>
            <a:ext cx="1636776" cy="307777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defRPr sz="2000" b="1">
                <a:solidFill>
                  <a:srgbClr val="051F71"/>
                </a:solidFill>
                <a:latin typeface="Arial Narrow"/>
              </a:defRPr>
            </a:pPr>
            <a:r>
              <a:rPr sz="1400" dirty="0">
                <a:latin typeface="Tahoma" panose="020B0604030504040204" pitchFamily="34" charset="0"/>
              </a:rPr>
              <a:t>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29484" y="2233420"/>
            <a:ext cx="1636776" cy="5232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defRPr sz="760" b="1">
                <a:solidFill>
                  <a:srgbClr val="677180"/>
                </a:solidFill>
                <a:latin typeface="Arial"/>
              </a:defRPr>
            </a:pPr>
            <a:r>
              <a:rPr sz="1400" dirty="0" err="1">
                <a:latin typeface="Tahoma" panose="020B0604030504040204" pitchFamily="34" charset="0"/>
              </a:rPr>
              <a:t>CĐCS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đang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theo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dõi</a:t>
            </a:r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4668012" y="1794509"/>
            <a:ext cx="1783080" cy="822960"/>
          </a:xfrm>
          <a:prstGeom prst="roundRect">
            <a:avLst/>
          </a:prstGeom>
          <a:solidFill>
            <a:srgbClr val="F7F9FD"/>
          </a:solidFill>
          <a:ln>
            <a:solidFill>
              <a:srgbClr val="D9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4741164" y="1904236"/>
            <a:ext cx="1636776" cy="307777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defRPr sz="2000" b="1">
                <a:solidFill>
                  <a:srgbClr val="118F91"/>
                </a:solidFill>
                <a:latin typeface="Arial Narrow"/>
              </a:defRPr>
            </a:pPr>
            <a:r>
              <a:rPr sz="1400" dirty="0">
                <a:latin typeface="Tahoma" panose="020B0604030504040204" pitchFamily="34" charset="0"/>
              </a:rPr>
              <a:t>26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41164" y="2233420"/>
            <a:ext cx="1636776" cy="307777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defRPr sz="760" b="1">
                <a:solidFill>
                  <a:srgbClr val="677180"/>
                </a:solidFill>
                <a:latin typeface="Arial"/>
              </a:defRPr>
            </a:pPr>
            <a:r>
              <a:rPr sz="1400" dirty="0" err="1">
                <a:latin typeface="Tahoma" panose="020B0604030504040204" pitchFamily="34" charset="0"/>
              </a:rPr>
              <a:t>Nhân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sự</a:t>
            </a:r>
            <a:r>
              <a:rPr sz="1400" dirty="0">
                <a:latin typeface="Tahoma" panose="020B0604030504040204" pitchFamily="34" charset="0"/>
              </a:rPr>
              <a:t> BCH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679692" y="1794509"/>
            <a:ext cx="1783080" cy="822960"/>
          </a:xfrm>
          <a:prstGeom prst="roundRect">
            <a:avLst/>
          </a:prstGeom>
          <a:solidFill>
            <a:srgbClr val="F7F9FD"/>
          </a:solidFill>
          <a:ln>
            <a:solidFill>
              <a:srgbClr val="D9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6752844" y="1904236"/>
            <a:ext cx="1636776" cy="307777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defRPr sz="2000" b="1">
                <a:solidFill>
                  <a:srgbClr val="2A975D"/>
                </a:solidFill>
                <a:latin typeface="Arial Narrow"/>
              </a:defRPr>
            </a:pPr>
            <a:r>
              <a:rPr sz="1400" dirty="0">
                <a:latin typeface="Tahoma" panose="020B0604030504040204" pitchFamily="34" charset="0"/>
              </a:rPr>
              <a:t>95%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52844" y="2233420"/>
            <a:ext cx="1636776" cy="307777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defRPr sz="760" b="1">
                <a:solidFill>
                  <a:srgbClr val="677180"/>
                </a:solidFill>
                <a:latin typeface="Arial"/>
              </a:defRPr>
            </a:pPr>
            <a:r>
              <a:rPr sz="1400" dirty="0" err="1">
                <a:latin typeface="Tahoma" panose="020B0604030504040204" pitchFamily="34" charset="0"/>
              </a:rPr>
              <a:t>Chăm</a:t>
            </a:r>
            <a:r>
              <a:rPr sz="1400" dirty="0">
                <a:latin typeface="Tahoma" panose="020B0604030504040204" pitchFamily="34" charset="0"/>
              </a:rPr>
              <a:t> lo </a:t>
            </a:r>
            <a:r>
              <a:rPr sz="1400" dirty="0" err="1">
                <a:latin typeface="Tahoma" panose="020B0604030504040204" pitchFamily="34" charset="0"/>
              </a:rPr>
              <a:t>đúng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hạn</a:t>
            </a:r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8691372" y="1794509"/>
            <a:ext cx="1783080" cy="822960"/>
          </a:xfrm>
          <a:prstGeom prst="roundRect">
            <a:avLst/>
          </a:prstGeom>
          <a:solidFill>
            <a:srgbClr val="F7F9FD"/>
          </a:solidFill>
          <a:ln>
            <a:solidFill>
              <a:srgbClr val="D9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8764524" y="1904236"/>
            <a:ext cx="1636776" cy="307777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defRPr sz="2000" b="1">
                <a:solidFill>
                  <a:srgbClr val="E87823"/>
                </a:solidFill>
                <a:latin typeface="Arial Narrow"/>
              </a:defRPr>
            </a:pPr>
            <a:r>
              <a:rPr sz="1400" dirty="0">
                <a:latin typeface="Tahoma" panose="020B0604030504040204" pitchFamily="34" charset="0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764524" y="2233420"/>
            <a:ext cx="1636776" cy="307777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defRPr sz="760" b="1">
                <a:solidFill>
                  <a:srgbClr val="677180"/>
                </a:solidFill>
                <a:latin typeface="Arial"/>
              </a:defRPr>
            </a:pPr>
            <a:r>
              <a:rPr sz="1400" dirty="0" err="1">
                <a:latin typeface="Tahoma" panose="020B0604030504040204" pitchFamily="34" charset="0"/>
              </a:rPr>
              <a:t>Vụ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việc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đang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mở</a:t>
            </a:r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33" name="Rounded Rectangle 32"/>
          <p:cNvSpPr/>
          <p:nvPr/>
        </p:nvSpPr>
        <p:spPr>
          <a:xfrm>
            <a:off x="2656331" y="2864357"/>
            <a:ext cx="324612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D9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2857500" y="2992373"/>
            <a:ext cx="2880359" cy="307777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080" b="1">
                <a:solidFill>
                  <a:srgbClr val="051F71"/>
                </a:solidFill>
                <a:latin typeface="Arial"/>
              </a:defRPr>
            </a:pPr>
            <a:r>
              <a:rPr sz="1400" dirty="0" err="1">
                <a:latin typeface="Tahoma" panose="020B0604030504040204" pitchFamily="34" charset="0"/>
              </a:rPr>
              <a:t>CHĂM</a:t>
            </a:r>
            <a:r>
              <a:rPr sz="1400" dirty="0">
                <a:latin typeface="Tahoma" panose="020B0604030504040204" pitchFamily="34" charset="0"/>
              </a:rPr>
              <a:t> LO THEO </a:t>
            </a:r>
            <a:r>
              <a:rPr sz="1400" dirty="0" err="1">
                <a:latin typeface="Tahoma" panose="020B0604030504040204" pitchFamily="34" charset="0"/>
              </a:rPr>
              <a:t>NHÓM</a:t>
            </a:r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2875787" y="3449572"/>
            <a:ext cx="2807208" cy="104689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ts val="1900"/>
              </a:lnSpc>
              <a:spcBef>
                <a:spcPts val="600"/>
              </a:spcBef>
              <a:defRPr sz="1050" b="0">
                <a:solidFill>
                  <a:srgbClr val="202838"/>
                </a:solidFill>
                <a:latin typeface="Arial"/>
              </a:defRPr>
            </a:pPr>
            <a:r>
              <a:rPr sz="1400" dirty="0">
                <a:latin typeface="Tahoma" panose="020B0604030504040204" pitchFamily="34" charset="0"/>
              </a:rPr>
              <a:t>Sinh </a:t>
            </a:r>
            <a:r>
              <a:rPr sz="1400" dirty="0" err="1">
                <a:latin typeface="Tahoma" panose="020B0604030504040204" pitchFamily="34" charset="0"/>
              </a:rPr>
              <a:t>nhật</a:t>
            </a:r>
            <a:r>
              <a:rPr sz="1400" dirty="0">
                <a:latin typeface="Tahoma" panose="020B0604030504040204" pitchFamily="34" charset="0"/>
              </a:rPr>
              <a:t> 42</a:t>
            </a:r>
            <a:br>
              <a:rPr sz="1400" dirty="0">
                <a:latin typeface="Tahoma" panose="020B0604030504040204" pitchFamily="34" charset="0"/>
              </a:rPr>
            </a:br>
            <a:r>
              <a:rPr sz="1400" dirty="0" err="1">
                <a:latin typeface="Tahoma" panose="020B0604030504040204" pitchFamily="34" charset="0"/>
              </a:rPr>
              <a:t>Hiếu</a:t>
            </a:r>
            <a:r>
              <a:rPr sz="1400" dirty="0">
                <a:latin typeface="Tahoma" panose="020B0604030504040204" pitchFamily="34" charset="0"/>
              </a:rPr>
              <a:t>/</a:t>
            </a:r>
            <a:r>
              <a:rPr sz="1400" dirty="0" err="1">
                <a:latin typeface="Tahoma" panose="020B0604030504040204" pitchFamily="34" charset="0"/>
              </a:rPr>
              <a:t>hỷ</a:t>
            </a:r>
            <a:r>
              <a:rPr sz="1400" dirty="0">
                <a:latin typeface="Tahoma" panose="020B0604030504040204" pitchFamily="34" charset="0"/>
              </a:rPr>
              <a:t> 9</a:t>
            </a:r>
            <a:br>
              <a:rPr sz="1400" dirty="0">
                <a:latin typeface="Tahoma" panose="020B0604030504040204" pitchFamily="34" charset="0"/>
              </a:rPr>
            </a:br>
            <a:r>
              <a:rPr sz="1400" dirty="0" err="1">
                <a:latin typeface="Tahoma" panose="020B0604030504040204" pitchFamily="34" charset="0"/>
              </a:rPr>
              <a:t>Thăm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hỏi</a:t>
            </a:r>
            <a:r>
              <a:rPr sz="1400" dirty="0">
                <a:latin typeface="Tahoma" panose="020B0604030504040204" pitchFamily="34" charset="0"/>
              </a:rPr>
              <a:t> 7</a:t>
            </a:r>
            <a:br>
              <a:rPr sz="1400" dirty="0">
                <a:latin typeface="Tahoma" panose="020B0604030504040204" pitchFamily="34" charset="0"/>
              </a:rPr>
            </a:br>
            <a:r>
              <a:rPr sz="1400" dirty="0">
                <a:latin typeface="Tahoma" panose="020B0604030504040204" pitchFamily="34" charset="0"/>
              </a:rPr>
              <a:t>Sinh con 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22492" y="3321557"/>
            <a:ext cx="1051560" cy="307777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800" b="0">
                <a:solidFill>
                  <a:srgbClr val="677180"/>
                </a:solidFill>
                <a:latin typeface="Arial"/>
              </a:defRPr>
            </a:pPr>
            <a:r>
              <a:rPr sz="1400" dirty="0" err="1">
                <a:latin typeface="Tahoma" panose="020B0604030504040204" pitchFamily="34" charset="0"/>
              </a:rPr>
              <a:t>Chính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sách</a:t>
            </a:r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7274052" y="3339844"/>
            <a:ext cx="2011680" cy="128016"/>
          </a:xfrm>
          <a:prstGeom prst="rect">
            <a:avLst/>
          </a:prstGeom>
          <a:solidFill>
            <a:srgbClr val="D9E0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7274052" y="3339844"/>
            <a:ext cx="1730044" cy="128016"/>
          </a:xfrm>
          <a:prstGeom prst="rect">
            <a:avLst/>
          </a:prstGeom>
          <a:solidFill>
            <a:srgbClr val="051F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6222492" y="3760469"/>
            <a:ext cx="1051560" cy="307777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800" b="0">
                <a:solidFill>
                  <a:srgbClr val="677180"/>
                </a:solidFill>
                <a:latin typeface="Arial"/>
              </a:defRPr>
            </a:pPr>
            <a:r>
              <a:rPr sz="1400" dirty="0" err="1">
                <a:latin typeface="Tahoma" panose="020B0604030504040204" pitchFamily="34" charset="0"/>
              </a:rPr>
              <a:t>Kết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nối</a:t>
            </a:r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7274052" y="3778757"/>
            <a:ext cx="2011680" cy="128016"/>
          </a:xfrm>
          <a:prstGeom prst="rect">
            <a:avLst/>
          </a:prstGeom>
          <a:solidFill>
            <a:srgbClr val="D9E0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7274052" y="3778757"/>
            <a:ext cx="1448409" cy="128016"/>
          </a:xfrm>
          <a:prstGeom prst="rect">
            <a:avLst/>
          </a:prstGeom>
          <a:solidFill>
            <a:srgbClr val="118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6222492" y="4199381"/>
            <a:ext cx="1051560" cy="307777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800" b="0">
                <a:solidFill>
                  <a:srgbClr val="677180"/>
                </a:solidFill>
                <a:latin typeface="Arial"/>
              </a:defRPr>
            </a:pPr>
            <a:r>
              <a:rPr sz="1400" dirty="0" err="1">
                <a:latin typeface="Tahoma" panose="020B0604030504040204" pitchFamily="34" charset="0"/>
              </a:rPr>
              <a:t>Lắng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nghe</a:t>
            </a:r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43" name="Rectangle 42"/>
          <p:cNvSpPr/>
          <p:nvPr/>
        </p:nvSpPr>
        <p:spPr>
          <a:xfrm>
            <a:off x="7274052" y="4217668"/>
            <a:ext cx="2011680" cy="128016"/>
          </a:xfrm>
          <a:prstGeom prst="rect">
            <a:avLst/>
          </a:prstGeom>
          <a:solidFill>
            <a:srgbClr val="D9E0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44" name="Rectangle 43"/>
          <p:cNvSpPr/>
          <p:nvPr/>
        </p:nvSpPr>
        <p:spPr>
          <a:xfrm>
            <a:off x="7274052" y="4217668"/>
            <a:ext cx="1166774" cy="128016"/>
          </a:xfrm>
          <a:prstGeom prst="rect">
            <a:avLst/>
          </a:prstGeom>
          <a:solidFill>
            <a:srgbClr val="E87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6222492" y="2937509"/>
            <a:ext cx="3154680" cy="307777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050" b="1">
                <a:solidFill>
                  <a:srgbClr val="051F71"/>
                </a:solidFill>
                <a:latin typeface="Arial"/>
              </a:defRPr>
            </a:pPr>
            <a:r>
              <a:rPr sz="1400" dirty="0" err="1">
                <a:latin typeface="Tahoma" panose="020B0604030504040204" pitchFamily="34" charset="0"/>
              </a:rPr>
              <a:t>MỨC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ĐỘ</a:t>
            </a:r>
            <a:r>
              <a:rPr sz="1400" dirty="0">
                <a:latin typeface="Tahoma" panose="020B0604030504040204" pitchFamily="34" charset="0"/>
              </a:rPr>
              <a:t> HOÀN THÀNH KPI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651492" y="2864357"/>
            <a:ext cx="169164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D9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9852660" y="2992373"/>
            <a:ext cx="1325879" cy="307777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080" b="1">
                <a:solidFill>
                  <a:srgbClr val="E87823"/>
                </a:solidFill>
                <a:latin typeface="Arial"/>
              </a:defRPr>
            </a:pPr>
            <a:r>
              <a:rPr sz="1400" dirty="0" err="1">
                <a:latin typeface="Tahoma" panose="020B0604030504040204" pitchFamily="34" charset="0"/>
              </a:rPr>
              <a:t>CẢNH</a:t>
            </a:r>
            <a:r>
              <a:rPr sz="1400" dirty="0">
                <a:latin typeface="Tahoma" panose="020B0604030504040204" pitchFamily="34" charset="0"/>
              </a:rPr>
              <a:t> BÁO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870948" y="3449572"/>
            <a:ext cx="1510588" cy="1169551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880" b="0">
                <a:solidFill>
                  <a:srgbClr val="202838"/>
                </a:solidFill>
                <a:latin typeface="Arial"/>
              </a:defRPr>
            </a:pPr>
            <a:r>
              <a:rPr sz="1400" dirty="0">
                <a:latin typeface="Tahoma" panose="020B0604030504040204" pitchFamily="34" charset="0"/>
              </a:rPr>
              <a:t>2 </a:t>
            </a:r>
            <a:r>
              <a:rPr sz="1400" dirty="0" err="1">
                <a:latin typeface="Tahoma" panose="020B0604030504040204" pitchFamily="34" charset="0"/>
              </a:rPr>
              <a:t>đơn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vị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báo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cáo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chậm</a:t>
            </a:r>
            <a:br>
              <a:rPr sz="1400" dirty="0">
                <a:latin typeface="Tahoma" panose="020B0604030504040204" pitchFamily="34" charset="0"/>
              </a:rPr>
            </a:br>
            <a:r>
              <a:rPr sz="1400" dirty="0">
                <a:latin typeface="Tahoma" panose="020B0604030504040204" pitchFamily="34" charset="0"/>
              </a:rPr>
              <a:t>1 </a:t>
            </a:r>
            <a:r>
              <a:rPr sz="1400" dirty="0" err="1">
                <a:latin typeface="Tahoma" panose="020B0604030504040204" pitchFamily="34" charset="0"/>
              </a:rPr>
              <a:t>vụ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việc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sắp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quá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hạn</a:t>
            </a:r>
            <a:br>
              <a:rPr sz="1400" dirty="0">
                <a:latin typeface="Tahoma" panose="020B0604030504040204" pitchFamily="34" charset="0"/>
              </a:rPr>
            </a:br>
            <a:r>
              <a:rPr sz="1400" dirty="0">
                <a:latin typeface="Tahoma" panose="020B0604030504040204" pitchFamily="34" charset="0"/>
              </a:rPr>
              <a:t>1 </a:t>
            </a:r>
            <a:r>
              <a:rPr sz="1400" dirty="0" err="1">
                <a:latin typeface="Tahoma" panose="020B0604030504040204" pitchFamily="34" charset="0"/>
              </a:rPr>
              <a:t>chứng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từ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thiếu</a:t>
            </a:r>
            <a:endParaRPr sz="1400" dirty="0">
              <a:latin typeface="Tahoma" panose="020B0604030504040204" pitchFamily="34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608" y="82296"/>
            <a:ext cx="960120" cy="548640"/>
          </a:xfrm>
          <a:prstGeom prst="rect">
            <a:avLst/>
          </a:prstGeom>
        </p:spPr>
      </p:pic>
      <p:pic>
        <p:nvPicPr>
          <p:cNvPr id="3" name="Picture 2" descr="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64008"/>
            <a:ext cx="646818" cy="585216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274320" y="749808"/>
            <a:ext cx="11649456" cy="22860"/>
          </a:xfrm>
          <a:prstGeom prst="rect">
            <a:avLst/>
          </a:prstGeom>
          <a:solidFill>
            <a:srgbClr val="051F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Tahoma" panose="020B0604030504040204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20040" y="6483096"/>
            <a:ext cx="2077813" cy="22313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051F71"/>
                </a:solidFill>
                <a:latin typeface="Arial"/>
              </a:defRPr>
            </a:pPr>
            <a:r>
              <a:rPr dirty="0">
                <a:latin typeface="Tahoma" panose="020B0604030504040204" pitchFamily="34" charset="0"/>
              </a:rPr>
              <a:t>CÔNG ĐOÀN GPG | GPG TRADE UNION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25105" y="6473952"/>
            <a:ext cx="947695" cy="21839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19">
                <a:solidFill>
                  <a:srgbClr val="677180"/>
                </a:solidFill>
                <a:latin typeface="Arial"/>
              </a:defRPr>
            </a:pPr>
            <a:r>
              <a:rPr dirty="0">
                <a:latin typeface="Tahoma" panose="020B0604030504040204" pitchFamily="34" charset="0"/>
              </a:rPr>
              <a:t>IV. DASHBOARD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93198" y="6455664"/>
            <a:ext cx="338554" cy="2385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051F71"/>
                </a:solidFill>
                <a:latin typeface="Arial"/>
              </a:defRPr>
            </a:pPr>
            <a:r>
              <a:rPr dirty="0">
                <a:latin typeface="Tahoma" panose="020B0604030504040204" pitchFamily="34" charset="0"/>
              </a:rPr>
              <a:t>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3838" y="193211"/>
            <a:ext cx="9124614" cy="50013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50" b="1">
                <a:solidFill>
                  <a:srgbClr val="051F71"/>
                </a:solidFill>
                <a:latin typeface="Arial Narrow"/>
              </a:defRPr>
            </a:pPr>
            <a:r>
              <a:rPr dirty="0">
                <a:latin typeface="Tahoma" panose="020B0604030504040204" pitchFamily="34" charset="0"/>
              </a:rPr>
              <a:t>DASHBOARD – </a:t>
            </a:r>
            <a:r>
              <a:rPr dirty="0" err="1">
                <a:latin typeface="Tahoma" panose="020B0604030504040204" pitchFamily="34" charset="0"/>
              </a:rPr>
              <a:t>CHĂM</a:t>
            </a:r>
            <a:r>
              <a:rPr dirty="0">
                <a:latin typeface="Tahoma" panose="020B0604030504040204" pitchFamily="34" charset="0"/>
              </a:rPr>
              <a:t> LO, CHÍNH </a:t>
            </a:r>
            <a:r>
              <a:rPr dirty="0" err="1">
                <a:latin typeface="Tahoma" panose="020B0604030504040204" pitchFamily="34" charset="0"/>
              </a:rPr>
              <a:t>SÁCH</a:t>
            </a:r>
            <a:r>
              <a:rPr dirty="0">
                <a:latin typeface="Tahoma" panose="020B0604030504040204" pitchFamily="34" charset="0"/>
              </a:rPr>
              <a:t> &amp; TÀI CHÍNH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554480"/>
            <a:ext cx="1106424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9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48640" y="1554480"/>
            <a:ext cx="11064240" cy="475488"/>
          </a:xfrm>
          <a:prstGeom prst="rect">
            <a:avLst/>
          </a:prstGeom>
          <a:solidFill>
            <a:srgbClr val="051F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77240" y="1673352"/>
            <a:ext cx="10607040" cy="307777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050" b="1">
                <a:solidFill>
                  <a:srgbClr val="FFFFFF"/>
                </a:solidFill>
                <a:latin typeface="Arial"/>
              </a:defRPr>
            </a:pPr>
            <a:r>
              <a:rPr sz="1400" dirty="0">
                <a:latin typeface="Tahoma" panose="020B0604030504040204" pitchFamily="34" charset="0"/>
              </a:rPr>
              <a:t>GPG UNION DASHBOARD | Welfare &amp; Finance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029967"/>
            <a:ext cx="1874519" cy="4050791"/>
          </a:xfrm>
          <a:prstGeom prst="rect">
            <a:avLst/>
          </a:prstGeom>
          <a:solidFill>
            <a:srgbClr val="F7F9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13232" y="2267712"/>
            <a:ext cx="1508760" cy="307777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869" b="1">
                <a:solidFill>
                  <a:srgbClr val="051F71"/>
                </a:solidFill>
                <a:latin typeface="Arial"/>
              </a:defRPr>
            </a:pPr>
            <a:r>
              <a:rPr sz="1400" dirty="0" err="1">
                <a:latin typeface="Tahoma" panose="020B0604030504040204" pitchFamily="34" charset="0"/>
              </a:rPr>
              <a:t>Tổng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quan</a:t>
            </a:r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13232" y="2724912"/>
            <a:ext cx="1508760" cy="307777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869" b="0">
                <a:solidFill>
                  <a:srgbClr val="677180"/>
                </a:solidFill>
                <a:latin typeface="Arial"/>
              </a:defRPr>
            </a:pPr>
            <a:r>
              <a:rPr sz="1400" dirty="0" err="1">
                <a:latin typeface="Tahoma" panose="020B0604030504040204" pitchFamily="34" charset="0"/>
              </a:rPr>
              <a:t>Chăm</a:t>
            </a:r>
            <a:r>
              <a:rPr sz="1400" dirty="0">
                <a:latin typeface="Tahoma" panose="020B0604030504040204" pitchFamily="34" charset="0"/>
              </a:rPr>
              <a:t> lo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" y="3182112"/>
            <a:ext cx="1508760" cy="307777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869" b="0">
                <a:solidFill>
                  <a:srgbClr val="677180"/>
                </a:solidFill>
                <a:latin typeface="Arial"/>
              </a:defRPr>
            </a:pPr>
            <a:r>
              <a:rPr sz="1400" dirty="0" err="1">
                <a:latin typeface="Tahoma" panose="020B0604030504040204" pitchFamily="34" charset="0"/>
              </a:rPr>
              <a:t>Chính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sách</a:t>
            </a:r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13232" y="3639312"/>
            <a:ext cx="1508760" cy="307777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869" b="0">
                <a:solidFill>
                  <a:srgbClr val="677180"/>
                </a:solidFill>
                <a:latin typeface="Arial"/>
              </a:defRPr>
            </a:pPr>
            <a:r>
              <a:rPr sz="1400" dirty="0">
                <a:latin typeface="Tahoma" panose="020B0604030504040204" pitchFamily="34" charset="0"/>
              </a:rPr>
              <a:t>Tài </a:t>
            </a:r>
            <a:r>
              <a:rPr sz="1400" dirty="0" err="1">
                <a:latin typeface="Tahoma" panose="020B0604030504040204" pitchFamily="34" charset="0"/>
              </a:rPr>
              <a:t>chính</a:t>
            </a:r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13232" y="4096512"/>
            <a:ext cx="1508760" cy="307777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869" b="0">
                <a:solidFill>
                  <a:srgbClr val="677180"/>
                </a:solidFill>
                <a:latin typeface="Arial"/>
              </a:defRPr>
            </a:pPr>
            <a:r>
              <a:rPr sz="1400" dirty="0" err="1">
                <a:latin typeface="Tahoma" panose="020B0604030504040204" pitchFamily="34" charset="0"/>
              </a:rPr>
              <a:t>Chứng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từ</a:t>
            </a:r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13232" y="4553712"/>
            <a:ext cx="1508760" cy="307777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869" b="0">
                <a:solidFill>
                  <a:srgbClr val="677180"/>
                </a:solidFill>
                <a:latin typeface="Arial"/>
              </a:defRPr>
            </a:pPr>
            <a:r>
              <a:rPr sz="1400" dirty="0" err="1">
                <a:latin typeface="Tahoma" panose="020B0604030504040204" pitchFamily="34" charset="0"/>
              </a:rPr>
              <a:t>Đơn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vị</a:t>
            </a:r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2697479" y="2304287"/>
            <a:ext cx="251460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D9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2898648" y="2432303"/>
            <a:ext cx="2148839" cy="307777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019" b="1">
                <a:solidFill>
                  <a:srgbClr val="051F71"/>
                </a:solidFill>
                <a:latin typeface="Arial"/>
              </a:defRPr>
            </a:pPr>
            <a:r>
              <a:rPr sz="1400" dirty="0" err="1">
                <a:latin typeface="Tahoma" panose="020B0604030504040204" pitchFamily="34" charset="0"/>
              </a:rPr>
              <a:t>TỔNG</a:t>
            </a:r>
            <a:r>
              <a:rPr sz="1400" dirty="0">
                <a:latin typeface="Tahoma" panose="020B0604030504040204" pitchFamily="34" charset="0"/>
              </a:rPr>
              <a:t> CHI </a:t>
            </a:r>
            <a:r>
              <a:rPr sz="1400" dirty="0" err="1">
                <a:latin typeface="Tahoma" panose="020B0604030504040204" pitchFamily="34" charset="0"/>
              </a:rPr>
              <a:t>THÁNG</a:t>
            </a:r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2916935" y="2741188"/>
            <a:ext cx="2075688" cy="5232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919" b="0">
                <a:solidFill>
                  <a:srgbClr val="202838"/>
                </a:solidFill>
                <a:latin typeface="Arial"/>
              </a:defRPr>
            </a:pPr>
            <a:r>
              <a:rPr sz="1400" dirty="0" err="1">
                <a:latin typeface="Tahoma" panose="020B0604030504040204" pitchFamily="34" charset="0"/>
              </a:rPr>
              <a:t>34,0M</a:t>
            </a:r>
            <a:r>
              <a:rPr sz="1400" dirty="0">
                <a:latin typeface="Tahoma" panose="020B0604030504040204" pitchFamily="34" charset="0"/>
              </a:rPr>
              <a:t> | </a:t>
            </a:r>
            <a:r>
              <a:rPr sz="1400" dirty="0" err="1">
                <a:latin typeface="Tahoma" panose="020B0604030504040204" pitchFamily="34" charset="0"/>
              </a:rPr>
              <a:t>11,1M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trực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tiếp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chăm</a:t>
            </a:r>
            <a:r>
              <a:rPr sz="1400" dirty="0">
                <a:latin typeface="Tahoma" panose="020B0604030504040204" pitchFamily="34" charset="0"/>
              </a:rPr>
              <a:t> lo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697479" y="3493008"/>
            <a:ext cx="251460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D9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2898648" y="3621024"/>
            <a:ext cx="2148839" cy="307777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019" b="1">
                <a:solidFill>
                  <a:srgbClr val="118F91"/>
                </a:solidFill>
                <a:latin typeface="Arial"/>
              </a:defRPr>
            </a:pPr>
            <a:r>
              <a:rPr sz="1400" dirty="0" err="1">
                <a:latin typeface="Tahoma" panose="020B0604030504040204" pitchFamily="34" charset="0"/>
              </a:rPr>
              <a:t>CHỨNG</a:t>
            </a:r>
            <a:r>
              <a:rPr sz="1400" dirty="0">
                <a:latin typeface="Tahoma" panose="020B0604030504040204" pitchFamily="34" charset="0"/>
              </a:rPr>
              <a:t> TỪ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898648" y="3932284"/>
            <a:ext cx="2075688" cy="5232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919" b="0">
                <a:solidFill>
                  <a:srgbClr val="202838"/>
                </a:solidFill>
                <a:latin typeface="Arial"/>
              </a:defRPr>
            </a:pPr>
            <a:r>
              <a:rPr sz="1400" dirty="0">
                <a:latin typeface="Tahoma" panose="020B0604030504040204" pitchFamily="34" charset="0"/>
              </a:rPr>
              <a:t>98% </a:t>
            </a:r>
            <a:r>
              <a:rPr sz="1400" dirty="0" err="1">
                <a:latin typeface="Tahoma" panose="020B0604030504040204" pitchFamily="34" charset="0"/>
              </a:rPr>
              <a:t>hoàn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tất</a:t>
            </a:r>
            <a:r>
              <a:rPr sz="1400" dirty="0">
                <a:latin typeface="Tahoma" panose="020B0604030504040204" pitchFamily="34" charset="0"/>
              </a:rPr>
              <a:t> | 2% </a:t>
            </a:r>
            <a:r>
              <a:rPr sz="1400" dirty="0" err="1">
                <a:latin typeface="Tahoma" panose="020B0604030504040204" pitchFamily="34" charset="0"/>
              </a:rPr>
              <a:t>cần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bổ</a:t>
            </a:r>
            <a:r>
              <a:rPr sz="1400" dirty="0">
                <a:latin typeface="Tahoma" panose="020B0604030504040204" pitchFamily="34" charset="0"/>
              </a:rPr>
              <a:t> sung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697479" y="4681727"/>
            <a:ext cx="251460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D9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2898648" y="4809743"/>
            <a:ext cx="2148839" cy="5232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019" b="1">
                <a:solidFill>
                  <a:srgbClr val="2A975D"/>
                </a:solidFill>
                <a:latin typeface="Arial"/>
              </a:defRPr>
            </a:pPr>
            <a:r>
              <a:rPr sz="1400" dirty="0">
                <a:latin typeface="Tahoma" panose="020B0604030504040204" pitchFamily="34" charset="0"/>
              </a:rPr>
              <a:t>CHÍNH </a:t>
            </a:r>
            <a:r>
              <a:rPr sz="1400" dirty="0" err="1">
                <a:latin typeface="Tahoma" panose="020B0604030504040204" pitchFamily="34" charset="0"/>
              </a:rPr>
              <a:t>SÁCH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ĐÚNG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HẠN</a:t>
            </a:r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2916935" y="5160227"/>
            <a:ext cx="2075688" cy="307777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919" b="0">
                <a:solidFill>
                  <a:srgbClr val="202838"/>
                </a:solidFill>
                <a:latin typeface="Arial"/>
              </a:defRPr>
            </a:pPr>
            <a:r>
              <a:rPr sz="1400" dirty="0">
                <a:latin typeface="Tahoma" panose="020B0604030504040204" pitchFamily="34" charset="0"/>
              </a:rPr>
              <a:t>95% | 2 </a:t>
            </a:r>
            <a:r>
              <a:rPr sz="1400" dirty="0" err="1">
                <a:latin typeface="Tahoma" panose="020B0604030504040204" pitchFamily="34" charset="0"/>
              </a:rPr>
              <a:t>trường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hợp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chậm</a:t>
            </a:r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5532120" y="2304287"/>
            <a:ext cx="1188720" cy="457200"/>
          </a:xfrm>
          <a:prstGeom prst="rect">
            <a:avLst/>
          </a:prstGeom>
          <a:solidFill>
            <a:srgbClr val="051F71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5568696" y="2368295"/>
            <a:ext cx="1115568" cy="307777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rial"/>
              </a:defRPr>
            </a:pPr>
            <a:r>
              <a:rPr sz="1400" dirty="0" err="1">
                <a:latin typeface="Tahoma" panose="020B0604030504040204" pitchFamily="34" charset="0"/>
              </a:rPr>
              <a:t>Đơn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vị</a:t>
            </a:r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6720840" y="2304287"/>
            <a:ext cx="1188720" cy="457200"/>
          </a:xfrm>
          <a:prstGeom prst="rect">
            <a:avLst/>
          </a:prstGeom>
          <a:solidFill>
            <a:srgbClr val="051F71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6757416" y="2368295"/>
            <a:ext cx="1115568" cy="307777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rial"/>
              </a:defRPr>
            </a:pPr>
            <a:r>
              <a:rPr sz="1400" dirty="0">
                <a:latin typeface="Tahoma" panose="020B0604030504040204" pitchFamily="34" charset="0"/>
              </a:rPr>
              <a:t>Chi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909560" y="2304287"/>
            <a:ext cx="1280160" cy="457200"/>
          </a:xfrm>
          <a:prstGeom prst="rect">
            <a:avLst/>
          </a:prstGeom>
          <a:solidFill>
            <a:srgbClr val="051F71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7946136" y="2368295"/>
            <a:ext cx="1207007" cy="307777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rial"/>
              </a:defRPr>
            </a:pPr>
            <a:r>
              <a:rPr sz="1400" dirty="0" err="1">
                <a:latin typeface="Tahoma" panose="020B0604030504040204" pitchFamily="34" charset="0"/>
              </a:rPr>
              <a:t>Đúng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hạn</a:t>
            </a:r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9189720" y="2304287"/>
            <a:ext cx="1371600" cy="457200"/>
          </a:xfrm>
          <a:prstGeom prst="rect">
            <a:avLst/>
          </a:prstGeom>
          <a:solidFill>
            <a:srgbClr val="051F71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9226296" y="2368295"/>
            <a:ext cx="1298448" cy="307777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rial"/>
              </a:defRPr>
            </a:pPr>
            <a:r>
              <a:rPr sz="1400" dirty="0" err="1">
                <a:latin typeface="Tahoma" panose="020B0604030504040204" pitchFamily="34" charset="0"/>
              </a:rPr>
              <a:t>Chứng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từ</a:t>
            </a:r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5532120" y="2761487"/>
            <a:ext cx="1188720" cy="457200"/>
          </a:xfrm>
          <a:prstGeom prst="rect">
            <a:avLst/>
          </a:prstGeom>
          <a:solidFill>
            <a:srgbClr val="FFFFFF"/>
          </a:solidFill>
          <a:ln>
            <a:solidFill>
              <a:srgbClr val="D9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5568696" y="2816351"/>
            <a:ext cx="1115568" cy="307777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defRPr sz="800" b="0">
                <a:solidFill>
                  <a:srgbClr val="202838"/>
                </a:solidFill>
                <a:latin typeface="Arial"/>
              </a:defRPr>
            </a:pPr>
            <a:r>
              <a:rPr sz="1400" dirty="0">
                <a:latin typeface="Tahoma" panose="020B0604030504040204" pitchFamily="34" charset="0"/>
              </a:rPr>
              <a:t>VCS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720840" y="2761487"/>
            <a:ext cx="1188720" cy="457200"/>
          </a:xfrm>
          <a:prstGeom prst="rect">
            <a:avLst/>
          </a:prstGeom>
          <a:solidFill>
            <a:srgbClr val="FFFFFF"/>
          </a:solidFill>
          <a:ln>
            <a:solidFill>
              <a:srgbClr val="D9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6757416" y="2816351"/>
            <a:ext cx="1115568" cy="307777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800" b="0">
                <a:solidFill>
                  <a:srgbClr val="202838"/>
                </a:solidFill>
                <a:latin typeface="Arial"/>
              </a:defRPr>
            </a:pPr>
            <a:r>
              <a:rPr sz="1400" dirty="0" err="1">
                <a:latin typeface="Tahoma" panose="020B0604030504040204" pitchFamily="34" charset="0"/>
              </a:rPr>
              <a:t>8,2M</a:t>
            </a:r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7909560" y="2761487"/>
            <a:ext cx="1280160" cy="457200"/>
          </a:xfrm>
          <a:prstGeom prst="rect">
            <a:avLst/>
          </a:prstGeom>
          <a:solidFill>
            <a:srgbClr val="FFFFFF"/>
          </a:solidFill>
          <a:ln>
            <a:solidFill>
              <a:srgbClr val="D9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7946136" y="2816351"/>
            <a:ext cx="1207007" cy="307777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800" b="0">
                <a:solidFill>
                  <a:srgbClr val="202838"/>
                </a:solidFill>
                <a:latin typeface="Arial"/>
              </a:defRPr>
            </a:pPr>
            <a:r>
              <a:rPr sz="1400" dirty="0">
                <a:latin typeface="Tahoma" panose="020B0604030504040204" pitchFamily="34" charset="0"/>
              </a:rPr>
              <a:t>100%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189720" y="2761487"/>
            <a:ext cx="1371600" cy="457200"/>
          </a:xfrm>
          <a:prstGeom prst="rect">
            <a:avLst/>
          </a:prstGeom>
          <a:solidFill>
            <a:srgbClr val="FFFFFF"/>
          </a:solidFill>
          <a:ln>
            <a:solidFill>
              <a:srgbClr val="D9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9226296" y="2816351"/>
            <a:ext cx="1298448" cy="307777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800" b="0">
                <a:solidFill>
                  <a:srgbClr val="202838"/>
                </a:solidFill>
                <a:latin typeface="Arial"/>
              </a:defRPr>
            </a:pPr>
            <a:r>
              <a:rPr sz="1400" dirty="0" err="1">
                <a:latin typeface="Tahoma" panose="020B0604030504040204" pitchFamily="34" charset="0"/>
              </a:rPr>
              <a:t>Đủ</a:t>
            </a:r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44" name="Rectangle 43"/>
          <p:cNvSpPr/>
          <p:nvPr/>
        </p:nvSpPr>
        <p:spPr>
          <a:xfrm>
            <a:off x="5532120" y="3218687"/>
            <a:ext cx="1188720" cy="457200"/>
          </a:xfrm>
          <a:prstGeom prst="rect">
            <a:avLst/>
          </a:prstGeom>
          <a:solidFill>
            <a:srgbClr val="F7F9FD"/>
          </a:solidFill>
          <a:ln>
            <a:solidFill>
              <a:srgbClr val="D9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5568696" y="3273551"/>
            <a:ext cx="1115568" cy="307777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defRPr sz="800" b="0">
                <a:solidFill>
                  <a:srgbClr val="202838"/>
                </a:solidFill>
                <a:latin typeface="Arial"/>
              </a:defRPr>
            </a:pPr>
            <a:r>
              <a:rPr sz="1400" dirty="0">
                <a:latin typeface="Tahoma" panose="020B0604030504040204" pitchFamily="34" charset="0"/>
              </a:rPr>
              <a:t>AZC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720840" y="3218687"/>
            <a:ext cx="1188720" cy="457200"/>
          </a:xfrm>
          <a:prstGeom prst="rect">
            <a:avLst/>
          </a:prstGeom>
          <a:solidFill>
            <a:srgbClr val="F7F9FD"/>
          </a:solidFill>
          <a:ln>
            <a:solidFill>
              <a:srgbClr val="D9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6757416" y="3273551"/>
            <a:ext cx="1115568" cy="307777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800" b="0">
                <a:solidFill>
                  <a:srgbClr val="202838"/>
                </a:solidFill>
                <a:latin typeface="Arial"/>
              </a:defRPr>
            </a:pPr>
            <a:r>
              <a:rPr sz="1400" dirty="0" err="1">
                <a:latin typeface="Tahoma" panose="020B0604030504040204" pitchFamily="34" charset="0"/>
              </a:rPr>
              <a:t>5,6M</a:t>
            </a:r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48" name="Rectangle 47"/>
          <p:cNvSpPr/>
          <p:nvPr/>
        </p:nvSpPr>
        <p:spPr>
          <a:xfrm>
            <a:off x="7909560" y="3218687"/>
            <a:ext cx="1280160" cy="457200"/>
          </a:xfrm>
          <a:prstGeom prst="rect">
            <a:avLst/>
          </a:prstGeom>
          <a:solidFill>
            <a:srgbClr val="F7F9FD"/>
          </a:solidFill>
          <a:ln>
            <a:solidFill>
              <a:srgbClr val="D9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7946136" y="3273551"/>
            <a:ext cx="1207007" cy="307777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800" b="0">
                <a:solidFill>
                  <a:srgbClr val="202838"/>
                </a:solidFill>
                <a:latin typeface="Arial"/>
              </a:defRPr>
            </a:pPr>
            <a:r>
              <a:rPr sz="1400" dirty="0">
                <a:latin typeface="Tahoma" panose="020B0604030504040204" pitchFamily="34" charset="0"/>
              </a:rPr>
              <a:t>96%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189720" y="3218687"/>
            <a:ext cx="1371600" cy="457200"/>
          </a:xfrm>
          <a:prstGeom prst="rect">
            <a:avLst/>
          </a:prstGeom>
          <a:solidFill>
            <a:srgbClr val="F7F9FD"/>
          </a:solidFill>
          <a:ln>
            <a:solidFill>
              <a:srgbClr val="D9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9226296" y="3273551"/>
            <a:ext cx="1298448" cy="307777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800" b="0">
                <a:solidFill>
                  <a:srgbClr val="202838"/>
                </a:solidFill>
                <a:latin typeface="Arial"/>
              </a:defRPr>
            </a:pPr>
            <a:r>
              <a:rPr sz="1400" dirty="0" err="1">
                <a:latin typeface="Tahoma" panose="020B0604030504040204" pitchFamily="34" charset="0"/>
              </a:rPr>
              <a:t>Đủ</a:t>
            </a:r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52" name="Rectangle 51"/>
          <p:cNvSpPr/>
          <p:nvPr/>
        </p:nvSpPr>
        <p:spPr>
          <a:xfrm>
            <a:off x="5532120" y="3675887"/>
            <a:ext cx="1188720" cy="457200"/>
          </a:xfrm>
          <a:prstGeom prst="rect">
            <a:avLst/>
          </a:prstGeom>
          <a:solidFill>
            <a:srgbClr val="FFFFFF"/>
          </a:solidFill>
          <a:ln>
            <a:solidFill>
              <a:srgbClr val="D9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5568696" y="3730751"/>
            <a:ext cx="1115568" cy="307777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defRPr sz="800" b="0">
                <a:solidFill>
                  <a:srgbClr val="202838"/>
                </a:solidFill>
                <a:latin typeface="Arial"/>
              </a:defRPr>
            </a:pPr>
            <a:r>
              <a:rPr sz="1400" dirty="0">
                <a:latin typeface="Tahoma" panose="020B0604030504040204" pitchFamily="34" charset="0"/>
              </a:rPr>
              <a:t>GPL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720840" y="3675887"/>
            <a:ext cx="1188720" cy="457200"/>
          </a:xfrm>
          <a:prstGeom prst="rect">
            <a:avLst/>
          </a:prstGeom>
          <a:solidFill>
            <a:srgbClr val="FFFFFF"/>
          </a:solidFill>
          <a:ln>
            <a:solidFill>
              <a:srgbClr val="D9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6757416" y="3730751"/>
            <a:ext cx="1115568" cy="307777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800" b="0">
                <a:solidFill>
                  <a:srgbClr val="202838"/>
                </a:solidFill>
                <a:latin typeface="Arial"/>
              </a:defRPr>
            </a:pPr>
            <a:r>
              <a:rPr sz="1400" dirty="0" err="1">
                <a:latin typeface="Tahoma" panose="020B0604030504040204" pitchFamily="34" charset="0"/>
              </a:rPr>
              <a:t>4,1M</a:t>
            </a:r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56" name="Rectangle 55"/>
          <p:cNvSpPr/>
          <p:nvPr/>
        </p:nvSpPr>
        <p:spPr>
          <a:xfrm>
            <a:off x="7909560" y="3675887"/>
            <a:ext cx="1280160" cy="457200"/>
          </a:xfrm>
          <a:prstGeom prst="rect">
            <a:avLst/>
          </a:prstGeom>
          <a:solidFill>
            <a:srgbClr val="FFFFFF"/>
          </a:solidFill>
          <a:ln>
            <a:solidFill>
              <a:srgbClr val="D9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7946136" y="3730751"/>
            <a:ext cx="1207007" cy="307777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800" b="0">
                <a:solidFill>
                  <a:srgbClr val="202838"/>
                </a:solidFill>
                <a:latin typeface="Arial"/>
              </a:defRPr>
            </a:pPr>
            <a:r>
              <a:rPr sz="1400" dirty="0">
                <a:latin typeface="Tahoma" panose="020B0604030504040204" pitchFamily="34" charset="0"/>
              </a:rPr>
              <a:t>93%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189720" y="3675887"/>
            <a:ext cx="1371600" cy="457200"/>
          </a:xfrm>
          <a:prstGeom prst="rect">
            <a:avLst/>
          </a:prstGeom>
          <a:solidFill>
            <a:srgbClr val="FFFFFF"/>
          </a:solidFill>
          <a:ln>
            <a:solidFill>
              <a:srgbClr val="D9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9226296" y="3730751"/>
            <a:ext cx="1298448" cy="307777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800" b="0">
                <a:solidFill>
                  <a:srgbClr val="202838"/>
                </a:solidFill>
                <a:latin typeface="Arial"/>
              </a:defRPr>
            </a:pPr>
            <a:r>
              <a:rPr sz="1400" dirty="0" err="1">
                <a:latin typeface="Tahoma" panose="020B0604030504040204" pitchFamily="34" charset="0"/>
              </a:rPr>
              <a:t>Thiếu</a:t>
            </a:r>
            <a:r>
              <a:rPr sz="1400" dirty="0">
                <a:latin typeface="Tahoma" panose="020B0604030504040204" pitchFamily="34" charset="0"/>
              </a:rPr>
              <a:t> 1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532120" y="4133087"/>
            <a:ext cx="1188720" cy="457200"/>
          </a:xfrm>
          <a:prstGeom prst="rect">
            <a:avLst/>
          </a:prstGeom>
          <a:solidFill>
            <a:srgbClr val="F7F9FD"/>
          </a:solidFill>
          <a:ln>
            <a:solidFill>
              <a:srgbClr val="D9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5568696" y="4187951"/>
            <a:ext cx="1115568" cy="307777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defRPr sz="800" b="0">
                <a:solidFill>
                  <a:srgbClr val="202838"/>
                </a:solidFill>
                <a:latin typeface="Arial"/>
              </a:defRPr>
            </a:pPr>
            <a:r>
              <a:rPr sz="1400" dirty="0">
                <a:latin typeface="Tahoma" panose="020B0604030504040204" pitchFamily="34" charset="0"/>
              </a:rPr>
              <a:t>GPD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720840" y="4133087"/>
            <a:ext cx="1188720" cy="457200"/>
          </a:xfrm>
          <a:prstGeom prst="rect">
            <a:avLst/>
          </a:prstGeom>
          <a:solidFill>
            <a:srgbClr val="F7F9FD"/>
          </a:solidFill>
          <a:ln>
            <a:solidFill>
              <a:srgbClr val="D9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6757416" y="4187951"/>
            <a:ext cx="1115568" cy="307777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800" b="0">
                <a:solidFill>
                  <a:srgbClr val="202838"/>
                </a:solidFill>
                <a:latin typeface="Arial"/>
              </a:defRPr>
            </a:pPr>
            <a:r>
              <a:rPr sz="1400" dirty="0" err="1">
                <a:latin typeface="Tahoma" panose="020B0604030504040204" pitchFamily="34" charset="0"/>
              </a:rPr>
              <a:t>3,9M</a:t>
            </a:r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64" name="Rectangle 63"/>
          <p:cNvSpPr/>
          <p:nvPr/>
        </p:nvSpPr>
        <p:spPr>
          <a:xfrm>
            <a:off x="7909560" y="4133087"/>
            <a:ext cx="1280160" cy="457200"/>
          </a:xfrm>
          <a:prstGeom prst="rect">
            <a:avLst/>
          </a:prstGeom>
          <a:solidFill>
            <a:srgbClr val="F7F9FD"/>
          </a:solidFill>
          <a:ln>
            <a:solidFill>
              <a:srgbClr val="D9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7946136" y="4187951"/>
            <a:ext cx="1207007" cy="307777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800" b="0">
                <a:solidFill>
                  <a:srgbClr val="202838"/>
                </a:solidFill>
                <a:latin typeface="Arial"/>
              </a:defRPr>
            </a:pPr>
            <a:r>
              <a:rPr sz="1400" dirty="0">
                <a:latin typeface="Tahoma" panose="020B0604030504040204" pitchFamily="34" charset="0"/>
              </a:rPr>
              <a:t>100%</a:t>
            </a:r>
          </a:p>
        </p:txBody>
      </p:sp>
      <p:sp>
        <p:nvSpPr>
          <p:cNvPr id="66" name="Rectangle 65"/>
          <p:cNvSpPr/>
          <p:nvPr/>
        </p:nvSpPr>
        <p:spPr>
          <a:xfrm>
            <a:off x="9189720" y="4133087"/>
            <a:ext cx="1371600" cy="457200"/>
          </a:xfrm>
          <a:prstGeom prst="rect">
            <a:avLst/>
          </a:prstGeom>
          <a:solidFill>
            <a:srgbClr val="F7F9FD"/>
          </a:solidFill>
          <a:ln>
            <a:solidFill>
              <a:srgbClr val="D9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67" name="TextBox 66"/>
          <p:cNvSpPr txBox="1"/>
          <p:nvPr/>
        </p:nvSpPr>
        <p:spPr>
          <a:xfrm>
            <a:off x="9226296" y="4187951"/>
            <a:ext cx="1298448" cy="307777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800" b="0">
                <a:solidFill>
                  <a:srgbClr val="202838"/>
                </a:solidFill>
                <a:latin typeface="Arial"/>
              </a:defRPr>
            </a:pPr>
            <a:r>
              <a:rPr sz="1400" dirty="0" err="1">
                <a:latin typeface="Tahoma" panose="020B0604030504040204" pitchFamily="34" charset="0"/>
              </a:rPr>
              <a:t>Đủ</a:t>
            </a:r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68" name="Rounded Rectangle 67"/>
          <p:cNvSpPr/>
          <p:nvPr/>
        </p:nvSpPr>
        <p:spPr>
          <a:xfrm>
            <a:off x="5532120" y="4864608"/>
            <a:ext cx="502920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9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69" name="TextBox 68"/>
          <p:cNvSpPr txBox="1"/>
          <p:nvPr/>
        </p:nvSpPr>
        <p:spPr>
          <a:xfrm>
            <a:off x="5719499" y="4914899"/>
            <a:ext cx="4663440" cy="307777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310" b="1">
                <a:solidFill>
                  <a:srgbClr val="E87823"/>
                </a:solidFill>
                <a:latin typeface="Arial"/>
              </a:defRPr>
            </a:pPr>
            <a:r>
              <a:rPr sz="1400" dirty="0" err="1">
                <a:latin typeface="Tahoma" panose="020B0604030504040204" pitchFamily="34" charset="0"/>
              </a:rPr>
              <a:t>CẢNH</a:t>
            </a:r>
            <a:r>
              <a:rPr sz="1400" dirty="0">
                <a:latin typeface="Tahoma" panose="020B0604030504040204" pitchFamily="34" charset="0"/>
              </a:rPr>
              <a:t> BÁO </a:t>
            </a:r>
            <a:r>
              <a:rPr sz="1400" dirty="0" err="1">
                <a:latin typeface="Tahoma" panose="020B0604030504040204" pitchFamily="34" charset="0"/>
              </a:rPr>
              <a:t>TỰ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ĐỘNG</a:t>
            </a:r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70" name="TextBox 69"/>
          <p:cNvSpPr txBox="1"/>
          <p:nvPr/>
        </p:nvSpPr>
        <p:spPr>
          <a:xfrm>
            <a:off x="5719499" y="5152627"/>
            <a:ext cx="4590288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40">
                <a:solidFill>
                  <a:srgbClr val="202838"/>
                </a:solidFill>
                <a:latin typeface="Arial"/>
              </a:defRPr>
            </a:pPr>
            <a:r>
              <a:rPr sz="1400" dirty="0">
                <a:latin typeface="Tahoma" panose="020B0604030504040204" pitchFamily="34" charset="0"/>
              </a:rPr>
              <a:t>• Chi </a:t>
            </a:r>
            <a:r>
              <a:rPr sz="1400" dirty="0" err="1">
                <a:latin typeface="Tahoma" panose="020B0604030504040204" pitchFamily="34" charset="0"/>
              </a:rPr>
              <a:t>vượt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ngân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sách</a:t>
            </a:r>
            <a:r>
              <a:rPr sz="1400" dirty="0">
                <a:latin typeface="Tahoma" panose="020B0604030504040204" pitchFamily="34" charset="0"/>
              </a:rPr>
              <a:t> &gt;10%.</a:t>
            </a:r>
          </a:p>
          <a:p>
            <a:pPr>
              <a:defRPr sz="840">
                <a:solidFill>
                  <a:srgbClr val="202838"/>
                </a:solidFill>
                <a:latin typeface="Arial"/>
              </a:defRPr>
            </a:pPr>
            <a:r>
              <a:rPr sz="1400" dirty="0">
                <a:latin typeface="Tahoma" panose="020B0604030504040204" pitchFamily="34" charset="0"/>
              </a:rPr>
              <a:t>• Trường </a:t>
            </a:r>
            <a:r>
              <a:rPr sz="1400" dirty="0" err="1">
                <a:latin typeface="Tahoma" panose="020B0604030504040204" pitchFamily="34" charset="0"/>
              </a:rPr>
              <a:t>hợp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chăm</a:t>
            </a:r>
            <a:r>
              <a:rPr sz="1400" dirty="0">
                <a:latin typeface="Tahoma" panose="020B0604030504040204" pitchFamily="34" charset="0"/>
              </a:rPr>
              <a:t> lo </a:t>
            </a:r>
            <a:r>
              <a:rPr sz="1400" dirty="0" err="1">
                <a:latin typeface="Tahoma" panose="020B0604030504040204" pitchFamily="34" charset="0"/>
              </a:rPr>
              <a:t>quá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hạn</a:t>
            </a:r>
            <a:r>
              <a:rPr sz="1400" dirty="0">
                <a:latin typeface="Tahoma" panose="020B0604030504040204" pitchFamily="34" charset="0"/>
              </a:rPr>
              <a:t> &gt;2 </a:t>
            </a:r>
            <a:r>
              <a:rPr sz="1400" dirty="0" err="1">
                <a:latin typeface="Tahoma" panose="020B0604030504040204" pitchFamily="34" charset="0"/>
              </a:rPr>
              <a:t>ngày</a:t>
            </a:r>
            <a:r>
              <a:rPr sz="1400" dirty="0">
                <a:latin typeface="Tahoma" panose="020B0604030504040204" pitchFamily="34" charset="0"/>
              </a:rPr>
              <a:t>.</a:t>
            </a:r>
          </a:p>
          <a:p>
            <a:pPr>
              <a:defRPr sz="840">
                <a:solidFill>
                  <a:srgbClr val="202838"/>
                </a:solidFill>
                <a:latin typeface="Arial"/>
              </a:defRPr>
            </a:pPr>
            <a:r>
              <a:rPr sz="1400" dirty="0">
                <a:latin typeface="Tahoma" panose="020B0604030504040204" pitchFamily="34" charset="0"/>
              </a:rPr>
              <a:t>• </a:t>
            </a:r>
            <a:r>
              <a:rPr sz="1400" dirty="0" err="1">
                <a:latin typeface="Tahoma" panose="020B0604030504040204" pitchFamily="34" charset="0"/>
              </a:rPr>
              <a:t>Chứng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từ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chưa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hoàn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thiện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sau</a:t>
            </a:r>
            <a:r>
              <a:rPr sz="1400" dirty="0">
                <a:latin typeface="Tahoma" panose="020B0604030504040204" pitchFamily="34" charset="0"/>
              </a:rPr>
              <a:t> 5 </a:t>
            </a:r>
            <a:r>
              <a:rPr sz="1400" dirty="0" err="1">
                <a:latin typeface="Tahoma" panose="020B0604030504040204" pitchFamily="34" charset="0"/>
              </a:rPr>
              <a:t>ngày</a:t>
            </a:r>
            <a:r>
              <a:rPr sz="1400" dirty="0">
                <a:latin typeface="Tahoma" panose="020B0604030504040204" pitchFamily="34" charset="0"/>
              </a:rPr>
              <a:t>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608" y="82296"/>
            <a:ext cx="960120" cy="548640"/>
          </a:xfrm>
          <a:prstGeom prst="rect">
            <a:avLst/>
          </a:prstGeom>
        </p:spPr>
      </p:pic>
      <p:pic>
        <p:nvPicPr>
          <p:cNvPr id="3" name="Picture 2" descr="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64008"/>
            <a:ext cx="646818" cy="585216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274320" y="749808"/>
            <a:ext cx="11649456" cy="22860"/>
          </a:xfrm>
          <a:prstGeom prst="rect">
            <a:avLst/>
          </a:prstGeom>
          <a:solidFill>
            <a:srgbClr val="051F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Tahoma" panose="020B0604030504040204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20040" y="6483096"/>
            <a:ext cx="2077813" cy="22313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051F71"/>
                </a:solidFill>
                <a:latin typeface="Arial"/>
              </a:defRPr>
            </a:pPr>
            <a:r>
              <a:rPr dirty="0">
                <a:latin typeface="Tahoma" panose="020B0604030504040204" pitchFamily="34" charset="0"/>
              </a:rPr>
              <a:t>CÔNG ĐOÀN GPG | GPG TRADE UNION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25105" y="6473952"/>
            <a:ext cx="947695" cy="21839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19">
                <a:solidFill>
                  <a:srgbClr val="677180"/>
                </a:solidFill>
                <a:latin typeface="Arial"/>
              </a:defRPr>
            </a:pPr>
            <a:r>
              <a:rPr dirty="0">
                <a:latin typeface="Tahoma" panose="020B0604030504040204" pitchFamily="34" charset="0"/>
              </a:rPr>
              <a:t>IV. DASHBOARD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93198" y="6455664"/>
            <a:ext cx="338554" cy="2385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051F71"/>
                </a:solidFill>
                <a:latin typeface="Arial"/>
              </a:defRPr>
            </a:pPr>
            <a:r>
              <a:rPr dirty="0">
                <a:latin typeface="Tahoma" panose="020B0604030504040204" pitchFamily="34" charset="0"/>
              </a:rPr>
              <a:t>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98931" y="162995"/>
            <a:ext cx="8919429" cy="50013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50" b="1">
                <a:solidFill>
                  <a:srgbClr val="051F71"/>
                </a:solidFill>
                <a:latin typeface="Arial Narrow"/>
              </a:defRPr>
            </a:pPr>
            <a:r>
              <a:rPr dirty="0">
                <a:latin typeface="Tahoma" panose="020B0604030504040204" pitchFamily="34" charset="0"/>
              </a:rPr>
              <a:t>DASHBOARD – </a:t>
            </a:r>
            <a:r>
              <a:rPr dirty="0" err="1">
                <a:latin typeface="Tahoma" panose="020B0604030504040204" pitchFamily="34" charset="0"/>
              </a:rPr>
              <a:t>TIẾNG</a:t>
            </a:r>
            <a:r>
              <a:rPr dirty="0">
                <a:latin typeface="Tahoma" panose="020B0604030504040204" pitchFamily="34" charset="0"/>
              </a:rPr>
              <a:t> NÓI </a:t>
            </a:r>
            <a:r>
              <a:rPr dirty="0" err="1">
                <a:latin typeface="Tahoma" panose="020B0604030504040204" pitchFamily="34" charset="0"/>
              </a:rPr>
              <a:t>NLĐ</a:t>
            </a:r>
            <a:r>
              <a:rPr dirty="0">
                <a:latin typeface="Tahoma" panose="020B0604030504040204" pitchFamily="34" charset="0"/>
              </a:rPr>
              <a:t> &amp; </a:t>
            </a:r>
            <a:r>
              <a:rPr dirty="0" err="1">
                <a:latin typeface="Tahoma" panose="020B0604030504040204" pitchFamily="34" charset="0"/>
              </a:rPr>
              <a:t>MỨC</a:t>
            </a:r>
            <a:r>
              <a:rPr dirty="0">
                <a:latin typeface="Tahoma" panose="020B0604030504040204" pitchFamily="34" charset="0"/>
              </a:rPr>
              <a:t> </a:t>
            </a:r>
            <a:r>
              <a:rPr dirty="0" err="1">
                <a:latin typeface="Tahoma" panose="020B0604030504040204" pitchFamily="34" charset="0"/>
              </a:rPr>
              <a:t>ĐỘ</a:t>
            </a:r>
            <a:r>
              <a:rPr dirty="0">
                <a:latin typeface="Tahoma" panose="020B0604030504040204" pitchFamily="34" charset="0"/>
              </a:rPr>
              <a:t> </a:t>
            </a:r>
            <a:r>
              <a:rPr dirty="0" err="1">
                <a:latin typeface="Tahoma" panose="020B0604030504040204" pitchFamily="34" charset="0"/>
              </a:rPr>
              <a:t>KẾT</a:t>
            </a:r>
            <a:r>
              <a:rPr dirty="0">
                <a:latin typeface="Tahoma" panose="020B0604030504040204" pitchFamily="34" charset="0"/>
              </a:rPr>
              <a:t> </a:t>
            </a:r>
            <a:r>
              <a:rPr dirty="0" err="1">
                <a:latin typeface="Tahoma" panose="020B0604030504040204" pitchFamily="34" charset="0"/>
              </a:rPr>
              <a:t>NỐI</a:t>
            </a:r>
            <a:endParaRPr dirty="0">
              <a:latin typeface="Tahoma" panose="020B0604030504040204" pitchFamily="34" charset="0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475487" y="998982"/>
            <a:ext cx="1106424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9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Tahoma" panose="020B0604030504040204" pitchFamily="34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475487" y="998982"/>
            <a:ext cx="11064240" cy="475488"/>
          </a:xfrm>
          <a:prstGeom prst="rect">
            <a:avLst/>
          </a:prstGeom>
          <a:solidFill>
            <a:srgbClr val="051F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04087" y="1117854"/>
            <a:ext cx="10607040" cy="307777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050" b="1">
                <a:solidFill>
                  <a:srgbClr val="FFFFFF"/>
                </a:solidFill>
                <a:latin typeface="Arial"/>
              </a:defRPr>
            </a:pPr>
            <a:r>
              <a:rPr sz="1400" dirty="0">
                <a:latin typeface="Tahoma" panose="020B0604030504040204" pitchFamily="34" charset="0"/>
              </a:rPr>
              <a:t>GPG UNION DASHBOARD | Employee Voice &amp; Engagement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75487" y="1474469"/>
            <a:ext cx="1874519" cy="4050791"/>
          </a:xfrm>
          <a:prstGeom prst="rect">
            <a:avLst/>
          </a:prstGeom>
          <a:solidFill>
            <a:srgbClr val="F7F9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Tahoma" panose="020B0604030504040204" pitchFamily="3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40079" y="1712214"/>
            <a:ext cx="1508760" cy="307777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869" b="1">
                <a:solidFill>
                  <a:srgbClr val="051F71"/>
                </a:solidFill>
                <a:latin typeface="Arial"/>
              </a:defRPr>
            </a:pPr>
            <a:r>
              <a:rPr sz="1400" dirty="0" err="1">
                <a:latin typeface="Tahoma" panose="020B0604030504040204" pitchFamily="34" charset="0"/>
              </a:rPr>
              <a:t>Tổng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quan</a:t>
            </a:r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40079" y="2169414"/>
            <a:ext cx="1508760" cy="307777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869" b="0">
                <a:solidFill>
                  <a:srgbClr val="677180"/>
                </a:solidFill>
                <a:latin typeface="Arial"/>
              </a:defRPr>
            </a:pPr>
            <a:r>
              <a:rPr sz="1400" dirty="0" err="1">
                <a:latin typeface="Tahoma" panose="020B0604030504040204" pitchFamily="34" charset="0"/>
              </a:rPr>
              <a:t>Kiến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nghị</a:t>
            </a:r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40079" y="2626614"/>
            <a:ext cx="1508760" cy="307777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869" b="0">
                <a:solidFill>
                  <a:srgbClr val="677180"/>
                </a:solidFill>
                <a:latin typeface="Arial"/>
              </a:defRPr>
            </a:pPr>
            <a:r>
              <a:rPr sz="1400" dirty="0" err="1">
                <a:latin typeface="Tahoma" panose="020B0604030504040204" pitchFamily="34" charset="0"/>
              </a:rPr>
              <a:t>Khảo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sát</a:t>
            </a:r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40079" y="3083814"/>
            <a:ext cx="1508760" cy="307777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869" b="0">
                <a:solidFill>
                  <a:srgbClr val="677180"/>
                </a:solidFill>
                <a:latin typeface="Arial"/>
              </a:defRPr>
            </a:pPr>
            <a:r>
              <a:rPr sz="1400" dirty="0" err="1">
                <a:latin typeface="Tahoma" panose="020B0604030504040204" pitchFamily="34" charset="0"/>
              </a:rPr>
              <a:t>Hoạt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động</a:t>
            </a:r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40079" y="3541014"/>
            <a:ext cx="1508760" cy="307777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869" b="0">
                <a:solidFill>
                  <a:srgbClr val="677180"/>
                </a:solidFill>
                <a:latin typeface="Arial"/>
              </a:defRPr>
            </a:pPr>
            <a:r>
              <a:rPr sz="1400" dirty="0">
                <a:latin typeface="Tahoma" panose="020B0604030504040204" pitchFamily="34" charset="0"/>
              </a:rPr>
              <a:t>Tuyến </a:t>
            </a:r>
            <a:r>
              <a:rPr sz="1400" dirty="0" err="1">
                <a:latin typeface="Tahoma" panose="020B0604030504040204" pitchFamily="34" charset="0"/>
              </a:rPr>
              <a:t>đầu</a:t>
            </a:r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2624326" y="1703070"/>
            <a:ext cx="1755648" cy="841248"/>
          </a:xfrm>
          <a:prstGeom prst="roundRect">
            <a:avLst/>
          </a:prstGeom>
          <a:solidFill>
            <a:srgbClr val="F7F9FD"/>
          </a:solidFill>
          <a:ln>
            <a:solidFill>
              <a:srgbClr val="D9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679191" y="1831086"/>
            <a:ext cx="1645920" cy="307777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defRPr sz="1850" b="1">
                <a:solidFill>
                  <a:srgbClr val="051F71"/>
                </a:solidFill>
                <a:latin typeface="Arial Narrow"/>
              </a:defRPr>
            </a:pPr>
            <a:r>
              <a:rPr sz="1400" dirty="0">
                <a:latin typeface="Tahoma" panose="020B0604030504040204" pitchFamily="34" charset="0"/>
              </a:rPr>
              <a:t>72%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24327" y="2075962"/>
            <a:ext cx="1645920" cy="5232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defRPr sz="730" b="1">
                <a:solidFill>
                  <a:srgbClr val="677180"/>
                </a:solidFill>
                <a:latin typeface="Arial"/>
              </a:defRPr>
            </a:pPr>
            <a:r>
              <a:rPr sz="1400" dirty="0" err="1">
                <a:latin typeface="Tahoma" panose="020B0604030504040204" pitchFamily="34" charset="0"/>
              </a:rPr>
              <a:t>Tỷ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lệ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phản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hồi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khảo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sát</a:t>
            </a:r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4617719" y="1703070"/>
            <a:ext cx="1755648" cy="841248"/>
          </a:xfrm>
          <a:prstGeom prst="roundRect">
            <a:avLst/>
          </a:prstGeom>
          <a:solidFill>
            <a:srgbClr val="F7F9FD"/>
          </a:solidFill>
          <a:ln>
            <a:solidFill>
              <a:srgbClr val="D9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4672583" y="1831086"/>
            <a:ext cx="1645920" cy="307777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defRPr sz="1850" b="1">
                <a:solidFill>
                  <a:srgbClr val="118F91"/>
                </a:solidFill>
                <a:latin typeface="Arial Narrow"/>
              </a:defRPr>
            </a:pPr>
            <a:r>
              <a:rPr sz="1400" dirty="0">
                <a:latin typeface="Tahoma" panose="020B0604030504040204" pitchFamily="34" charset="0"/>
              </a:rPr>
              <a:t>4,4/5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17719" y="2075962"/>
            <a:ext cx="1645920" cy="5232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defRPr sz="730" b="1">
                <a:solidFill>
                  <a:srgbClr val="677180"/>
                </a:solidFill>
                <a:latin typeface="Arial"/>
              </a:defRPr>
            </a:pPr>
            <a:r>
              <a:rPr sz="1400" dirty="0" err="1">
                <a:latin typeface="Tahoma" panose="020B0604030504040204" pitchFamily="34" charset="0"/>
              </a:rPr>
              <a:t>Điểm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hữu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ích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hoạt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động</a:t>
            </a:r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6611111" y="1703070"/>
            <a:ext cx="1755648" cy="841248"/>
          </a:xfrm>
          <a:prstGeom prst="roundRect">
            <a:avLst/>
          </a:prstGeom>
          <a:solidFill>
            <a:srgbClr val="F7F9FD"/>
          </a:solidFill>
          <a:ln>
            <a:solidFill>
              <a:srgbClr val="D9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665975" y="1831086"/>
            <a:ext cx="1645920" cy="307777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defRPr sz="1850" b="1">
                <a:solidFill>
                  <a:srgbClr val="2A975D"/>
                </a:solidFill>
                <a:latin typeface="Arial Narrow"/>
              </a:defRPr>
            </a:pPr>
            <a:r>
              <a:rPr sz="1400" dirty="0">
                <a:latin typeface="Tahoma" panose="020B0604030504040204" pitchFamily="34" charset="0"/>
              </a:rPr>
              <a:t>90%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11111" y="2075962"/>
            <a:ext cx="1645920" cy="5232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defRPr sz="730" b="1">
                <a:solidFill>
                  <a:srgbClr val="677180"/>
                </a:solidFill>
                <a:latin typeface="Arial"/>
              </a:defRPr>
            </a:pPr>
            <a:r>
              <a:rPr sz="1400" dirty="0" err="1">
                <a:latin typeface="Tahoma" panose="020B0604030504040204" pitchFamily="34" charset="0"/>
              </a:rPr>
              <a:t>Kiến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nghị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có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phản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hồi</a:t>
            </a:r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8604503" y="1703070"/>
            <a:ext cx="1755648" cy="841248"/>
          </a:xfrm>
          <a:prstGeom prst="roundRect">
            <a:avLst/>
          </a:prstGeom>
          <a:solidFill>
            <a:srgbClr val="F7F9FD"/>
          </a:solidFill>
          <a:ln>
            <a:solidFill>
              <a:srgbClr val="D9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8659367" y="1831086"/>
            <a:ext cx="1645920" cy="307777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defRPr sz="1850" b="1">
                <a:solidFill>
                  <a:srgbClr val="E87823"/>
                </a:solidFill>
                <a:latin typeface="Arial Narrow"/>
              </a:defRPr>
            </a:pPr>
            <a:r>
              <a:rPr sz="1400" dirty="0">
                <a:latin typeface="Tahoma" panose="020B0604030504040204" pitchFamily="34" charset="0"/>
              </a:rPr>
              <a:t>12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04503" y="2075962"/>
            <a:ext cx="1645920" cy="5232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defRPr sz="730" b="1">
                <a:solidFill>
                  <a:srgbClr val="677180"/>
                </a:solidFill>
                <a:latin typeface="Arial"/>
              </a:defRPr>
            </a:pPr>
            <a:r>
              <a:rPr sz="1400" dirty="0">
                <a:latin typeface="Tahoma" panose="020B0604030504040204" pitchFamily="34" charset="0"/>
              </a:rPr>
              <a:t>Ý </a:t>
            </a:r>
            <a:r>
              <a:rPr sz="1400" dirty="0" err="1">
                <a:latin typeface="Tahoma" panose="020B0604030504040204" pitchFamily="34" charset="0"/>
              </a:rPr>
              <a:t>kiến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mới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tháng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này</a:t>
            </a:r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2624326" y="2846070"/>
            <a:ext cx="2834640" cy="2377440"/>
          </a:xfrm>
          <a:prstGeom prst="roundRect">
            <a:avLst/>
          </a:prstGeom>
          <a:solidFill>
            <a:srgbClr val="FFFFFF"/>
          </a:solidFill>
          <a:ln>
            <a:solidFill>
              <a:srgbClr val="D9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2825495" y="2974086"/>
            <a:ext cx="2468879" cy="307777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310" b="1">
                <a:solidFill>
                  <a:srgbClr val="051F71"/>
                </a:solidFill>
                <a:latin typeface="Arial"/>
              </a:defRPr>
            </a:pPr>
            <a:r>
              <a:rPr sz="1400" dirty="0">
                <a:latin typeface="Tahoma" panose="020B0604030504040204" pitchFamily="34" charset="0"/>
              </a:rPr>
              <a:t>TOP NHU </a:t>
            </a:r>
            <a:r>
              <a:rPr sz="1400" dirty="0" err="1">
                <a:latin typeface="Tahoma" panose="020B0604030504040204" pitchFamily="34" charset="0"/>
              </a:rPr>
              <a:t>CẦU</a:t>
            </a:r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2843782" y="3422141"/>
            <a:ext cx="2395728" cy="14003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50"/>
              </a:spcAft>
              <a:defRPr sz="869">
                <a:solidFill>
                  <a:srgbClr val="202838"/>
                </a:solidFill>
                <a:latin typeface="Arial"/>
              </a:defRPr>
            </a:pPr>
            <a:r>
              <a:rPr sz="1400" dirty="0">
                <a:latin typeface="Tahoma" panose="020B0604030504040204" pitchFamily="34" charset="0"/>
              </a:rPr>
              <a:t>• </a:t>
            </a:r>
            <a:r>
              <a:rPr sz="1400" dirty="0" err="1">
                <a:latin typeface="Tahoma" panose="020B0604030504040204" pitchFamily="34" charset="0"/>
              </a:rPr>
              <a:t>Sức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khỏe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tinh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thần</a:t>
            </a:r>
            <a:endParaRPr sz="1400" dirty="0">
              <a:latin typeface="Tahoma" panose="020B0604030504040204" pitchFamily="34" charset="0"/>
            </a:endParaRPr>
          </a:p>
          <a:p>
            <a:pPr>
              <a:spcAft>
                <a:spcPts val="550"/>
              </a:spcAft>
              <a:defRPr sz="869">
                <a:solidFill>
                  <a:srgbClr val="202838"/>
                </a:solidFill>
                <a:latin typeface="Arial"/>
              </a:defRPr>
            </a:pPr>
            <a:r>
              <a:rPr sz="1400" dirty="0">
                <a:latin typeface="Tahoma" panose="020B0604030504040204" pitchFamily="34" charset="0"/>
              </a:rPr>
              <a:t>• </a:t>
            </a:r>
            <a:r>
              <a:rPr sz="1400" dirty="0" err="1">
                <a:latin typeface="Tahoma" panose="020B0604030504040204" pitchFamily="34" charset="0"/>
              </a:rPr>
              <a:t>Kết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nối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liên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phòng</a:t>
            </a:r>
            <a:r>
              <a:rPr sz="1400" dirty="0">
                <a:latin typeface="Tahoma" panose="020B0604030504040204" pitchFamily="34" charset="0"/>
              </a:rPr>
              <a:t> ban</a:t>
            </a:r>
          </a:p>
          <a:p>
            <a:pPr>
              <a:spcAft>
                <a:spcPts val="550"/>
              </a:spcAft>
              <a:defRPr sz="869">
                <a:solidFill>
                  <a:srgbClr val="202838"/>
                </a:solidFill>
                <a:latin typeface="Arial"/>
              </a:defRPr>
            </a:pPr>
            <a:r>
              <a:rPr sz="1400" dirty="0">
                <a:latin typeface="Tahoma" panose="020B0604030504040204" pitchFamily="34" charset="0"/>
              </a:rPr>
              <a:t>• Ca </a:t>
            </a:r>
            <a:r>
              <a:rPr sz="1400" dirty="0" err="1">
                <a:latin typeface="Tahoma" panose="020B0604030504040204" pitchFamily="34" charset="0"/>
              </a:rPr>
              <a:t>làm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việc</a:t>
            </a:r>
            <a:r>
              <a:rPr sz="1400" dirty="0">
                <a:latin typeface="Tahoma" panose="020B0604030504040204" pitchFamily="34" charset="0"/>
              </a:rPr>
              <a:t>/</a:t>
            </a:r>
            <a:r>
              <a:rPr sz="1400" dirty="0" err="1">
                <a:latin typeface="Tahoma" panose="020B0604030504040204" pitchFamily="34" charset="0"/>
              </a:rPr>
              <a:t>điều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kiện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tuyến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đầu</a:t>
            </a:r>
            <a:endParaRPr sz="1400" dirty="0">
              <a:latin typeface="Tahoma" panose="020B0604030504040204" pitchFamily="34" charset="0"/>
            </a:endParaRPr>
          </a:p>
          <a:p>
            <a:pPr>
              <a:spcAft>
                <a:spcPts val="550"/>
              </a:spcAft>
              <a:defRPr sz="869">
                <a:solidFill>
                  <a:srgbClr val="202838"/>
                </a:solidFill>
                <a:latin typeface="Arial"/>
              </a:defRPr>
            </a:pPr>
            <a:r>
              <a:rPr sz="1400" dirty="0">
                <a:latin typeface="Tahoma" panose="020B0604030504040204" pitchFamily="34" charset="0"/>
              </a:rPr>
              <a:t>• </a:t>
            </a:r>
            <a:r>
              <a:rPr sz="1400" dirty="0" err="1">
                <a:latin typeface="Tahoma" panose="020B0604030504040204" pitchFamily="34" charset="0"/>
              </a:rPr>
              <a:t>Chương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trình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gia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đình</a:t>
            </a:r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33" name="Rounded Rectangle 32"/>
          <p:cNvSpPr/>
          <p:nvPr/>
        </p:nvSpPr>
        <p:spPr>
          <a:xfrm>
            <a:off x="5733287" y="2846070"/>
            <a:ext cx="2834640" cy="2377440"/>
          </a:xfrm>
          <a:prstGeom prst="roundRect">
            <a:avLst/>
          </a:prstGeom>
          <a:solidFill>
            <a:srgbClr val="FFFFFF"/>
          </a:solidFill>
          <a:ln>
            <a:solidFill>
              <a:srgbClr val="D9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5934454" y="2974086"/>
            <a:ext cx="2468880" cy="307777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310" b="1">
                <a:solidFill>
                  <a:srgbClr val="118F91"/>
                </a:solidFill>
                <a:latin typeface="Arial"/>
              </a:defRPr>
            </a:pPr>
            <a:r>
              <a:rPr sz="1400" dirty="0">
                <a:latin typeface="Tahoma" panose="020B0604030504040204" pitchFamily="34" charset="0"/>
              </a:rPr>
              <a:t>TOP </a:t>
            </a:r>
            <a:r>
              <a:rPr sz="1400" dirty="0" err="1">
                <a:latin typeface="Tahoma" panose="020B0604030504040204" pitchFamily="34" charset="0"/>
              </a:rPr>
              <a:t>KIẾN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NGHỊ</a:t>
            </a:r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5952743" y="3422141"/>
            <a:ext cx="2395728" cy="11849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50"/>
              </a:spcAft>
              <a:defRPr sz="869">
                <a:solidFill>
                  <a:srgbClr val="202838"/>
                </a:solidFill>
                <a:latin typeface="Arial"/>
              </a:defRPr>
            </a:pPr>
            <a:r>
              <a:rPr sz="1400" dirty="0">
                <a:latin typeface="Tahoma" panose="020B0604030504040204" pitchFamily="34" charset="0"/>
              </a:rPr>
              <a:t>• </a:t>
            </a:r>
            <a:r>
              <a:rPr sz="1400" dirty="0" err="1">
                <a:latin typeface="Tahoma" panose="020B0604030504040204" pitchFamily="34" charset="0"/>
              </a:rPr>
              <a:t>Điều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kiện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làm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việc</a:t>
            </a:r>
            <a:endParaRPr sz="1400" dirty="0">
              <a:latin typeface="Tahoma" panose="020B0604030504040204" pitchFamily="34" charset="0"/>
            </a:endParaRPr>
          </a:p>
          <a:p>
            <a:pPr>
              <a:spcAft>
                <a:spcPts val="550"/>
              </a:spcAft>
              <a:defRPr sz="869">
                <a:solidFill>
                  <a:srgbClr val="202838"/>
                </a:solidFill>
                <a:latin typeface="Arial"/>
              </a:defRPr>
            </a:pPr>
            <a:r>
              <a:rPr sz="1400" dirty="0">
                <a:latin typeface="Tahoma" panose="020B0604030504040204" pitchFamily="34" charset="0"/>
              </a:rPr>
              <a:t>• Phúc </a:t>
            </a:r>
            <a:r>
              <a:rPr sz="1400" dirty="0" err="1">
                <a:latin typeface="Tahoma" panose="020B0604030504040204" pitchFamily="34" charset="0"/>
              </a:rPr>
              <a:t>lợi</a:t>
            </a:r>
            <a:endParaRPr sz="1400" dirty="0">
              <a:latin typeface="Tahoma" panose="020B0604030504040204" pitchFamily="34" charset="0"/>
            </a:endParaRPr>
          </a:p>
          <a:p>
            <a:pPr>
              <a:spcAft>
                <a:spcPts val="550"/>
              </a:spcAft>
              <a:defRPr sz="869">
                <a:solidFill>
                  <a:srgbClr val="202838"/>
                </a:solidFill>
                <a:latin typeface="Arial"/>
              </a:defRPr>
            </a:pPr>
            <a:r>
              <a:rPr sz="1400" dirty="0">
                <a:latin typeface="Tahoma" panose="020B0604030504040204" pitchFamily="34" charset="0"/>
              </a:rPr>
              <a:t>• Phối </a:t>
            </a:r>
            <a:r>
              <a:rPr sz="1400" dirty="0" err="1">
                <a:latin typeface="Tahoma" panose="020B0604030504040204" pitchFamily="34" charset="0"/>
              </a:rPr>
              <a:t>hợp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nội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bộ</a:t>
            </a:r>
            <a:endParaRPr sz="1400" dirty="0">
              <a:latin typeface="Tahoma" panose="020B0604030504040204" pitchFamily="34" charset="0"/>
            </a:endParaRPr>
          </a:p>
          <a:p>
            <a:pPr>
              <a:spcAft>
                <a:spcPts val="550"/>
              </a:spcAft>
              <a:defRPr sz="869">
                <a:solidFill>
                  <a:srgbClr val="202838"/>
                </a:solidFill>
                <a:latin typeface="Arial"/>
              </a:defRPr>
            </a:pPr>
            <a:r>
              <a:rPr sz="1400" dirty="0">
                <a:latin typeface="Tahoma" panose="020B0604030504040204" pitchFamily="34" charset="0"/>
              </a:rPr>
              <a:t>• Đào </a:t>
            </a:r>
            <a:r>
              <a:rPr sz="1400" dirty="0" err="1">
                <a:latin typeface="Tahoma" panose="020B0604030504040204" pitchFamily="34" charset="0"/>
              </a:rPr>
              <a:t>tạo</a:t>
            </a:r>
            <a:r>
              <a:rPr sz="1400" dirty="0">
                <a:latin typeface="Tahoma" panose="020B0604030504040204" pitchFamily="34" charset="0"/>
              </a:rPr>
              <a:t>/</a:t>
            </a:r>
            <a:r>
              <a:rPr sz="1400" dirty="0" err="1">
                <a:latin typeface="Tahoma" panose="020B0604030504040204" pitchFamily="34" charset="0"/>
              </a:rPr>
              <a:t>kỹ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năng</a:t>
            </a:r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36" name="Rounded Rectangle 35"/>
          <p:cNvSpPr/>
          <p:nvPr/>
        </p:nvSpPr>
        <p:spPr>
          <a:xfrm>
            <a:off x="8842247" y="2846070"/>
            <a:ext cx="2423160" cy="2377440"/>
          </a:xfrm>
          <a:prstGeom prst="roundRect">
            <a:avLst/>
          </a:prstGeom>
          <a:solidFill>
            <a:srgbClr val="FFFFFF"/>
          </a:solidFill>
          <a:ln>
            <a:solidFill>
              <a:srgbClr val="D9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 dirty="0">
              <a:latin typeface="Tahoma" panose="020B0604030504040204" pitchFamily="34" charset="0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9043415" y="2974086"/>
            <a:ext cx="2057399" cy="307777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310" b="1">
                <a:solidFill>
                  <a:srgbClr val="E87823"/>
                </a:solidFill>
                <a:latin typeface="Arial"/>
              </a:defRPr>
            </a:pPr>
            <a:r>
              <a:rPr sz="1400" dirty="0" err="1">
                <a:latin typeface="Tahoma" panose="020B0604030504040204" pitchFamily="34" charset="0"/>
              </a:rPr>
              <a:t>ĐIỂM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CẦN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CHÚ</a:t>
            </a:r>
            <a:r>
              <a:rPr sz="1400" dirty="0">
                <a:latin typeface="Tahoma" panose="020B0604030504040204" pitchFamily="34" charset="0"/>
              </a:rPr>
              <a:t> Ý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61703" y="3422141"/>
            <a:ext cx="1984248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50"/>
              </a:spcAft>
              <a:defRPr sz="850">
                <a:solidFill>
                  <a:srgbClr val="202838"/>
                </a:solidFill>
                <a:latin typeface="Arial"/>
              </a:defRPr>
            </a:pPr>
            <a:r>
              <a:rPr sz="1400" dirty="0">
                <a:latin typeface="Tahoma" panose="020B0604030504040204" pitchFamily="34" charset="0"/>
              </a:rPr>
              <a:t>• 2 </a:t>
            </a:r>
            <a:r>
              <a:rPr sz="1400" dirty="0" err="1">
                <a:latin typeface="Tahoma" panose="020B0604030504040204" pitchFamily="34" charset="0"/>
              </a:rPr>
              <a:t>vụ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việc</a:t>
            </a:r>
            <a:r>
              <a:rPr sz="1400" dirty="0">
                <a:latin typeface="Tahoma" panose="020B0604030504040204" pitchFamily="34" charset="0"/>
              </a:rPr>
              <a:t> &gt; 7 </a:t>
            </a:r>
            <a:r>
              <a:rPr sz="1400" dirty="0" err="1">
                <a:latin typeface="Tahoma" panose="020B0604030504040204" pitchFamily="34" charset="0"/>
              </a:rPr>
              <a:t>ngày</a:t>
            </a:r>
            <a:endParaRPr sz="1400" dirty="0">
              <a:latin typeface="Tahoma" panose="020B0604030504040204" pitchFamily="34" charset="0"/>
            </a:endParaRPr>
          </a:p>
          <a:p>
            <a:pPr>
              <a:spcAft>
                <a:spcPts val="550"/>
              </a:spcAft>
              <a:defRPr sz="850">
                <a:solidFill>
                  <a:srgbClr val="202838"/>
                </a:solidFill>
                <a:latin typeface="Arial"/>
              </a:defRPr>
            </a:pPr>
            <a:r>
              <a:rPr sz="1400" dirty="0">
                <a:latin typeface="Tahoma" panose="020B0604030504040204" pitchFamily="34" charset="0"/>
              </a:rPr>
              <a:t>• 1 </a:t>
            </a:r>
            <a:r>
              <a:rPr sz="1400" dirty="0" err="1">
                <a:latin typeface="Tahoma" panose="020B0604030504040204" pitchFamily="34" charset="0"/>
              </a:rPr>
              <a:t>đơn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vị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phản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hồi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khảo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sát</a:t>
            </a:r>
            <a:r>
              <a:rPr sz="1400" dirty="0">
                <a:latin typeface="Tahoma" panose="020B0604030504040204" pitchFamily="34" charset="0"/>
              </a:rPr>
              <a:t> &lt;50%</a:t>
            </a:r>
          </a:p>
          <a:p>
            <a:pPr>
              <a:spcAft>
                <a:spcPts val="550"/>
              </a:spcAft>
              <a:defRPr sz="850">
                <a:solidFill>
                  <a:srgbClr val="202838"/>
                </a:solidFill>
                <a:latin typeface="Arial"/>
              </a:defRPr>
            </a:pPr>
            <a:r>
              <a:rPr sz="1400" dirty="0">
                <a:latin typeface="Tahoma" panose="020B0604030504040204" pitchFamily="34" charset="0"/>
              </a:rPr>
              <a:t>• 1 </a:t>
            </a:r>
            <a:r>
              <a:rPr sz="1400" dirty="0" err="1">
                <a:latin typeface="Tahoma" panose="020B0604030504040204" pitchFamily="34" charset="0"/>
              </a:rPr>
              <a:t>hoạt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động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có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điểm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hữu</a:t>
            </a:r>
            <a:r>
              <a:rPr sz="1400" dirty="0">
                <a:latin typeface="Tahoma" panose="020B0604030504040204" pitchFamily="34" charset="0"/>
              </a:rPr>
              <a:t> </a:t>
            </a:r>
            <a:r>
              <a:rPr sz="1400" dirty="0" err="1">
                <a:latin typeface="Tahoma" panose="020B0604030504040204" pitchFamily="34" charset="0"/>
              </a:rPr>
              <a:t>ích</a:t>
            </a:r>
            <a:r>
              <a:rPr sz="1400" dirty="0">
                <a:latin typeface="Tahoma" panose="020B0604030504040204" pitchFamily="34" charset="0"/>
              </a:rPr>
              <a:t> &lt;3,5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608" y="82296"/>
            <a:ext cx="960120" cy="548640"/>
          </a:xfrm>
          <a:prstGeom prst="rect">
            <a:avLst/>
          </a:prstGeom>
        </p:spPr>
      </p:pic>
      <p:pic>
        <p:nvPicPr>
          <p:cNvPr id="3" name="Picture 2" descr="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64008"/>
            <a:ext cx="646818" cy="585216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274320" y="749808"/>
            <a:ext cx="11649456" cy="22860"/>
          </a:xfrm>
          <a:prstGeom prst="rect">
            <a:avLst/>
          </a:prstGeom>
          <a:solidFill>
            <a:srgbClr val="051F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Tahoma" panose="020B0604030504040204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20040" y="6483096"/>
            <a:ext cx="2077813" cy="22313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051F71"/>
                </a:solidFill>
                <a:latin typeface="Arial"/>
              </a:defRPr>
            </a:pPr>
            <a:r>
              <a:rPr dirty="0">
                <a:latin typeface="Tahoma" panose="020B0604030504040204" pitchFamily="34" charset="0"/>
              </a:rPr>
              <a:t>CÔNG ĐOÀN GPG | GPG TRADE UNION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25105" y="6473952"/>
            <a:ext cx="947695" cy="21839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19">
                <a:solidFill>
                  <a:srgbClr val="677180"/>
                </a:solidFill>
                <a:latin typeface="Arial"/>
              </a:defRPr>
            </a:pPr>
            <a:r>
              <a:rPr dirty="0">
                <a:latin typeface="Tahoma" panose="020B0604030504040204" pitchFamily="34" charset="0"/>
              </a:rPr>
              <a:t>IV. DASHBOARD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93198" y="6455664"/>
            <a:ext cx="338554" cy="2385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051F71"/>
                </a:solidFill>
                <a:latin typeface="Arial"/>
              </a:defRPr>
            </a:pPr>
            <a:r>
              <a:rPr dirty="0">
                <a:latin typeface="Tahoma" panose="020B0604030504040204" pitchFamily="34" charset="0"/>
              </a:rPr>
              <a:t>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7833" y="167375"/>
            <a:ext cx="12691295" cy="50013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50" b="1">
                <a:solidFill>
                  <a:srgbClr val="051F71"/>
                </a:solidFill>
                <a:latin typeface="Arial Narrow"/>
              </a:defRPr>
            </a:pPr>
            <a:r>
              <a:rPr dirty="0">
                <a:latin typeface="Tahoma" panose="020B0604030504040204" pitchFamily="34" charset="0"/>
              </a:rPr>
              <a:t>KPI CÔNG ĐOÀN – </a:t>
            </a:r>
            <a:r>
              <a:rPr dirty="0" err="1">
                <a:latin typeface="Tahoma" panose="020B0604030504040204" pitchFamily="34" charset="0"/>
              </a:rPr>
              <a:t>ĐO</a:t>
            </a:r>
            <a:r>
              <a:rPr dirty="0">
                <a:latin typeface="Tahoma" panose="020B0604030504040204" pitchFamily="34" charset="0"/>
              </a:rPr>
              <a:t> </a:t>
            </a:r>
            <a:r>
              <a:rPr dirty="0" err="1">
                <a:latin typeface="Tahoma" panose="020B0604030504040204" pitchFamily="34" charset="0"/>
              </a:rPr>
              <a:t>GIÁ</a:t>
            </a:r>
            <a:r>
              <a:rPr dirty="0">
                <a:latin typeface="Tahoma" panose="020B0604030504040204" pitchFamily="34" charset="0"/>
              </a:rPr>
              <a:t> TRỊ </a:t>
            </a:r>
            <a:r>
              <a:rPr dirty="0" err="1">
                <a:latin typeface="Tahoma" panose="020B0604030504040204" pitchFamily="34" charset="0"/>
              </a:rPr>
              <a:t>TẠO</a:t>
            </a:r>
            <a:r>
              <a:rPr dirty="0">
                <a:latin typeface="Tahoma" panose="020B0604030504040204" pitchFamily="34" charset="0"/>
              </a:rPr>
              <a:t> RA, </a:t>
            </a:r>
            <a:r>
              <a:rPr dirty="0" err="1">
                <a:latin typeface="Tahoma" panose="020B0604030504040204" pitchFamily="34" charset="0"/>
              </a:rPr>
              <a:t>KHÔNG</a:t>
            </a:r>
            <a:r>
              <a:rPr dirty="0">
                <a:latin typeface="Tahoma" panose="020B0604030504040204" pitchFamily="34" charset="0"/>
              </a:rPr>
              <a:t> </a:t>
            </a:r>
            <a:r>
              <a:rPr dirty="0" err="1">
                <a:latin typeface="Tahoma" panose="020B0604030504040204" pitchFamily="34" charset="0"/>
              </a:rPr>
              <a:t>CHỈ</a:t>
            </a:r>
            <a:r>
              <a:rPr dirty="0">
                <a:latin typeface="Tahoma" panose="020B0604030504040204" pitchFamily="34" charset="0"/>
              </a:rPr>
              <a:t> </a:t>
            </a:r>
            <a:r>
              <a:rPr dirty="0" err="1">
                <a:latin typeface="Tahoma" panose="020B0604030504040204" pitchFamily="34" charset="0"/>
              </a:rPr>
              <a:t>ĐẾM</a:t>
            </a:r>
            <a:r>
              <a:rPr dirty="0">
                <a:latin typeface="Tahoma" panose="020B0604030504040204" pitchFamily="34" charset="0"/>
              </a:rPr>
              <a:t> </a:t>
            </a:r>
            <a:r>
              <a:rPr dirty="0" err="1">
                <a:latin typeface="Tahoma" panose="020B0604030504040204" pitchFamily="34" charset="0"/>
              </a:rPr>
              <a:t>SỐ</a:t>
            </a:r>
            <a:r>
              <a:rPr dirty="0">
                <a:latin typeface="Tahoma" panose="020B0604030504040204" pitchFamily="34" charset="0"/>
              </a:rPr>
              <a:t> </a:t>
            </a:r>
            <a:r>
              <a:rPr dirty="0" err="1">
                <a:latin typeface="Tahoma" panose="020B0604030504040204" pitchFamily="34" charset="0"/>
              </a:rPr>
              <a:t>HOẠT</a:t>
            </a:r>
            <a:r>
              <a:rPr dirty="0">
                <a:latin typeface="Tahoma" panose="020B0604030504040204" pitchFamily="34" charset="0"/>
              </a:rPr>
              <a:t> </a:t>
            </a:r>
            <a:r>
              <a:rPr dirty="0" err="1">
                <a:latin typeface="Tahoma" panose="020B0604030504040204" pitchFamily="34" charset="0"/>
              </a:rPr>
              <a:t>ĐỘNG</a:t>
            </a:r>
            <a:endParaRPr dirty="0">
              <a:latin typeface="Tahoma" panose="020B0604030504040204" pitchFamily="34" charset="0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411480" y="1600200"/>
            <a:ext cx="1993392" cy="1627632"/>
          </a:xfrm>
          <a:prstGeom prst="roundRect">
            <a:avLst/>
          </a:prstGeom>
          <a:solidFill>
            <a:srgbClr val="FFFFFF"/>
          </a:solidFill>
          <a:ln>
            <a:solidFill>
              <a:srgbClr val="D9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Tahoma" panose="020B0604030504040204" pitchFamily="34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02920" y="1737360"/>
            <a:ext cx="1810512" cy="477054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defRPr sz="2500" b="1">
                <a:solidFill>
                  <a:srgbClr val="051F71"/>
                </a:solidFill>
                <a:latin typeface="Arial Narrow"/>
              </a:defRPr>
            </a:pPr>
            <a:r>
              <a:rPr dirty="0">
                <a:latin typeface="Tahoma" panose="020B0604030504040204" pitchFamily="34" charset="0"/>
              </a:rPr>
              <a:t>≥95%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8" y="2258568"/>
            <a:ext cx="1773936" cy="584775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defRPr sz="980" b="1">
                <a:solidFill>
                  <a:srgbClr val="202838"/>
                </a:solidFill>
                <a:latin typeface="Arial"/>
              </a:defRPr>
            </a:pPr>
            <a:r>
              <a:rPr sz="1600" dirty="0" err="1">
                <a:latin typeface="Tahoma" panose="020B0604030504040204" pitchFamily="34" charset="0"/>
              </a:rPr>
              <a:t>Chính</a:t>
            </a:r>
            <a:r>
              <a:rPr sz="1600" dirty="0">
                <a:latin typeface="Tahoma" panose="020B0604030504040204" pitchFamily="34" charset="0"/>
              </a:rPr>
              <a:t> </a:t>
            </a:r>
            <a:r>
              <a:rPr sz="1600" dirty="0" err="1">
                <a:latin typeface="Tahoma" panose="020B0604030504040204" pitchFamily="34" charset="0"/>
              </a:rPr>
              <a:t>sách</a:t>
            </a:r>
            <a:r>
              <a:rPr sz="1600" dirty="0">
                <a:latin typeface="Tahoma" panose="020B0604030504040204" pitchFamily="34" charset="0"/>
              </a:rPr>
              <a:t> </a:t>
            </a:r>
            <a:r>
              <a:rPr sz="1600" dirty="0" err="1">
                <a:latin typeface="Tahoma" panose="020B0604030504040204" pitchFamily="34" charset="0"/>
              </a:rPr>
              <a:t>chăm</a:t>
            </a:r>
            <a:r>
              <a:rPr sz="1600" dirty="0">
                <a:latin typeface="Tahoma" panose="020B0604030504040204" pitchFamily="34" charset="0"/>
              </a:rPr>
              <a:t> lo </a:t>
            </a:r>
            <a:r>
              <a:rPr sz="1600" dirty="0" err="1">
                <a:latin typeface="Tahoma" panose="020B0604030504040204" pitchFamily="34" charset="0"/>
              </a:rPr>
              <a:t>đúng</a:t>
            </a:r>
            <a:r>
              <a:rPr sz="1600" dirty="0">
                <a:latin typeface="Tahoma" panose="020B0604030504040204" pitchFamily="34" charset="0"/>
              </a:rPr>
              <a:t> </a:t>
            </a:r>
            <a:r>
              <a:rPr sz="1600" dirty="0" err="1">
                <a:latin typeface="Tahoma" panose="020B0604030504040204" pitchFamily="34" charset="0"/>
              </a:rPr>
              <a:t>hạn</a:t>
            </a:r>
            <a:endParaRPr sz="1600" dirty="0">
              <a:latin typeface="Tahoma" panose="020B0604030504040204" pitchFamily="34" charset="0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2743200" y="1600200"/>
            <a:ext cx="1993392" cy="1627632"/>
          </a:xfrm>
          <a:prstGeom prst="roundRect">
            <a:avLst/>
          </a:prstGeom>
          <a:solidFill>
            <a:srgbClr val="FFFFFF"/>
          </a:solidFill>
          <a:ln>
            <a:solidFill>
              <a:srgbClr val="D9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Tahoma" panose="020B0604030504040204" pitchFamily="3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834640" y="1737360"/>
            <a:ext cx="1810512" cy="477054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defRPr sz="2500" b="1">
                <a:solidFill>
                  <a:srgbClr val="118F91"/>
                </a:solidFill>
                <a:latin typeface="Arial Narrow"/>
              </a:defRPr>
            </a:pPr>
            <a:r>
              <a:rPr dirty="0">
                <a:latin typeface="Tahoma" panose="020B0604030504040204" pitchFamily="34" charset="0"/>
              </a:rPr>
              <a:t>100%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52928" y="2258568"/>
            <a:ext cx="1773936" cy="584775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defRPr sz="980" b="1">
                <a:solidFill>
                  <a:srgbClr val="202838"/>
                </a:solidFill>
                <a:latin typeface="Arial"/>
              </a:defRPr>
            </a:pPr>
            <a:r>
              <a:rPr sz="1600" dirty="0" err="1">
                <a:latin typeface="Tahoma" panose="020B0604030504040204" pitchFamily="34" charset="0"/>
              </a:rPr>
              <a:t>Vụ</a:t>
            </a:r>
            <a:r>
              <a:rPr sz="1600" dirty="0">
                <a:latin typeface="Tahoma" panose="020B0604030504040204" pitchFamily="34" charset="0"/>
              </a:rPr>
              <a:t> </a:t>
            </a:r>
            <a:r>
              <a:rPr sz="1600" dirty="0" err="1">
                <a:latin typeface="Tahoma" panose="020B0604030504040204" pitchFamily="34" charset="0"/>
              </a:rPr>
              <a:t>việc</a:t>
            </a:r>
            <a:r>
              <a:rPr sz="1600" dirty="0">
                <a:latin typeface="Tahoma" panose="020B0604030504040204" pitchFamily="34" charset="0"/>
              </a:rPr>
              <a:t> </a:t>
            </a:r>
            <a:r>
              <a:rPr sz="1600" dirty="0" err="1">
                <a:latin typeface="Tahoma" panose="020B0604030504040204" pitchFamily="34" charset="0"/>
              </a:rPr>
              <a:t>có</a:t>
            </a:r>
            <a:r>
              <a:rPr sz="1600" dirty="0">
                <a:latin typeface="Tahoma" panose="020B0604030504040204" pitchFamily="34" charset="0"/>
              </a:rPr>
              <a:t> PIC &amp; deadline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74920" y="1600200"/>
            <a:ext cx="1993392" cy="1627632"/>
          </a:xfrm>
          <a:prstGeom prst="roundRect">
            <a:avLst/>
          </a:prstGeom>
          <a:solidFill>
            <a:srgbClr val="FFFFFF"/>
          </a:solidFill>
          <a:ln>
            <a:solidFill>
              <a:srgbClr val="D9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Tahoma" panose="020B0604030504040204" pitchFamily="34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166359" y="1737360"/>
            <a:ext cx="1810512" cy="477054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defRPr sz="2500" b="1">
                <a:solidFill>
                  <a:srgbClr val="2E63DC"/>
                </a:solidFill>
                <a:latin typeface="Arial Narrow"/>
              </a:defRPr>
            </a:pPr>
            <a:r>
              <a:rPr dirty="0">
                <a:latin typeface="Tahoma" panose="020B0604030504040204" pitchFamily="34" charset="0"/>
              </a:rPr>
              <a:t>≥90%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84648" y="2258568"/>
            <a:ext cx="1773936" cy="830997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defRPr sz="980" b="1">
                <a:solidFill>
                  <a:srgbClr val="202838"/>
                </a:solidFill>
                <a:latin typeface="Arial"/>
              </a:defRPr>
            </a:pPr>
            <a:r>
              <a:rPr sz="1600" dirty="0" err="1">
                <a:latin typeface="Tahoma" panose="020B0604030504040204" pitchFamily="34" charset="0"/>
              </a:rPr>
              <a:t>Kiến</a:t>
            </a:r>
            <a:r>
              <a:rPr sz="1600" dirty="0">
                <a:latin typeface="Tahoma" panose="020B0604030504040204" pitchFamily="34" charset="0"/>
              </a:rPr>
              <a:t> </a:t>
            </a:r>
            <a:r>
              <a:rPr sz="1600" dirty="0" err="1">
                <a:latin typeface="Tahoma" panose="020B0604030504040204" pitchFamily="34" charset="0"/>
              </a:rPr>
              <a:t>nghị</a:t>
            </a:r>
            <a:r>
              <a:rPr sz="1600" dirty="0">
                <a:latin typeface="Tahoma" panose="020B0604030504040204" pitchFamily="34" charset="0"/>
              </a:rPr>
              <a:t> </a:t>
            </a:r>
            <a:r>
              <a:rPr sz="1600" dirty="0" err="1">
                <a:latin typeface="Tahoma" panose="020B0604030504040204" pitchFamily="34" charset="0"/>
              </a:rPr>
              <a:t>có</a:t>
            </a:r>
            <a:r>
              <a:rPr sz="1600" dirty="0">
                <a:latin typeface="Tahoma" panose="020B0604030504040204" pitchFamily="34" charset="0"/>
              </a:rPr>
              <a:t> </a:t>
            </a:r>
            <a:r>
              <a:rPr sz="1600" dirty="0" err="1">
                <a:latin typeface="Tahoma" panose="020B0604030504040204" pitchFamily="34" charset="0"/>
              </a:rPr>
              <a:t>phản</a:t>
            </a:r>
            <a:r>
              <a:rPr sz="1600" dirty="0">
                <a:latin typeface="Tahoma" panose="020B0604030504040204" pitchFamily="34" charset="0"/>
              </a:rPr>
              <a:t> </a:t>
            </a:r>
            <a:r>
              <a:rPr sz="1600" dirty="0" err="1">
                <a:latin typeface="Tahoma" panose="020B0604030504040204" pitchFamily="34" charset="0"/>
              </a:rPr>
              <a:t>hồi</a:t>
            </a:r>
            <a:r>
              <a:rPr sz="1600" dirty="0">
                <a:latin typeface="Tahoma" panose="020B0604030504040204" pitchFamily="34" charset="0"/>
              </a:rPr>
              <a:t>/</a:t>
            </a:r>
            <a:r>
              <a:rPr sz="1600" dirty="0" err="1">
                <a:latin typeface="Tahoma" panose="020B0604030504040204" pitchFamily="34" charset="0"/>
              </a:rPr>
              <a:t>kết</a:t>
            </a:r>
            <a:r>
              <a:rPr sz="1600" dirty="0">
                <a:latin typeface="Tahoma" panose="020B0604030504040204" pitchFamily="34" charset="0"/>
              </a:rPr>
              <a:t> </a:t>
            </a:r>
            <a:r>
              <a:rPr sz="1600" dirty="0" err="1">
                <a:latin typeface="Tahoma" panose="020B0604030504040204" pitchFamily="34" charset="0"/>
              </a:rPr>
              <a:t>quả</a:t>
            </a:r>
            <a:endParaRPr sz="1600" dirty="0">
              <a:latin typeface="Tahoma" panose="020B0604030504040204" pitchFamily="34" charset="0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7406640" y="1600200"/>
            <a:ext cx="1993392" cy="1627632"/>
          </a:xfrm>
          <a:prstGeom prst="roundRect">
            <a:avLst/>
          </a:prstGeom>
          <a:solidFill>
            <a:srgbClr val="FFFFFF"/>
          </a:solidFill>
          <a:ln>
            <a:solidFill>
              <a:srgbClr val="D9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Tahoma" panose="020B0604030504040204" pitchFamily="34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498079" y="1737360"/>
            <a:ext cx="1810512" cy="477054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defRPr sz="2500" b="1">
                <a:solidFill>
                  <a:srgbClr val="E87823"/>
                </a:solidFill>
                <a:latin typeface="Arial Narrow"/>
              </a:defRPr>
            </a:pPr>
            <a:r>
              <a:rPr dirty="0">
                <a:latin typeface="Tahoma" panose="020B0604030504040204" pitchFamily="34" charset="0"/>
              </a:rPr>
              <a:t>≥60%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16367" y="2258568"/>
            <a:ext cx="1773936" cy="584775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defRPr sz="980" b="1">
                <a:solidFill>
                  <a:srgbClr val="202838"/>
                </a:solidFill>
                <a:latin typeface="Arial"/>
              </a:defRPr>
            </a:pPr>
            <a:r>
              <a:rPr sz="1600" dirty="0" err="1">
                <a:latin typeface="Tahoma" panose="020B0604030504040204" pitchFamily="34" charset="0"/>
              </a:rPr>
              <a:t>CBNV</a:t>
            </a:r>
            <a:r>
              <a:rPr sz="1600" dirty="0">
                <a:latin typeface="Tahoma" panose="020B0604030504040204" pitchFamily="34" charset="0"/>
              </a:rPr>
              <a:t> </a:t>
            </a:r>
            <a:r>
              <a:rPr sz="1600" dirty="0" err="1">
                <a:latin typeface="Tahoma" panose="020B0604030504040204" pitchFamily="34" charset="0"/>
              </a:rPr>
              <a:t>phản</a:t>
            </a:r>
            <a:r>
              <a:rPr sz="1600" dirty="0">
                <a:latin typeface="Tahoma" panose="020B0604030504040204" pitchFamily="34" charset="0"/>
              </a:rPr>
              <a:t> </a:t>
            </a:r>
            <a:r>
              <a:rPr sz="1600" dirty="0" err="1">
                <a:latin typeface="Tahoma" panose="020B0604030504040204" pitchFamily="34" charset="0"/>
              </a:rPr>
              <a:t>hồi</a:t>
            </a:r>
            <a:r>
              <a:rPr sz="1600" dirty="0">
                <a:latin typeface="Tahoma" panose="020B0604030504040204" pitchFamily="34" charset="0"/>
              </a:rPr>
              <a:t> </a:t>
            </a:r>
            <a:r>
              <a:rPr sz="1600" dirty="0" err="1">
                <a:latin typeface="Tahoma" panose="020B0604030504040204" pitchFamily="34" charset="0"/>
              </a:rPr>
              <a:t>khảo</a:t>
            </a:r>
            <a:r>
              <a:rPr sz="1600" dirty="0">
                <a:latin typeface="Tahoma" panose="020B0604030504040204" pitchFamily="34" charset="0"/>
              </a:rPr>
              <a:t> </a:t>
            </a:r>
            <a:r>
              <a:rPr sz="1600" dirty="0" err="1">
                <a:latin typeface="Tahoma" panose="020B0604030504040204" pitchFamily="34" charset="0"/>
              </a:rPr>
              <a:t>sát</a:t>
            </a:r>
            <a:endParaRPr sz="1600" dirty="0">
              <a:latin typeface="Tahoma" panose="020B0604030504040204" pitchFamily="34" charset="0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9738359" y="1600200"/>
            <a:ext cx="1993392" cy="1627632"/>
          </a:xfrm>
          <a:prstGeom prst="roundRect">
            <a:avLst/>
          </a:prstGeom>
          <a:solidFill>
            <a:srgbClr val="FFFFFF"/>
          </a:solidFill>
          <a:ln>
            <a:solidFill>
              <a:srgbClr val="D9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Tahoma" panose="020B0604030504040204" pitchFamily="34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9829799" y="1737360"/>
            <a:ext cx="1810512" cy="477054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defRPr sz="2500" b="1">
                <a:solidFill>
                  <a:srgbClr val="2A975D"/>
                </a:solidFill>
                <a:latin typeface="Arial Narrow"/>
              </a:defRPr>
            </a:pPr>
            <a:r>
              <a:rPr dirty="0">
                <a:latin typeface="Tahoma" panose="020B0604030504040204" pitchFamily="34" charset="0"/>
              </a:rPr>
              <a:t>≥70%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48087" y="2258568"/>
            <a:ext cx="1773936" cy="584775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defRPr sz="980" b="1">
                <a:solidFill>
                  <a:srgbClr val="202838"/>
                </a:solidFill>
                <a:latin typeface="Arial"/>
              </a:defRPr>
            </a:pPr>
            <a:r>
              <a:rPr sz="1600" dirty="0" err="1">
                <a:latin typeface="Tahoma" panose="020B0604030504040204" pitchFamily="34" charset="0"/>
              </a:rPr>
              <a:t>Người</a:t>
            </a:r>
            <a:r>
              <a:rPr sz="1600" dirty="0">
                <a:latin typeface="Tahoma" panose="020B0604030504040204" pitchFamily="34" charset="0"/>
              </a:rPr>
              <a:t> </a:t>
            </a:r>
            <a:r>
              <a:rPr sz="1600" dirty="0" err="1">
                <a:latin typeface="Tahoma" panose="020B0604030504040204" pitchFamily="34" charset="0"/>
              </a:rPr>
              <a:t>tham</a:t>
            </a:r>
            <a:r>
              <a:rPr sz="1600" dirty="0">
                <a:latin typeface="Tahoma" panose="020B0604030504040204" pitchFamily="34" charset="0"/>
              </a:rPr>
              <a:t> </a:t>
            </a:r>
            <a:r>
              <a:rPr sz="1600" dirty="0" err="1">
                <a:latin typeface="Tahoma" panose="020B0604030504040204" pitchFamily="34" charset="0"/>
              </a:rPr>
              <a:t>dự</a:t>
            </a:r>
            <a:r>
              <a:rPr sz="1600" dirty="0">
                <a:latin typeface="Tahoma" panose="020B0604030504040204" pitchFamily="34" charset="0"/>
              </a:rPr>
              <a:t> </a:t>
            </a:r>
            <a:r>
              <a:rPr sz="1600" dirty="0" err="1">
                <a:latin typeface="Tahoma" panose="020B0604030504040204" pitchFamily="34" charset="0"/>
              </a:rPr>
              <a:t>đánh</a:t>
            </a:r>
            <a:r>
              <a:rPr sz="1600" dirty="0">
                <a:latin typeface="Tahoma" panose="020B0604030504040204" pitchFamily="34" charset="0"/>
              </a:rPr>
              <a:t> </a:t>
            </a:r>
            <a:r>
              <a:rPr sz="1600" dirty="0" err="1">
                <a:latin typeface="Tahoma" panose="020B0604030504040204" pitchFamily="34" charset="0"/>
              </a:rPr>
              <a:t>giá</a:t>
            </a:r>
            <a:r>
              <a:rPr sz="1600" dirty="0">
                <a:latin typeface="Tahoma" panose="020B0604030504040204" pitchFamily="34" charset="0"/>
              </a:rPr>
              <a:t> </a:t>
            </a:r>
            <a:r>
              <a:rPr sz="1600" dirty="0" err="1">
                <a:latin typeface="Tahoma" panose="020B0604030504040204" pitchFamily="34" charset="0"/>
              </a:rPr>
              <a:t>hữu</a:t>
            </a:r>
            <a:r>
              <a:rPr sz="1600" dirty="0">
                <a:latin typeface="Tahoma" panose="020B0604030504040204" pitchFamily="34" charset="0"/>
              </a:rPr>
              <a:t> </a:t>
            </a:r>
            <a:r>
              <a:rPr sz="1600" dirty="0" err="1">
                <a:latin typeface="Tahoma" panose="020B0604030504040204" pitchFamily="34" charset="0"/>
              </a:rPr>
              <a:t>ích</a:t>
            </a:r>
            <a:endParaRPr sz="1600" dirty="0">
              <a:latin typeface="Tahoma" panose="020B0604030504040204" pitchFamily="34" charset="0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411480" y="3666744"/>
            <a:ext cx="1993392" cy="1627632"/>
          </a:xfrm>
          <a:prstGeom prst="roundRect">
            <a:avLst/>
          </a:prstGeom>
          <a:solidFill>
            <a:srgbClr val="FFFFFF"/>
          </a:solidFill>
          <a:ln>
            <a:solidFill>
              <a:srgbClr val="D9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Tahoma" panose="020B0604030504040204" pitchFamily="34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502920" y="3803904"/>
            <a:ext cx="1810512" cy="477054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defRPr sz="2500" b="1">
                <a:solidFill>
                  <a:srgbClr val="F1B419"/>
                </a:solidFill>
                <a:latin typeface="Arial Narrow"/>
              </a:defRPr>
            </a:pPr>
            <a:r>
              <a:rPr dirty="0">
                <a:latin typeface="Tahoma" panose="020B0604030504040204" pitchFamily="34" charset="0"/>
              </a:rPr>
              <a:t>100%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1208" y="4325112"/>
            <a:ext cx="1773936" cy="830997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defRPr sz="980" b="1">
                <a:solidFill>
                  <a:srgbClr val="202838"/>
                </a:solidFill>
                <a:latin typeface="Arial"/>
              </a:defRPr>
            </a:pPr>
            <a:r>
              <a:rPr sz="1600" dirty="0" err="1">
                <a:latin typeface="Tahoma" panose="020B0604030504040204" pitchFamily="34" charset="0"/>
              </a:rPr>
              <a:t>Chương</a:t>
            </a:r>
            <a:r>
              <a:rPr sz="1600" dirty="0">
                <a:latin typeface="Tahoma" panose="020B0604030504040204" pitchFamily="34" charset="0"/>
              </a:rPr>
              <a:t> </a:t>
            </a:r>
            <a:r>
              <a:rPr sz="1600" dirty="0" err="1">
                <a:latin typeface="Tahoma" panose="020B0604030504040204" pitchFamily="34" charset="0"/>
              </a:rPr>
              <a:t>trình</a:t>
            </a:r>
            <a:r>
              <a:rPr sz="1600" dirty="0">
                <a:latin typeface="Tahoma" panose="020B0604030504040204" pitchFamily="34" charset="0"/>
              </a:rPr>
              <a:t> </a:t>
            </a:r>
            <a:r>
              <a:rPr sz="1600" dirty="0" err="1">
                <a:latin typeface="Tahoma" panose="020B0604030504040204" pitchFamily="34" charset="0"/>
              </a:rPr>
              <a:t>có</a:t>
            </a:r>
            <a:r>
              <a:rPr sz="1600" dirty="0">
                <a:latin typeface="Tahoma" panose="020B0604030504040204" pitchFamily="34" charset="0"/>
              </a:rPr>
              <a:t> </a:t>
            </a:r>
            <a:r>
              <a:rPr sz="1600" dirty="0" err="1">
                <a:latin typeface="Tahoma" panose="020B0604030504040204" pitchFamily="34" charset="0"/>
              </a:rPr>
              <a:t>báo</a:t>
            </a:r>
            <a:r>
              <a:rPr sz="1600" dirty="0">
                <a:latin typeface="Tahoma" panose="020B0604030504040204" pitchFamily="34" charset="0"/>
              </a:rPr>
              <a:t> </a:t>
            </a:r>
            <a:r>
              <a:rPr sz="1600" dirty="0" err="1">
                <a:latin typeface="Tahoma" panose="020B0604030504040204" pitchFamily="34" charset="0"/>
              </a:rPr>
              <a:t>cáo</a:t>
            </a:r>
            <a:r>
              <a:rPr sz="1600" dirty="0">
                <a:latin typeface="Tahoma" panose="020B0604030504040204" pitchFamily="34" charset="0"/>
              </a:rPr>
              <a:t> </a:t>
            </a:r>
            <a:r>
              <a:rPr sz="1600" dirty="0" err="1">
                <a:latin typeface="Tahoma" panose="020B0604030504040204" pitchFamily="34" charset="0"/>
              </a:rPr>
              <a:t>sau</a:t>
            </a:r>
            <a:r>
              <a:rPr sz="1600" dirty="0">
                <a:latin typeface="Tahoma" panose="020B0604030504040204" pitchFamily="34" charset="0"/>
              </a:rPr>
              <a:t> </a:t>
            </a:r>
            <a:r>
              <a:rPr sz="1600" dirty="0" err="1">
                <a:latin typeface="Tahoma" panose="020B0604030504040204" pitchFamily="34" charset="0"/>
              </a:rPr>
              <a:t>hoạt</a:t>
            </a:r>
            <a:r>
              <a:rPr sz="1600" dirty="0">
                <a:latin typeface="Tahoma" panose="020B0604030504040204" pitchFamily="34" charset="0"/>
              </a:rPr>
              <a:t> </a:t>
            </a:r>
            <a:r>
              <a:rPr sz="1600" dirty="0" err="1">
                <a:latin typeface="Tahoma" panose="020B0604030504040204" pitchFamily="34" charset="0"/>
              </a:rPr>
              <a:t>động</a:t>
            </a:r>
            <a:endParaRPr sz="1600" dirty="0">
              <a:latin typeface="Tahoma" panose="020B0604030504040204" pitchFamily="34" charset="0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2743200" y="3666744"/>
            <a:ext cx="1993392" cy="1627632"/>
          </a:xfrm>
          <a:prstGeom prst="roundRect">
            <a:avLst/>
          </a:prstGeom>
          <a:solidFill>
            <a:srgbClr val="FFFFFF"/>
          </a:solidFill>
          <a:ln>
            <a:solidFill>
              <a:srgbClr val="D9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Tahoma" panose="020B0604030504040204" pitchFamily="34" charset="0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2834640" y="3803904"/>
            <a:ext cx="1810512" cy="477054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defRPr sz="2500" b="1">
                <a:solidFill>
                  <a:srgbClr val="051F71"/>
                </a:solidFill>
                <a:latin typeface="Arial Narrow"/>
              </a:defRPr>
            </a:pPr>
            <a:r>
              <a:rPr dirty="0">
                <a:latin typeface="Tahoma" panose="020B0604030504040204" pitchFamily="34" charset="0"/>
              </a:rPr>
              <a:t>≥1/</a:t>
            </a:r>
            <a:r>
              <a:rPr dirty="0" err="1">
                <a:latin typeface="Tahoma" panose="020B0604030504040204" pitchFamily="34" charset="0"/>
              </a:rPr>
              <a:t>tháng</a:t>
            </a:r>
            <a:endParaRPr dirty="0">
              <a:latin typeface="Tahoma" panose="020B0604030504040204" pitchFamily="34" charset="0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2852928" y="4325112"/>
            <a:ext cx="1773936" cy="338554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defRPr sz="980" b="1">
                <a:solidFill>
                  <a:srgbClr val="202838"/>
                </a:solidFill>
                <a:latin typeface="Arial"/>
              </a:defRPr>
            </a:pPr>
            <a:r>
              <a:rPr sz="1600" dirty="0">
                <a:latin typeface="Tahoma" panose="020B0604030504040204" pitchFamily="34" charset="0"/>
              </a:rPr>
              <a:t>BCH </a:t>
            </a:r>
            <a:r>
              <a:rPr sz="1600" dirty="0" err="1">
                <a:latin typeface="Tahoma" panose="020B0604030504040204" pitchFamily="34" charset="0"/>
              </a:rPr>
              <a:t>họp</a:t>
            </a:r>
            <a:r>
              <a:rPr sz="1600" dirty="0">
                <a:latin typeface="Tahoma" panose="020B0604030504040204" pitchFamily="34" charset="0"/>
              </a:rPr>
              <a:t> </a:t>
            </a:r>
            <a:r>
              <a:rPr sz="1600" dirty="0" err="1">
                <a:latin typeface="Tahoma" panose="020B0604030504040204" pitchFamily="34" charset="0"/>
              </a:rPr>
              <a:t>định</a:t>
            </a:r>
            <a:r>
              <a:rPr sz="1600" dirty="0">
                <a:latin typeface="Tahoma" panose="020B0604030504040204" pitchFamily="34" charset="0"/>
              </a:rPr>
              <a:t> </a:t>
            </a:r>
            <a:r>
              <a:rPr sz="1600" dirty="0" err="1">
                <a:latin typeface="Tahoma" panose="020B0604030504040204" pitchFamily="34" charset="0"/>
              </a:rPr>
              <a:t>kỳ</a:t>
            </a:r>
            <a:endParaRPr sz="1600" dirty="0">
              <a:latin typeface="Tahoma" panose="020B0604030504040204" pitchFamily="34" charset="0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5074920" y="3666744"/>
            <a:ext cx="1993392" cy="1627632"/>
          </a:xfrm>
          <a:prstGeom prst="roundRect">
            <a:avLst/>
          </a:prstGeom>
          <a:solidFill>
            <a:srgbClr val="FFFFFF"/>
          </a:solidFill>
          <a:ln>
            <a:solidFill>
              <a:srgbClr val="D9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Tahoma" panose="020B0604030504040204" pitchFamily="34" charset="0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5166359" y="3803904"/>
            <a:ext cx="1810512" cy="477054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defRPr sz="2500" b="1">
                <a:solidFill>
                  <a:srgbClr val="118F91"/>
                </a:solidFill>
                <a:latin typeface="Arial Narrow"/>
              </a:defRPr>
            </a:pPr>
            <a:r>
              <a:rPr dirty="0">
                <a:latin typeface="Tahoma" panose="020B0604030504040204" pitchFamily="34" charset="0"/>
              </a:rPr>
              <a:t>100%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84648" y="4325112"/>
            <a:ext cx="1773936" cy="584775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defRPr sz="980" b="1">
                <a:solidFill>
                  <a:srgbClr val="202838"/>
                </a:solidFill>
                <a:latin typeface="Arial"/>
              </a:defRPr>
            </a:pPr>
            <a:r>
              <a:rPr sz="1600" dirty="0" err="1">
                <a:latin typeface="Tahoma" panose="020B0604030504040204" pitchFamily="34" charset="0"/>
              </a:rPr>
              <a:t>Dữ</a:t>
            </a:r>
            <a:r>
              <a:rPr sz="1600" dirty="0">
                <a:latin typeface="Tahoma" panose="020B0604030504040204" pitchFamily="34" charset="0"/>
              </a:rPr>
              <a:t> </a:t>
            </a:r>
            <a:r>
              <a:rPr sz="1600" dirty="0" err="1">
                <a:latin typeface="Tahoma" panose="020B0604030504040204" pitchFamily="34" charset="0"/>
              </a:rPr>
              <a:t>liệu</a:t>
            </a:r>
            <a:r>
              <a:rPr sz="1600" dirty="0">
                <a:latin typeface="Tahoma" panose="020B0604030504040204" pitchFamily="34" charset="0"/>
              </a:rPr>
              <a:t> </a:t>
            </a:r>
            <a:r>
              <a:rPr sz="1600" dirty="0" err="1">
                <a:latin typeface="Tahoma" panose="020B0604030504040204" pitchFamily="34" charset="0"/>
              </a:rPr>
              <a:t>đoàn</a:t>
            </a:r>
            <a:r>
              <a:rPr sz="1600" dirty="0">
                <a:latin typeface="Tahoma" panose="020B0604030504040204" pitchFamily="34" charset="0"/>
              </a:rPr>
              <a:t> </a:t>
            </a:r>
            <a:r>
              <a:rPr sz="1600" dirty="0" err="1">
                <a:latin typeface="Tahoma" panose="020B0604030504040204" pitchFamily="34" charset="0"/>
              </a:rPr>
              <a:t>viên</a:t>
            </a:r>
            <a:r>
              <a:rPr sz="1600" dirty="0">
                <a:latin typeface="Tahoma" panose="020B0604030504040204" pitchFamily="34" charset="0"/>
              </a:rPr>
              <a:t> </a:t>
            </a:r>
            <a:r>
              <a:rPr sz="1600" dirty="0" err="1">
                <a:latin typeface="Tahoma" panose="020B0604030504040204" pitchFamily="34" charset="0"/>
              </a:rPr>
              <a:t>cập</a:t>
            </a:r>
            <a:r>
              <a:rPr sz="1600" dirty="0">
                <a:latin typeface="Tahoma" panose="020B0604030504040204" pitchFamily="34" charset="0"/>
              </a:rPr>
              <a:t> </a:t>
            </a:r>
            <a:r>
              <a:rPr sz="1600" dirty="0" err="1">
                <a:latin typeface="Tahoma" panose="020B0604030504040204" pitchFamily="34" charset="0"/>
              </a:rPr>
              <a:t>nhật</a:t>
            </a:r>
            <a:endParaRPr sz="1600" dirty="0">
              <a:latin typeface="Tahoma" panose="020B0604030504040204" pitchFamily="34" charset="0"/>
            </a:endParaRPr>
          </a:p>
        </p:txBody>
      </p:sp>
      <p:sp>
        <p:nvSpPr>
          <p:cNvPr id="33" name="Rounded Rectangle 32"/>
          <p:cNvSpPr/>
          <p:nvPr/>
        </p:nvSpPr>
        <p:spPr>
          <a:xfrm>
            <a:off x="7406640" y="3666744"/>
            <a:ext cx="1993392" cy="1627632"/>
          </a:xfrm>
          <a:prstGeom prst="roundRect">
            <a:avLst/>
          </a:prstGeom>
          <a:solidFill>
            <a:srgbClr val="FFFFFF"/>
          </a:solidFill>
          <a:ln>
            <a:solidFill>
              <a:srgbClr val="D9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Tahoma" panose="020B0604030504040204" pitchFamily="34" charset="0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7498079" y="3803904"/>
            <a:ext cx="1810512" cy="477054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defRPr sz="2500" b="1">
                <a:solidFill>
                  <a:srgbClr val="C53A3A"/>
                </a:solidFill>
                <a:latin typeface="Arial Narrow"/>
              </a:defRPr>
            </a:pPr>
            <a:r>
              <a:rPr dirty="0">
                <a:latin typeface="Tahoma" panose="020B0604030504040204" pitchFamily="34" charset="0"/>
              </a:rPr>
              <a:t>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516367" y="4325112"/>
            <a:ext cx="1773936" cy="584775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defRPr sz="980" b="1">
                <a:solidFill>
                  <a:srgbClr val="202838"/>
                </a:solidFill>
                <a:latin typeface="Arial"/>
              </a:defRPr>
            </a:pPr>
            <a:r>
              <a:rPr sz="1600" dirty="0" err="1">
                <a:latin typeface="Tahoma" panose="020B0604030504040204" pitchFamily="34" charset="0"/>
              </a:rPr>
              <a:t>Vấn</a:t>
            </a:r>
            <a:r>
              <a:rPr sz="1600" dirty="0">
                <a:latin typeface="Tahoma" panose="020B0604030504040204" pitchFamily="34" charset="0"/>
              </a:rPr>
              <a:t> </a:t>
            </a:r>
            <a:r>
              <a:rPr sz="1600" dirty="0" err="1">
                <a:latin typeface="Tahoma" panose="020B0604030504040204" pitchFamily="34" charset="0"/>
              </a:rPr>
              <a:t>đề</a:t>
            </a:r>
            <a:r>
              <a:rPr sz="1600" dirty="0">
                <a:latin typeface="Tahoma" panose="020B0604030504040204" pitchFamily="34" charset="0"/>
              </a:rPr>
              <a:t> </a:t>
            </a:r>
            <a:r>
              <a:rPr sz="1600" dirty="0" err="1">
                <a:latin typeface="Tahoma" panose="020B0604030504040204" pitchFamily="34" charset="0"/>
              </a:rPr>
              <a:t>quá</a:t>
            </a:r>
            <a:r>
              <a:rPr sz="1600" dirty="0">
                <a:latin typeface="Tahoma" panose="020B0604030504040204" pitchFamily="34" charset="0"/>
              </a:rPr>
              <a:t> </a:t>
            </a:r>
            <a:r>
              <a:rPr sz="1600" dirty="0" err="1">
                <a:latin typeface="Tahoma" panose="020B0604030504040204" pitchFamily="34" charset="0"/>
              </a:rPr>
              <a:t>hạn</a:t>
            </a:r>
            <a:r>
              <a:rPr sz="1600" dirty="0">
                <a:latin typeface="Tahoma" panose="020B0604030504040204" pitchFamily="34" charset="0"/>
              </a:rPr>
              <a:t> </a:t>
            </a:r>
            <a:r>
              <a:rPr sz="1600" dirty="0" err="1">
                <a:latin typeface="Tahoma" panose="020B0604030504040204" pitchFamily="34" charset="0"/>
              </a:rPr>
              <a:t>không</a:t>
            </a:r>
            <a:r>
              <a:rPr sz="1600" dirty="0">
                <a:latin typeface="Tahoma" panose="020B0604030504040204" pitchFamily="34" charset="0"/>
              </a:rPr>
              <a:t> </a:t>
            </a:r>
            <a:r>
              <a:rPr sz="1600" dirty="0" err="1">
                <a:latin typeface="Tahoma" panose="020B0604030504040204" pitchFamily="34" charset="0"/>
              </a:rPr>
              <a:t>giải</a:t>
            </a:r>
            <a:r>
              <a:rPr sz="1600" dirty="0">
                <a:latin typeface="Tahoma" panose="020B0604030504040204" pitchFamily="34" charset="0"/>
              </a:rPr>
              <a:t> </a:t>
            </a:r>
            <a:r>
              <a:rPr sz="1600" dirty="0" err="1">
                <a:latin typeface="Tahoma" panose="020B0604030504040204" pitchFamily="34" charset="0"/>
              </a:rPr>
              <a:t>trình</a:t>
            </a:r>
            <a:endParaRPr sz="1600" dirty="0">
              <a:latin typeface="Tahoma" panose="020B0604030504040204" pitchFamily="34" charset="0"/>
            </a:endParaRPr>
          </a:p>
        </p:txBody>
      </p:sp>
      <p:sp>
        <p:nvSpPr>
          <p:cNvPr id="36" name="Rounded Rectangle 35"/>
          <p:cNvSpPr/>
          <p:nvPr/>
        </p:nvSpPr>
        <p:spPr>
          <a:xfrm>
            <a:off x="9738359" y="3666744"/>
            <a:ext cx="1993392" cy="1627632"/>
          </a:xfrm>
          <a:prstGeom prst="roundRect">
            <a:avLst/>
          </a:prstGeom>
          <a:solidFill>
            <a:srgbClr val="FFFFFF"/>
          </a:solidFill>
          <a:ln>
            <a:solidFill>
              <a:srgbClr val="D9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Tahoma" panose="020B0604030504040204" pitchFamily="34" charset="0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9829799" y="3803904"/>
            <a:ext cx="1810512" cy="477054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defRPr sz="2500" b="1">
                <a:solidFill>
                  <a:srgbClr val="2E63DC"/>
                </a:solidFill>
                <a:latin typeface="Arial Narrow"/>
              </a:defRPr>
            </a:pPr>
            <a:r>
              <a:rPr dirty="0" err="1">
                <a:latin typeface="Tahoma" panose="020B0604030504040204" pitchFamily="34" charset="0"/>
              </a:rPr>
              <a:t>TĂNG</a:t>
            </a:r>
            <a:r>
              <a:rPr dirty="0">
                <a:latin typeface="Tahoma" panose="020B0604030504040204" pitchFamily="34" charset="0"/>
              </a:rPr>
              <a:t> DẦN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848087" y="4325112"/>
            <a:ext cx="1773936" cy="584775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defRPr sz="980" b="1">
                <a:solidFill>
                  <a:srgbClr val="202838"/>
                </a:solidFill>
                <a:latin typeface="Arial"/>
              </a:defRPr>
            </a:pPr>
            <a:r>
              <a:rPr sz="1600" dirty="0" err="1">
                <a:latin typeface="Tahoma" panose="020B0604030504040204" pitchFamily="34" charset="0"/>
              </a:rPr>
              <a:t>Tỷ</a:t>
            </a:r>
            <a:r>
              <a:rPr sz="1600" dirty="0">
                <a:latin typeface="Tahoma" panose="020B0604030504040204" pitchFamily="34" charset="0"/>
              </a:rPr>
              <a:t> </a:t>
            </a:r>
            <a:r>
              <a:rPr sz="1600" dirty="0" err="1">
                <a:latin typeface="Tahoma" panose="020B0604030504040204" pitchFamily="34" charset="0"/>
              </a:rPr>
              <a:t>lệ</a:t>
            </a:r>
            <a:r>
              <a:rPr sz="1600" dirty="0">
                <a:latin typeface="Tahoma" panose="020B0604030504040204" pitchFamily="34" charset="0"/>
              </a:rPr>
              <a:t> </a:t>
            </a:r>
            <a:r>
              <a:rPr sz="1600" dirty="0" err="1">
                <a:latin typeface="Tahoma" panose="020B0604030504040204" pitchFamily="34" charset="0"/>
              </a:rPr>
              <a:t>tham</a:t>
            </a:r>
            <a:r>
              <a:rPr sz="1600" dirty="0">
                <a:latin typeface="Tahoma" panose="020B0604030504040204" pitchFamily="34" charset="0"/>
              </a:rPr>
              <a:t> </a:t>
            </a:r>
            <a:r>
              <a:rPr sz="1600" dirty="0" err="1">
                <a:latin typeface="Tahoma" panose="020B0604030504040204" pitchFamily="34" charset="0"/>
              </a:rPr>
              <a:t>gia</a:t>
            </a:r>
            <a:r>
              <a:rPr sz="1600" dirty="0">
                <a:latin typeface="Tahoma" panose="020B0604030504040204" pitchFamily="34" charset="0"/>
              </a:rPr>
              <a:t> </a:t>
            </a:r>
            <a:r>
              <a:rPr sz="1600" dirty="0" err="1">
                <a:latin typeface="Tahoma" panose="020B0604030504040204" pitchFamily="34" charset="0"/>
              </a:rPr>
              <a:t>tự</a:t>
            </a:r>
            <a:r>
              <a:rPr sz="1600" dirty="0">
                <a:latin typeface="Tahoma" panose="020B0604030504040204" pitchFamily="34" charset="0"/>
              </a:rPr>
              <a:t> </a:t>
            </a:r>
            <a:r>
              <a:rPr sz="1600" dirty="0" err="1">
                <a:latin typeface="Tahoma" panose="020B0604030504040204" pitchFamily="34" charset="0"/>
              </a:rPr>
              <a:t>nguyện</a:t>
            </a:r>
            <a:endParaRPr sz="1600" dirty="0">
              <a:latin typeface="Tahoma" panose="020B0604030504040204" pitchFamily="34" charset="0"/>
            </a:endParaRPr>
          </a:p>
        </p:txBody>
      </p:sp>
      <p:sp>
        <p:nvSpPr>
          <p:cNvPr id="39" name="Rounded Rectangle 38"/>
          <p:cNvSpPr/>
          <p:nvPr/>
        </p:nvSpPr>
        <p:spPr>
          <a:xfrm>
            <a:off x="914400" y="5833872"/>
            <a:ext cx="10332720" cy="566928"/>
          </a:xfrm>
          <a:prstGeom prst="roundRect">
            <a:avLst/>
          </a:prstGeom>
          <a:solidFill>
            <a:srgbClr val="051F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Tahoma" panose="020B0604030504040204" pitchFamily="34" charset="0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1115568" y="5961888"/>
            <a:ext cx="9930384" cy="430887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rPr dirty="0">
                <a:latin typeface="Tahoma" panose="020B0604030504040204" pitchFamily="34" charset="0"/>
              </a:rPr>
              <a:t>Báo </a:t>
            </a:r>
            <a:r>
              <a:rPr dirty="0" err="1">
                <a:latin typeface="Tahoma" panose="020B0604030504040204" pitchFamily="34" charset="0"/>
              </a:rPr>
              <a:t>cáo</a:t>
            </a:r>
            <a:r>
              <a:rPr dirty="0">
                <a:latin typeface="Tahoma" panose="020B0604030504040204" pitchFamily="34" charset="0"/>
              </a:rPr>
              <a:t> </a:t>
            </a:r>
            <a:r>
              <a:rPr dirty="0" err="1">
                <a:latin typeface="Tahoma" panose="020B0604030504040204" pitchFamily="34" charset="0"/>
              </a:rPr>
              <a:t>quý</a:t>
            </a:r>
            <a:r>
              <a:rPr dirty="0">
                <a:latin typeface="Tahoma" panose="020B0604030504040204" pitchFamily="34" charset="0"/>
              </a:rPr>
              <a:t> </a:t>
            </a:r>
            <a:r>
              <a:rPr dirty="0" err="1">
                <a:latin typeface="Tahoma" panose="020B0604030504040204" pitchFamily="34" charset="0"/>
              </a:rPr>
              <a:t>phải</a:t>
            </a:r>
            <a:r>
              <a:rPr dirty="0">
                <a:latin typeface="Tahoma" panose="020B0604030504040204" pitchFamily="34" charset="0"/>
              </a:rPr>
              <a:t> </a:t>
            </a:r>
            <a:r>
              <a:rPr dirty="0" err="1">
                <a:latin typeface="Tahoma" panose="020B0604030504040204" pitchFamily="34" charset="0"/>
              </a:rPr>
              <a:t>trả</a:t>
            </a:r>
            <a:r>
              <a:rPr dirty="0">
                <a:latin typeface="Tahoma" panose="020B0604030504040204" pitchFamily="34" charset="0"/>
              </a:rPr>
              <a:t> </a:t>
            </a:r>
            <a:r>
              <a:rPr dirty="0" err="1">
                <a:latin typeface="Tahoma" panose="020B0604030504040204" pitchFamily="34" charset="0"/>
              </a:rPr>
              <a:t>lời</a:t>
            </a:r>
            <a:r>
              <a:rPr dirty="0">
                <a:latin typeface="Tahoma" panose="020B0604030504040204" pitchFamily="34" charset="0"/>
              </a:rPr>
              <a:t>: </a:t>
            </a:r>
            <a:r>
              <a:rPr dirty="0" err="1">
                <a:latin typeface="Tahoma" panose="020B0604030504040204" pitchFamily="34" charset="0"/>
              </a:rPr>
              <a:t>NLĐ</a:t>
            </a:r>
            <a:r>
              <a:rPr dirty="0">
                <a:latin typeface="Tahoma" panose="020B0604030504040204" pitchFamily="34" charset="0"/>
              </a:rPr>
              <a:t> </a:t>
            </a:r>
            <a:r>
              <a:rPr dirty="0" err="1">
                <a:latin typeface="Tahoma" panose="020B0604030504040204" pitchFamily="34" charset="0"/>
              </a:rPr>
              <a:t>được</a:t>
            </a:r>
            <a:r>
              <a:rPr dirty="0">
                <a:latin typeface="Tahoma" panose="020B0604030504040204" pitchFamily="34" charset="0"/>
              </a:rPr>
              <a:t> </a:t>
            </a:r>
            <a:r>
              <a:rPr dirty="0" err="1">
                <a:latin typeface="Tahoma" panose="020B0604030504040204" pitchFamily="34" charset="0"/>
              </a:rPr>
              <a:t>hỗ</a:t>
            </a:r>
            <a:r>
              <a:rPr dirty="0">
                <a:latin typeface="Tahoma" panose="020B0604030504040204" pitchFamily="34" charset="0"/>
              </a:rPr>
              <a:t> </a:t>
            </a:r>
            <a:r>
              <a:rPr dirty="0" err="1">
                <a:latin typeface="Tahoma" panose="020B0604030504040204" pitchFamily="34" charset="0"/>
              </a:rPr>
              <a:t>trợ</a:t>
            </a:r>
            <a:r>
              <a:rPr dirty="0">
                <a:latin typeface="Tahoma" panose="020B0604030504040204" pitchFamily="34" charset="0"/>
              </a:rPr>
              <a:t> </a:t>
            </a:r>
            <a:r>
              <a:rPr dirty="0" err="1">
                <a:latin typeface="Tahoma" panose="020B0604030504040204" pitchFamily="34" charset="0"/>
              </a:rPr>
              <a:t>gì</a:t>
            </a:r>
            <a:r>
              <a:rPr dirty="0">
                <a:latin typeface="Tahoma" panose="020B0604030504040204" pitchFamily="34" charset="0"/>
              </a:rPr>
              <a:t>? </a:t>
            </a:r>
            <a:r>
              <a:rPr dirty="0" err="1">
                <a:latin typeface="Tahoma" panose="020B0604030504040204" pitchFamily="34" charset="0"/>
              </a:rPr>
              <a:t>Mức</a:t>
            </a:r>
            <a:r>
              <a:rPr dirty="0">
                <a:latin typeface="Tahoma" panose="020B0604030504040204" pitchFamily="34" charset="0"/>
              </a:rPr>
              <a:t> </a:t>
            </a:r>
            <a:r>
              <a:rPr dirty="0" err="1">
                <a:latin typeface="Tahoma" panose="020B0604030504040204" pitchFamily="34" charset="0"/>
              </a:rPr>
              <a:t>độ</a:t>
            </a:r>
            <a:r>
              <a:rPr dirty="0">
                <a:latin typeface="Tahoma" panose="020B0604030504040204" pitchFamily="34" charset="0"/>
              </a:rPr>
              <a:t> </a:t>
            </a:r>
            <a:r>
              <a:rPr dirty="0" err="1">
                <a:latin typeface="Tahoma" panose="020B0604030504040204" pitchFamily="34" charset="0"/>
              </a:rPr>
              <a:t>tham</a:t>
            </a:r>
            <a:r>
              <a:rPr dirty="0">
                <a:latin typeface="Tahoma" panose="020B0604030504040204" pitchFamily="34" charset="0"/>
              </a:rPr>
              <a:t> </a:t>
            </a:r>
            <a:r>
              <a:rPr dirty="0" err="1">
                <a:latin typeface="Tahoma" panose="020B0604030504040204" pitchFamily="34" charset="0"/>
              </a:rPr>
              <a:t>gia</a:t>
            </a:r>
            <a:r>
              <a:rPr dirty="0">
                <a:latin typeface="Tahoma" panose="020B0604030504040204" pitchFamily="34" charset="0"/>
              </a:rPr>
              <a:t> </a:t>
            </a:r>
            <a:r>
              <a:rPr dirty="0" err="1">
                <a:latin typeface="Tahoma" panose="020B0604030504040204" pitchFamily="34" charset="0"/>
              </a:rPr>
              <a:t>ra</a:t>
            </a:r>
            <a:r>
              <a:rPr dirty="0">
                <a:latin typeface="Tahoma" panose="020B0604030504040204" pitchFamily="34" charset="0"/>
              </a:rPr>
              <a:t> </a:t>
            </a:r>
            <a:r>
              <a:rPr dirty="0" err="1">
                <a:latin typeface="Tahoma" panose="020B0604030504040204" pitchFamily="34" charset="0"/>
              </a:rPr>
              <a:t>sao</a:t>
            </a:r>
            <a:r>
              <a:rPr dirty="0">
                <a:latin typeface="Tahoma" panose="020B0604030504040204" pitchFamily="34" charset="0"/>
              </a:rPr>
              <a:t>? </a:t>
            </a:r>
            <a:r>
              <a:rPr dirty="0" err="1">
                <a:latin typeface="Tahoma" panose="020B0604030504040204" pitchFamily="34" charset="0"/>
              </a:rPr>
              <a:t>Vấn</a:t>
            </a:r>
            <a:r>
              <a:rPr dirty="0">
                <a:latin typeface="Tahoma" panose="020B0604030504040204" pitchFamily="34" charset="0"/>
              </a:rPr>
              <a:t> </a:t>
            </a:r>
            <a:r>
              <a:rPr dirty="0" err="1">
                <a:latin typeface="Tahoma" panose="020B0604030504040204" pitchFamily="34" charset="0"/>
              </a:rPr>
              <a:t>đề</a:t>
            </a:r>
            <a:r>
              <a:rPr dirty="0">
                <a:latin typeface="Tahoma" panose="020B0604030504040204" pitchFamily="34" charset="0"/>
              </a:rPr>
              <a:t> </a:t>
            </a:r>
            <a:r>
              <a:rPr dirty="0" err="1">
                <a:latin typeface="Tahoma" panose="020B0604030504040204" pitchFamily="34" charset="0"/>
              </a:rPr>
              <a:t>nào</a:t>
            </a:r>
            <a:r>
              <a:rPr dirty="0">
                <a:latin typeface="Tahoma" panose="020B0604030504040204" pitchFamily="34" charset="0"/>
              </a:rPr>
              <a:t> </a:t>
            </a:r>
            <a:r>
              <a:rPr dirty="0" err="1">
                <a:latin typeface="Tahoma" panose="020B0604030504040204" pitchFamily="34" charset="0"/>
              </a:rPr>
              <a:t>đang</a:t>
            </a:r>
            <a:r>
              <a:rPr dirty="0">
                <a:latin typeface="Tahoma" panose="020B0604030504040204" pitchFamily="34" charset="0"/>
              </a:rPr>
              <a:t> </a:t>
            </a:r>
            <a:r>
              <a:rPr dirty="0" err="1">
                <a:latin typeface="Tahoma" panose="020B0604030504040204" pitchFamily="34" charset="0"/>
              </a:rPr>
              <a:t>nổi</a:t>
            </a:r>
            <a:r>
              <a:rPr dirty="0">
                <a:latin typeface="Tahoma" panose="020B0604030504040204" pitchFamily="34" charset="0"/>
              </a:rPr>
              <a:t> </a:t>
            </a:r>
            <a:r>
              <a:rPr dirty="0" err="1">
                <a:latin typeface="Tahoma" panose="020B0604030504040204" pitchFamily="34" charset="0"/>
              </a:rPr>
              <a:t>lên</a:t>
            </a:r>
            <a:r>
              <a:rPr dirty="0">
                <a:latin typeface="Tahoma" panose="020B0604030504040204" pitchFamily="34" charset="0"/>
              </a:rPr>
              <a:t>? </a:t>
            </a:r>
            <a:r>
              <a:rPr dirty="0" err="1">
                <a:latin typeface="Tahoma" panose="020B0604030504040204" pitchFamily="34" charset="0"/>
              </a:rPr>
              <a:t>Hoạt</a:t>
            </a:r>
            <a:r>
              <a:rPr dirty="0">
                <a:latin typeface="Tahoma" panose="020B0604030504040204" pitchFamily="34" charset="0"/>
              </a:rPr>
              <a:t> </a:t>
            </a:r>
            <a:r>
              <a:rPr dirty="0" err="1">
                <a:latin typeface="Tahoma" panose="020B0604030504040204" pitchFamily="34" charset="0"/>
              </a:rPr>
              <a:t>động</a:t>
            </a:r>
            <a:r>
              <a:rPr dirty="0">
                <a:latin typeface="Tahoma" panose="020B0604030504040204" pitchFamily="34" charset="0"/>
              </a:rPr>
              <a:t> </a:t>
            </a:r>
            <a:r>
              <a:rPr dirty="0" err="1">
                <a:latin typeface="Tahoma" panose="020B0604030504040204" pitchFamily="34" charset="0"/>
              </a:rPr>
              <a:t>nào</a:t>
            </a:r>
            <a:r>
              <a:rPr dirty="0">
                <a:latin typeface="Tahoma" panose="020B0604030504040204" pitchFamily="34" charset="0"/>
              </a:rPr>
              <a:t> </a:t>
            </a:r>
            <a:r>
              <a:rPr dirty="0" err="1">
                <a:latin typeface="Tahoma" panose="020B0604030504040204" pitchFamily="34" charset="0"/>
              </a:rPr>
              <a:t>nên</a:t>
            </a:r>
            <a:r>
              <a:rPr dirty="0">
                <a:latin typeface="Tahoma" panose="020B0604030504040204" pitchFamily="34" charset="0"/>
              </a:rPr>
              <a:t> </a:t>
            </a:r>
            <a:r>
              <a:rPr dirty="0" err="1">
                <a:latin typeface="Tahoma" panose="020B0604030504040204" pitchFamily="34" charset="0"/>
              </a:rPr>
              <a:t>duy</a:t>
            </a:r>
            <a:r>
              <a:rPr dirty="0">
                <a:latin typeface="Tahoma" panose="020B0604030504040204" pitchFamily="34" charset="0"/>
              </a:rPr>
              <a:t> </a:t>
            </a:r>
            <a:r>
              <a:rPr dirty="0" err="1">
                <a:latin typeface="Tahoma" panose="020B0604030504040204" pitchFamily="34" charset="0"/>
              </a:rPr>
              <a:t>trì</a:t>
            </a:r>
            <a:r>
              <a:rPr dirty="0">
                <a:latin typeface="Tahoma" panose="020B0604030504040204" pitchFamily="34" charset="0"/>
              </a:rPr>
              <a:t>, </a:t>
            </a:r>
            <a:r>
              <a:rPr dirty="0" err="1">
                <a:latin typeface="Tahoma" panose="020B0604030504040204" pitchFamily="34" charset="0"/>
              </a:rPr>
              <a:t>điều</a:t>
            </a:r>
            <a:r>
              <a:rPr dirty="0">
                <a:latin typeface="Tahoma" panose="020B0604030504040204" pitchFamily="34" charset="0"/>
              </a:rPr>
              <a:t> </a:t>
            </a:r>
            <a:r>
              <a:rPr dirty="0" err="1">
                <a:latin typeface="Tahoma" panose="020B0604030504040204" pitchFamily="34" charset="0"/>
              </a:rPr>
              <a:t>chỉnh</a:t>
            </a:r>
            <a:r>
              <a:rPr dirty="0">
                <a:latin typeface="Tahoma" panose="020B0604030504040204" pitchFamily="34" charset="0"/>
              </a:rPr>
              <a:t> </a:t>
            </a:r>
            <a:r>
              <a:rPr dirty="0" err="1">
                <a:latin typeface="Tahoma" panose="020B0604030504040204" pitchFamily="34" charset="0"/>
              </a:rPr>
              <a:t>hoặc</a:t>
            </a:r>
            <a:r>
              <a:rPr dirty="0">
                <a:latin typeface="Tahoma" panose="020B0604030504040204" pitchFamily="34" charset="0"/>
              </a:rPr>
              <a:t> </a:t>
            </a:r>
            <a:r>
              <a:rPr dirty="0" err="1">
                <a:latin typeface="Tahoma" panose="020B0604030504040204" pitchFamily="34" charset="0"/>
              </a:rPr>
              <a:t>dừng</a:t>
            </a:r>
            <a:r>
              <a:rPr dirty="0">
                <a:latin typeface="Tahoma" panose="020B0604030504040204" pitchFamily="34" charset="0"/>
              </a:rPr>
              <a:t>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1669</TotalTime>
  <Words>3043</Words>
  <Application>Microsoft Office PowerPoint</Application>
  <PresentationFormat>Widescreen</PresentationFormat>
  <Paragraphs>618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Tahoma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Administrator</dc:creator>
  <cp:keywords/>
  <dc:description>generated using python-pptx</dc:description>
  <cp:lastModifiedBy>Đoan Nguyễn</cp:lastModifiedBy>
  <cp:revision>17</cp:revision>
  <dcterms:created xsi:type="dcterms:W3CDTF">2013-01-27T09:14:16Z</dcterms:created>
  <dcterms:modified xsi:type="dcterms:W3CDTF">2026-08-24T15:07:26Z</dcterms:modified>
  <cp:category/>
</cp:coreProperties>
</file>