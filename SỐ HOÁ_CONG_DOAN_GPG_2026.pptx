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82" r:id="rId2"/>
    <p:sldId id="315" r:id="rId3"/>
    <p:sldId id="284" r:id="rId4"/>
    <p:sldId id="285" r:id="rId5"/>
    <p:sldId id="286" r:id="rId6"/>
    <p:sldId id="287" r:id="rId7"/>
    <p:sldId id="288" r:id="rId8"/>
    <p:sldId id="289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09" autoAdjust="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94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endParaRPr lang="vi-V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fld id="{3E56747F-ED96-4BA0-8007-4DC52A288677}" type="datetimeFigureOut">
              <a:rPr lang="vi-VN" smtClean="0"/>
              <a:pPr/>
              <a:t>25/08/2026</a:t>
            </a:fld>
            <a:endParaRPr lang="vi-V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vi-V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endParaRPr lang="vi-V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fld id="{2529A003-E386-4037-94F0-B28E26DD24CC}" type="slidenum">
              <a:rPr lang="vi-VN" smtClean="0"/>
              <a:pPr/>
              <a:t>‹#›</a:t>
            </a:fld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934944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ahoma" panose="020B0604030504040204" pitchFamily="34" charset="0"/>
              </a:defRPr>
            </a:lvl1pPr>
          </a:lstStyle>
          <a:p>
            <a:fld id="{5BCAD085-E8A6-8845-BD4E-CB4CCA059FC4}" type="datetimeFigureOut">
              <a:rPr lang="en-US" smtClean="0"/>
              <a:pPr/>
              <a:t>8/25/2026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ahoma" panose="020B060403050404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ahoma" panose="020B0604030504040204" pitchFamily="34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ahoma" panose="020B0604030504040204" pitchFamily="34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F7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56032"/>
            <a:ext cx="1360170" cy="7772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0312"/>
            <a:ext cx="92980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799" y="1325880"/>
            <a:ext cx="4873171" cy="95410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5600" b="1">
                <a:solidFill>
                  <a:srgbClr val="F1B419"/>
                </a:solidFill>
                <a:latin typeface="Arial Narrow"/>
              </a:defRPr>
            </a:pPr>
            <a:r>
              <a:rPr lang="vi-VN" dirty="0">
                <a:latin typeface="Tahoma" panose="020B0604030504040204" pitchFamily="34" charset="0"/>
              </a:rPr>
              <a:t>PHẦN </a:t>
            </a:r>
            <a:r>
              <a:rPr dirty="0">
                <a:latin typeface="Tahoma" panose="020B0604030504040204" pitchFamily="34" charset="0"/>
              </a:rPr>
              <a:t>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241280" cy="55399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 Narrow"/>
              </a:defRPr>
            </a:pPr>
            <a:r>
              <a:rPr dirty="0" err="1">
                <a:latin typeface="Tahoma" panose="020B0604030504040204" pitchFamily="34" charset="0"/>
              </a:rPr>
              <a:t>SỐ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HÓA</a:t>
            </a:r>
            <a:r>
              <a:rPr dirty="0">
                <a:latin typeface="Tahoma" panose="020B0604030504040204" pitchFamily="34" charset="0"/>
              </a:rPr>
              <a:t> HỒ </a:t>
            </a:r>
            <a:r>
              <a:rPr dirty="0" err="1">
                <a:latin typeface="Tahoma" panose="020B0604030504040204" pitchFamily="34" charset="0"/>
              </a:rPr>
              <a:t>SƠ</a:t>
            </a:r>
            <a:r>
              <a:rPr dirty="0">
                <a:latin typeface="Tahoma" panose="020B0604030504040204" pitchFamily="34" charset="0"/>
              </a:rPr>
              <a:t> CÔNG ĐOÀN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474720"/>
            <a:ext cx="996696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0">
                <a:solidFill>
                  <a:srgbClr val="DAE4FC"/>
                </a:solidFill>
                <a:latin typeface="Arial"/>
              </a:defRPr>
            </a:pPr>
            <a:r>
              <a:rPr dirty="0" err="1">
                <a:latin typeface="Tahoma" panose="020B0604030504040204" pitchFamily="34" charset="0"/>
              </a:rPr>
              <a:t>Đề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xuất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một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hệ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thống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dữ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liệu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tập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trung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để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quản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trị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đoàn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viên</a:t>
            </a:r>
            <a:r>
              <a:rPr dirty="0">
                <a:latin typeface="Tahoma" panose="020B0604030504040204" pitchFamily="34" charset="0"/>
              </a:rPr>
              <a:t>, </a:t>
            </a:r>
            <a:r>
              <a:rPr dirty="0" err="1">
                <a:latin typeface="Tahoma" panose="020B0604030504040204" pitchFamily="34" charset="0"/>
              </a:rPr>
              <a:t>chính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sách</a:t>
            </a:r>
            <a:r>
              <a:rPr dirty="0">
                <a:latin typeface="Tahoma" panose="020B0604030504040204" pitchFamily="34" charset="0"/>
              </a:rPr>
              <a:t>, </a:t>
            </a:r>
            <a:r>
              <a:rPr dirty="0" err="1">
                <a:latin typeface="Tahoma" panose="020B0604030504040204" pitchFamily="34" charset="0"/>
              </a:rPr>
              <a:t>vụ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việc</a:t>
            </a:r>
            <a:r>
              <a:rPr dirty="0">
                <a:latin typeface="Tahoma" panose="020B0604030504040204" pitchFamily="34" charset="0"/>
              </a:rPr>
              <a:t>, </a:t>
            </a:r>
            <a:r>
              <a:rPr dirty="0" err="1">
                <a:latin typeface="Tahoma" panose="020B0604030504040204" pitchFamily="34" charset="0"/>
              </a:rPr>
              <a:t>hoạt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động</a:t>
            </a:r>
            <a:r>
              <a:rPr dirty="0">
                <a:latin typeface="Tahoma" panose="020B0604030504040204" pitchFamily="34" charset="0"/>
              </a:rPr>
              <a:t>, </a:t>
            </a:r>
            <a:r>
              <a:rPr dirty="0" err="1">
                <a:latin typeface="Tahoma" panose="020B0604030504040204" pitchFamily="34" charset="0"/>
              </a:rPr>
              <a:t>tài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chính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và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báo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cáo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theo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một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nguồn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dữ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liệu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duy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nhất</a:t>
            </a:r>
            <a:r>
              <a:rPr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00600"/>
            <a:ext cx="2286000" cy="45720"/>
          </a:xfrm>
          <a:prstGeom prst="rect">
            <a:avLst/>
          </a:prstGeom>
          <a:solidFill>
            <a:srgbClr val="F1B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365760" cy="2308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"/>
            <a:ext cx="960120" cy="5486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64008"/>
            <a:ext cx="646818" cy="5852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749808"/>
            <a:ext cx="11649456" cy="22860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40" y="6483096"/>
            <a:ext cx="207781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50">
                <a:solidFill>
                  <a:srgbClr val="051F71"/>
                </a:solidFill>
                <a:latin typeface="Arial"/>
              </a:defRPr>
            </a:pP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CÔNG ĐOÀN GPG | GPG TRADE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43352" y="6473952"/>
            <a:ext cx="1029448" cy="218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19">
                <a:solidFill>
                  <a:srgbClr val="677180"/>
                </a:solidFill>
                <a:latin typeface="Arial"/>
              </a:defRPr>
            </a:pPr>
            <a:r>
              <a:rPr kumimoji="0" sz="819" b="0" i="0" u="none" strike="noStrike" kern="1200" cap="none" spc="0" normalizeH="0" baseline="0" noProof="0" dirty="0">
                <a:ln>
                  <a:noFill/>
                </a:ln>
                <a:solidFill>
                  <a:srgbClr val="677180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V. </a:t>
            </a:r>
            <a:r>
              <a:rPr kumimoji="0" sz="819" b="0" i="0" u="none" strike="noStrike" kern="1200" cap="none" spc="0" normalizeH="0" baseline="0" noProof="0" dirty="0" err="1">
                <a:ln>
                  <a:noFill/>
                </a:ln>
                <a:solidFill>
                  <a:srgbClr val="677180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SỐ</a:t>
            </a:r>
            <a:r>
              <a:rPr kumimoji="0" sz="819" b="0" i="0" u="none" strike="noStrike" kern="1200" cap="none" spc="0" normalizeH="0" baseline="0" noProof="0" dirty="0">
                <a:ln>
                  <a:noFill/>
                </a:ln>
                <a:solidFill>
                  <a:srgbClr val="677180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819" b="0" i="0" u="none" strike="noStrike" kern="1200" cap="none" spc="0" normalizeH="0" baseline="0" noProof="0" dirty="0" err="1">
                <a:ln>
                  <a:noFill/>
                </a:ln>
                <a:solidFill>
                  <a:srgbClr val="677180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HÓA</a:t>
            </a:r>
            <a:r>
              <a:rPr kumimoji="0" sz="819" b="0" i="0" u="none" strike="noStrike" kern="1200" cap="none" spc="0" normalizeH="0" baseline="0" noProof="0" dirty="0">
                <a:ln>
                  <a:noFill/>
                </a:ln>
                <a:solidFill>
                  <a:srgbClr val="677180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HỒ </a:t>
            </a:r>
            <a:r>
              <a:rPr kumimoji="0" sz="819" b="0" i="0" u="none" strike="noStrike" kern="1200" cap="none" spc="0" normalizeH="0" baseline="0" noProof="0" dirty="0" err="1">
                <a:ln>
                  <a:noFill/>
                </a:ln>
                <a:solidFill>
                  <a:srgbClr val="677180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SƠ</a:t>
            </a:r>
            <a:endParaRPr kumimoji="0" sz="819" b="0" i="0" u="none" strike="noStrike" kern="1200" cap="none" spc="0" normalizeH="0" baseline="0" noProof="0" dirty="0">
              <a:ln>
                <a:noFill/>
              </a:ln>
              <a:solidFill>
                <a:srgbClr val="677180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393198" y="6455664"/>
            <a:ext cx="338554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50" b="1">
                <a:solidFill>
                  <a:srgbClr val="051F71"/>
                </a:solidFill>
                <a:latin typeface="Arial"/>
              </a:defRPr>
            </a:pPr>
            <a:r>
              <a:rPr kumimoji="0" sz="950" b="1" i="0" u="none" strike="noStrike" kern="1200" cap="none" spc="0" normalizeH="0" baseline="0" noProof="0" dirty="0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4842" y="120458"/>
            <a:ext cx="11913839" cy="5001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50" b="1">
                <a:solidFill>
                  <a:srgbClr val="051F71"/>
                </a:solidFill>
                <a:latin typeface="Arial Narrow"/>
              </a:defRPr>
            </a:pPr>
            <a:r>
              <a:rPr kumimoji="0" lang="en-US" sz="2650" b="1" i="0" u="none" strike="noStrike" kern="1200" cap="none" spc="0" normalizeH="0" baseline="0" noProof="0" dirty="0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11. </a:t>
            </a:r>
            <a:r>
              <a:rPr kumimoji="0" sz="2650" b="1" i="0" u="none" strike="noStrike" kern="1200" cap="none" spc="0" normalizeH="0" baseline="0" noProof="0" dirty="0" err="1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SỐ</a:t>
            </a:r>
            <a:r>
              <a:rPr kumimoji="0" sz="2650" b="1" i="0" u="none" strike="noStrike" kern="1200" cap="none" spc="0" normalizeH="0" baseline="0" noProof="0" dirty="0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2650" b="1" i="0" u="none" strike="noStrike" kern="1200" cap="none" spc="0" normalizeH="0" baseline="0" noProof="0" dirty="0" err="1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HÓA</a:t>
            </a:r>
            <a:r>
              <a:rPr kumimoji="0" sz="2650" b="1" i="0" u="none" strike="noStrike" kern="1200" cap="none" spc="0" normalizeH="0" baseline="0" noProof="0" dirty="0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HỒ </a:t>
            </a:r>
            <a:r>
              <a:rPr kumimoji="0" sz="2650" b="1" i="0" u="none" strike="noStrike" kern="1200" cap="none" spc="0" normalizeH="0" baseline="0" noProof="0" dirty="0" err="1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SƠ</a:t>
            </a:r>
            <a:r>
              <a:rPr kumimoji="0" sz="2650" b="1" i="0" u="none" strike="noStrike" kern="1200" cap="none" spc="0" normalizeH="0" baseline="0" noProof="0" dirty="0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CÔNG ĐOÀN – “</a:t>
            </a:r>
            <a:r>
              <a:rPr kumimoji="0" sz="2650" b="1" i="0" u="none" strike="noStrike" kern="1200" cap="none" spc="0" normalizeH="0" baseline="0" noProof="0" dirty="0" err="1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MỘT</a:t>
            </a:r>
            <a:r>
              <a:rPr kumimoji="0" sz="2650" b="1" i="0" u="none" strike="noStrike" kern="1200" cap="none" spc="0" normalizeH="0" baseline="0" noProof="0" dirty="0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2650" b="1" i="0" u="none" strike="noStrike" kern="1200" cap="none" spc="0" normalizeH="0" baseline="0" noProof="0" dirty="0" err="1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NGUỒN</a:t>
            </a:r>
            <a:r>
              <a:rPr kumimoji="0" sz="2650" b="1" i="0" u="none" strike="noStrike" kern="1200" cap="none" spc="0" normalizeH="0" baseline="0" noProof="0" dirty="0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2650" b="1" i="0" u="none" strike="noStrike" kern="1200" cap="none" spc="0" normalizeH="0" baseline="0" noProof="0" dirty="0" err="1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DỮ</a:t>
            </a:r>
            <a:r>
              <a:rPr kumimoji="0" sz="2650" b="1" i="0" u="none" strike="noStrike" kern="1200" cap="none" spc="0" normalizeH="0" baseline="0" noProof="0" dirty="0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LIỆU DUY </a:t>
            </a:r>
            <a:r>
              <a:rPr kumimoji="0" sz="2650" b="1" i="0" u="none" strike="noStrike" kern="1200" cap="none" spc="0" normalizeH="0" baseline="0" noProof="0" dirty="0" err="1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NHẤT</a:t>
            </a:r>
            <a:r>
              <a:rPr kumimoji="0" sz="2650" b="1" i="0" u="none" strike="noStrike" kern="1200" cap="none" spc="0" normalizeH="0" baseline="0" noProof="0" dirty="0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554480"/>
            <a:ext cx="2624328" cy="1865376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10" name="Oval 9"/>
          <p:cNvSpPr/>
          <p:nvPr/>
        </p:nvSpPr>
        <p:spPr>
          <a:xfrm>
            <a:off x="694944" y="1700784"/>
            <a:ext cx="402336" cy="402336"/>
          </a:xfrm>
          <a:prstGeom prst="ellipse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94944" y="1783080"/>
            <a:ext cx="402336" cy="22775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80" b="1">
                <a:solidFill>
                  <a:srgbClr val="FFFFFF"/>
                </a:solidFill>
                <a:latin typeface="Arial"/>
              </a:defRPr>
            </a:pPr>
            <a:r>
              <a:rPr kumimoji="0" sz="88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1682495"/>
            <a:ext cx="1801368" cy="26161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051F71"/>
                </a:solidFill>
                <a:latin typeface="Arial"/>
              </a:defRPr>
            </a:pP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HỒ </a:t>
            </a:r>
            <a:r>
              <a:rPr kumimoji="0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SƠ</a:t>
            </a: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ĐOÀN VIÊN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755" y="2050773"/>
            <a:ext cx="2185416" cy="116955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lang="vi-VN" sz="1400" dirty="0">
                <a:solidFill>
                  <a:srgbClr val="202838"/>
                </a:solidFill>
                <a:latin typeface="Tahoma" panose="020B0604030504040204" pitchFamily="34" charset="0"/>
              </a:rPr>
              <a:t>•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Thông tin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đoàn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viên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CĐCS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chức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danh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ngày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gia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nhập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trạng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thái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29000" y="1554480"/>
            <a:ext cx="2624328" cy="1865376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3593592" y="1700784"/>
            <a:ext cx="402336" cy="402336"/>
          </a:xfrm>
          <a:prstGeom prst="ellipse">
            <a:avLst/>
          </a:prstGeom>
          <a:solidFill>
            <a:srgbClr val="118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593592" y="1783080"/>
            <a:ext cx="402336" cy="22775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80" b="1">
                <a:solidFill>
                  <a:srgbClr val="FFFFFF"/>
                </a:solidFill>
                <a:latin typeface="Arial"/>
              </a:defRPr>
            </a:pPr>
            <a:r>
              <a:rPr kumimoji="0" sz="88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7368" y="1682495"/>
            <a:ext cx="1801368" cy="26161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118F91"/>
                </a:solidFill>
                <a:latin typeface="Arial"/>
              </a:defRPr>
            </a:pP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118F9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HỒ </a:t>
            </a:r>
            <a:r>
              <a:rPr kumimoji="0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18F9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SƠ</a:t>
            </a: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118F9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BCH / </a:t>
            </a:r>
            <a:r>
              <a:rPr kumimoji="0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18F9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CĐCS</a:t>
            </a: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srgbClr val="118F91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75354" y="1991909"/>
            <a:ext cx="2185416" cy="116955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lang="vi-VN" sz="1400" dirty="0">
                <a:solidFill>
                  <a:srgbClr val="202838"/>
                </a:solidFill>
                <a:latin typeface="Tahoma" panose="020B0604030504040204" pitchFamily="34" charset="0"/>
              </a:rPr>
              <a:t>•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Danh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sách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BCH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nhiệm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kỳ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quyết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định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tình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trạng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pháp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lý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đầu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mối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327648" y="1554480"/>
            <a:ext cx="2624328" cy="1865376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6492240" y="1700784"/>
            <a:ext cx="402336" cy="402336"/>
          </a:xfrm>
          <a:prstGeom prst="ellipse">
            <a:avLst/>
          </a:prstGeom>
          <a:solidFill>
            <a:srgbClr val="E87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92240" y="1783080"/>
            <a:ext cx="402336" cy="22775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80" b="1">
                <a:solidFill>
                  <a:srgbClr val="FFFFFF"/>
                </a:solidFill>
                <a:latin typeface="Arial"/>
              </a:defRPr>
            </a:pPr>
            <a:r>
              <a:rPr kumimoji="0" sz="88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1682495"/>
            <a:ext cx="1801368" cy="26161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E87823"/>
                </a:solidFill>
                <a:latin typeface="Arial"/>
              </a:defRPr>
            </a:pPr>
            <a:r>
              <a:rPr kumimoji="0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E87823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CHĂM</a:t>
            </a: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E87823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LO &amp; CHÍNH </a:t>
            </a:r>
            <a:r>
              <a:rPr kumimoji="0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E87823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SÁCH</a:t>
            </a: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srgbClr val="E87823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958584" y="2034807"/>
            <a:ext cx="2185416" cy="116955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lang="vi-VN" sz="1400" dirty="0">
                <a:solidFill>
                  <a:srgbClr val="202838"/>
                </a:solidFill>
                <a:latin typeface="Tahoma" panose="020B0604030504040204" pitchFamily="34" charset="0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Hiếu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hỷ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sinh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nhật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thăm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hỏi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sinh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con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hỗ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trợ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khó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khăn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9226296" y="1554480"/>
            <a:ext cx="2624328" cy="1865376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9390888" y="1700784"/>
            <a:ext cx="402336" cy="402336"/>
          </a:xfrm>
          <a:prstGeom prst="ellipse">
            <a:avLst/>
          </a:prstGeom>
          <a:solidFill>
            <a:srgbClr val="2E6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390888" y="1783080"/>
            <a:ext cx="402336" cy="22775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80" b="1">
                <a:solidFill>
                  <a:srgbClr val="FFFFFF"/>
                </a:solidFill>
                <a:latin typeface="Arial"/>
              </a:defRPr>
            </a:pPr>
            <a:r>
              <a:rPr kumimoji="0" sz="88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84664" y="1682495"/>
            <a:ext cx="1801367" cy="26161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2E63DC"/>
                </a:solidFill>
                <a:latin typeface="Arial"/>
              </a:defRPr>
            </a:pPr>
            <a:r>
              <a:rPr kumimoji="0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2E63DC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KIẾN</a:t>
            </a: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2E63DC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2E63DC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NGHỊ</a:t>
            </a: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2E63DC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/ </a:t>
            </a:r>
            <a:r>
              <a:rPr kumimoji="0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2E63DC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VỤ</a:t>
            </a: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2E63DC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2E63DC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VIỆC</a:t>
            </a: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srgbClr val="2E63DC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880092" y="1939254"/>
            <a:ext cx="2185416" cy="138499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lang="vi-VN" sz="1400" dirty="0">
                <a:solidFill>
                  <a:srgbClr val="202838"/>
                </a:solidFill>
                <a:latin typeface="Tahoma" panose="020B0604030504040204" pitchFamily="34" charset="0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Tiếp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nhận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phân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loại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PIC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deadline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trạng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thái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phản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hồi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30352" y="3794760"/>
            <a:ext cx="2624328" cy="1865376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694944" y="3941064"/>
            <a:ext cx="402336" cy="402336"/>
          </a:xfrm>
          <a:prstGeom prst="ellipse">
            <a:avLst/>
          </a:prstGeom>
          <a:solidFill>
            <a:srgbClr val="2A97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94944" y="4023360"/>
            <a:ext cx="402336" cy="22775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80" b="1">
                <a:solidFill>
                  <a:srgbClr val="FFFFFF"/>
                </a:solidFill>
                <a:latin typeface="Arial"/>
              </a:defRPr>
            </a:pPr>
            <a:r>
              <a:rPr kumimoji="0" sz="88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19" y="3922776"/>
            <a:ext cx="1801368" cy="26161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2A975D"/>
                </a:solidFill>
                <a:latin typeface="Arial"/>
              </a:defRPr>
            </a:pPr>
            <a:r>
              <a:rPr kumimoji="0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2A975D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HOẠT</a:t>
            </a: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2A975D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2A975D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ĐỘNG</a:t>
            </a: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2A975D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/ </a:t>
            </a:r>
            <a:r>
              <a:rPr kumimoji="0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2A975D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SỰ</a:t>
            </a: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2A975D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2A975D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KIỆN</a:t>
            </a: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srgbClr val="2A975D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69264" y="4355815"/>
            <a:ext cx="2185416" cy="116955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lang="vi-VN" sz="1400" dirty="0">
                <a:solidFill>
                  <a:srgbClr val="202838"/>
                </a:solidFill>
                <a:latin typeface="Tahoma" panose="020B0604030504040204" pitchFamily="34" charset="0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Kế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hoạch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phê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duyệt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ngân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sách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tham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dự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báo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cáo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sau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chương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trình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3429000" y="3794760"/>
            <a:ext cx="2624328" cy="1865376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3593592" y="3941064"/>
            <a:ext cx="402336" cy="402336"/>
          </a:xfrm>
          <a:prstGeom prst="ellipse">
            <a:avLst/>
          </a:prstGeom>
          <a:solidFill>
            <a:srgbClr val="F1B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3593592" y="4023360"/>
            <a:ext cx="402336" cy="22775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80" b="1">
                <a:solidFill>
                  <a:srgbClr val="FFFFFF"/>
                </a:solidFill>
                <a:latin typeface="Arial"/>
              </a:defRPr>
            </a:pPr>
            <a:r>
              <a:rPr kumimoji="0" sz="88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87368" y="3922776"/>
            <a:ext cx="1801368" cy="26161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F1B419"/>
                </a:solidFill>
                <a:latin typeface="Arial"/>
              </a:defRPr>
            </a:pP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1B419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TÀI CHÍNH / </a:t>
            </a:r>
            <a:r>
              <a:rPr kumimoji="0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1B419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CHỨNG</a:t>
            </a: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1B419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TỪ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7850" y="4288049"/>
            <a:ext cx="2185416" cy="116955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lang="vi-VN" sz="1400" dirty="0">
                <a:solidFill>
                  <a:srgbClr val="202838"/>
                </a:solidFill>
                <a:latin typeface="Tahoma" panose="020B0604030504040204" pitchFamily="34" charset="0"/>
              </a:rPr>
              <a:t>•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Thu • chi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tạm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ứng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quyết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toán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chứng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từ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số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dư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327648" y="3794760"/>
            <a:ext cx="2624328" cy="1865376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6492240" y="3941064"/>
            <a:ext cx="402336" cy="402336"/>
          </a:xfrm>
          <a:prstGeom prst="ellipse">
            <a:avLst/>
          </a:prstGeom>
          <a:solidFill>
            <a:srgbClr val="744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492240" y="4023360"/>
            <a:ext cx="402336" cy="22775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80" b="1">
                <a:solidFill>
                  <a:srgbClr val="FFFFFF"/>
                </a:solidFill>
                <a:latin typeface="Arial"/>
              </a:defRPr>
            </a:pPr>
            <a:r>
              <a:rPr kumimoji="0" sz="88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6016" y="3922776"/>
            <a:ext cx="1801368" cy="26161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744BB4"/>
                </a:solidFill>
                <a:latin typeface="Arial"/>
              </a:defRPr>
            </a:pP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744BB4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DASHBOARD / KPI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94576" y="4320416"/>
            <a:ext cx="2185416" cy="95410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lang="vi-VN" sz="1400" dirty="0">
                <a:solidFill>
                  <a:srgbClr val="202838"/>
                </a:solidFill>
                <a:latin typeface="Tahoma" panose="020B0604030504040204" pitchFamily="34" charset="0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Tổng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hợp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tháng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/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quý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cảnh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báo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quá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hạn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tỷ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lệ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tham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gia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xu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hướng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226296" y="3794760"/>
            <a:ext cx="2624328" cy="1865376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9390888" y="3941064"/>
            <a:ext cx="402336" cy="402336"/>
          </a:xfrm>
          <a:prstGeom prst="ellipse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390888" y="4023360"/>
            <a:ext cx="402336" cy="22775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80" b="1">
                <a:solidFill>
                  <a:srgbClr val="FFFFFF"/>
                </a:solidFill>
                <a:latin typeface="Arial"/>
              </a:defRPr>
            </a:pPr>
            <a:r>
              <a:rPr kumimoji="0" sz="88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84664" y="3922776"/>
            <a:ext cx="1801367" cy="26161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051F71"/>
                </a:solidFill>
                <a:latin typeface="Arial"/>
              </a:defRPr>
            </a:pP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51F71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KHO TÀI LIỆU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84664" y="4201668"/>
            <a:ext cx="2185416" cy="116955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lang="vi-VN" sz="1400" dirty="0">
                <a:solidFill>
                  <a:srgbClr val="202838"/>
                </a:solidFill>
                <a:latin typeface="Tahoma" panose="020B0604030504040204" pitchFamily="34" charset="0"/>
              </a:rPr>
              <a:t>•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Quy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chế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biểu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mẫu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quyết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định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ảnh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endParaRPr kumimoji="0" lang="vi-VN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  <a:p>
            <a:pPr lvl="0">
              <a:defRPr sz="860" b="0">
                <a:solidFill>
                  <a:srgbClr val="202838"/>
                </a:solidFill>
                <a:latin typeface="Arial"/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•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tài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liệu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truyền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02838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thông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202838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"/>
            <a:ext cx="960120" cy="5486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64008"/>
            <a:ext cx="646818" cy="5852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749808"/>
            <a:ext cx="11649456" cy="22860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40" y="6483096"/>
            <a:ext cx="207781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CÔNG ĐOÀN GPG | GPG TRADE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43352" y="6473952"/>
            <a:ext cx="1029448" cy="218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19">
                <a:solidFill>
                  <a:srgbClr val="677180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V. </a:t>
            </a:r>
            <a:r>
              <a:rPr dirty="0" err="1">
                <a:latin typeface="Tahoma" panose="020B0604030504040204" pitchFamily="34" charset="0"/>
              </a:rPr>
              <a:t>SỐ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HÓA</a:t>
            </a:r>
            <a:r>
              <a:rPr dirty="0">
                <a:latin typeface="Tahoma" panose="020B0604030504040204" pitchFamily="34" charset="0"/>
              </a:rPr>
              <a:t> HỒ </a:t>
            </a:r>
            <a:r>
              <a:rPr dirty="0" err="1">
                <a:latin typeface="Tahoma" panose="020B0604030504040204" pitchFamily="34" charset="0"/>
              </a:rPr>
              <a:t>SƠ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393198" y="6455664"/>
            <a:ext cx="338554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245" y="177911"/>
            <a:ext cx="10738837" cy="5001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50" b="1">
                <a:solidFill>
                  <a:srgbClr val="051F71"/>
                </a:solidFill>
                <a:latin typeface="Arial Narrow"/>
              </a:defRPr>
            </a:pPr>
            <a:r>
              <a:rPr dirty="0" err="1">
                <a:latin typeface="Tahoma" panose="020B0604030504040204" pitchFamily="34" charset="0"/>
              </a:rPr>
              <a:t>MÀN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HÌNH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ĐỀ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XUẤT</a:t>
            </a:r>
            <a:r>
              <a:rPr dirty="0">
                <a:latin typeface="Tahoma" panose="020B0604030504040204" pitchFamily="34" charset="0"/>
              </a:rPr>
              <a:t> 01 – TRANG </a:t>
            </a:r>
            <a:r>
              <a:rPr dirty="0" err="1">
                <a:latin typeface="Tahoma" panose="020B0604030504040204" pitchFamily="34" charset="0"/>
              </a:rPr>
              <a:t>CHỦ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HỆ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THỐNG</a:t>
            </a:r>
            <a:r>
              <a:rPr dirty="0">
                <a:latin typeface="Tahoma" panose="020B0604030504040204" pitchFamily="34" charset="0"/>
              </a:rPr>
              <a:t> CÔNG ĐOÀN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176457"/>
            <a:ext cx="10972800" cy="4590288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94360" y="1176457"/>
            <a:ext cx="10972800" cy="475488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1295329"/>
            <a:ext cx="105156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GPG UNION PORTAL | Trang </a:t>
            </a:r>
            <a:r>
              <a:rPr sz="1400" dirty="0" err="1">
                <a:latin typeface="Tahoma" panose="020B0604030504040204" pitchFamily="34" charset="0"/>
              </a:rPr>
              <a:t>chủ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94360" y="1651945"/>
            <a:ext cx="1874519" cy="4114800"/>
          </a:xfrm>
          <a:prstGeom prst="rect">
            <a:avLst/>
          </a:prstGeom>
          <a:solidFill>
            <a:srgbClr val="F7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58952" y="1889689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1">
                <a:solidFill>
                  <a:srgbClr val="051F71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Trang </a:t>
            </a:r>
            <a:r>
              <a:rPr sz="1400" dirty="0" err="1">
                <a:latin typeface="Tahoma" panose="020B0604030504040204" pitchFamily="34" charset="0"/>
              </a:rPr>
              <a:t>chủ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58952" y="2346889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Đoàn </a:t>
            </a:r>
            <a:r>
              <a:rPr sz="1400" dirty="0" err="1">
                <a:latin typeface="Tahoma" panose="020B0604030504040204" pitchFamily="34" charset="0"/>
              </a:rPr>
              <a:t>viên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58952" y="2804089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CĐCS</a:t>
            </a:r>
            <a:r>
              <a:rPr sz="1400" dirty="0">
                <a:latin typeface="Tahoma" panose="020B0604030504040204" pitchFamily="34" charset="0"/>
              </a:rPr>
              <a:t>/BCH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3261289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Chăm</a:t>
            </a:r>
            <a:r>
              <a:rPr sz="1400" dirty="0">
                <a:latin typeface="Tahoma" panose="020B0604030504040204" pitchFamily="34" charset="0"/>
              </a:rPr>
              <a:t> 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3718489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Vụ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8952" y="4175689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58952" y="4632889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Tài </a:t>
            </a:r>
            <a:r>
              <a:rPr sz="1400" dirty="0" err="1">
                <a:latin typeface="Tahoma" panose="020B0604030504040204" pitchFamily="34" charset="0"/>
              </a:rPr>
              <a:t>chính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58952" y="5090089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Báo </a:t>
            </a:r>
            <a:r>
              <a:rPr sz="1400" dirty="0" err="1">
                <a:latin typeface="Tahoma" panose="020B0604030504040204" pitchFamily="34" charset="0"/>
              </a:rPr>
              <a:t>cáo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743199" y="1907977"/>
            <a:ext cx="4389120" cy="31089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500" b="1">
                <a:solidFill>
                  <a:srgbClr val="051F71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Xin </a:t>
            </a:r>
            <a:r>
              <a:rPr sz="1400" dirty="0" err="1">
                <a:latin typeface="Tahoma" panose="020B0604030504040204" pitchFamily="34" charset="0"/>
              </a:rPr>
              <a:t>chào</a:t>
            </a:r>
            <a:r>
              <a:rPr sz="1400" dirty="0">
                <a:latin typeface="Tahoma" panose="020B0604030504040204" pitchFamily="34" charset="0"/>
              </a:rPr>
              <a:t>, BCH Công </a:t>
            </a:r>
            <a:r>
              <a:rPr sz="1400" dirty="0" err="1">
                <a:latin typeface="Tahoma" panose="020B0604030504040204" pitchFamily="34" charset="0"/>
              </a:rPr>
              <a:t>đoàn</a:t>
            </a:r>
            <a:r>
              <a:rPr sz="1400" dirty="0">
                <a:latin typeface="Tahoma" panose="020B0604030504040204" pitchFamily="34" charset="0"/>
              </a:rPr>
              <a:t> GPG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199" y="2273737"/>
            <a:ext cx="4937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50" b="1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Các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cần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xử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lý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hôm</a:t>
            </a:r>
            <a:r>
              <a:rPr sz="1400" dirty="0">
                <a:latin typeface="Tahoma" panose="020B0604030504040204" pitchFamily="34" charset="0"/>
              </a:rPr>
              <a:t> nay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199" y="2584633"/>
            <a:ext cx="1600200" cy="822960"/>
          </a:xfrm>
          <a:prstGeom prst="round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788919" y="2712649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800" b="1">
                <a:solidFill>
                  <a:srgbClr val="E87823"/>
                </a:solidFill>
                <a:latin typeface="Arial Narrow"/>
              </a:defRPr>
            </a:pPr>
            <a:r>
              <a:rPr sz="1400" dirty="0">
                <a:latin typeface="Tahoma" panose="020B0604030504040204" pitchFamily="34" charset="0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19" y="3050977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60" b="1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Việc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617719" y="2584633"/>
            <a:ext cx="1600200" cy="822960"/>
          </a:xfrm>
          <a:prstGeom prst="round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663439" y="2712649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800" b="1">
                <a:solidFill>
                  <a:srgbClr val="C53A3A"/>
                </a:solidFill>
                <a:latin typeface="Arial Narrow"/>
              </a:defRPr>
            </a:pPr>
            <a:r>
              <a:rPr sz="1400" dirty="0">
                <a:latin typeface="Tahoma" panose="020B0604030504040204" pitchFamily="34" charset="0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39" y="3050977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60" b="1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Vụ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quá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492240" y="2584633"/>
            <a:ext cx="1600200" cy="822960"/>
          </a:xfrm>
          <a:prstGeom prst="round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537959" y="2712649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800" b="1">
                <a:solidFill>
                  <a:srgbClr val="051F71"/>
                </a:solidFill>
                <a:latin typeface="Arial Narrow"/>
              </a:defRPr>
            </a:pPr>
            <a:r>
              <a:rPr sz="1400" dirty="0">
                <a:latin typeface="Tahoma" panose="020B0604030504040204" pitchFamily="34" charset="0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59" y="3050977"/>
            <a:ext cx="1627634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60" b="1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Báo </a:t>
            </a:r>
            <a:r>
              <a:rPr sz="1400" dirty="0" err="1">
                <a:latin typeface="Tahoma" panose="020B0604030504040204" pitchFamily="34" charset="0"/>
              </a:rPr>
              <a:t>cáo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chưa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nộp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2743199" y="3663625"/>
            <a:ext cx="53035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944368" y="3791641"/>
            <a:ext cx="4937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051F7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VIỆC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CẦN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LÀM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962655" y="4110115"/>
            <a:ext cx="486460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Duyệt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CĐCS</a:t>
            </a:r>
            <a:r>
              <a:rPr sz="1400" dirty="0">
                <a:latin typeface="Tahoma" panose="020B0604030504040204" pitchFamily="34" charset="0"/>
              </a:rPr>
              <a:t> GPL </a:t>
            </a:r>
            <a:r>
              <a:rPr sz="1400" dirty="0" err="1">
                <a:latin typeface="Tahoma" panose="020B0604030504040204" pitchFamily="34" charset="0"/>
              </a:rPr>
              <a:t>tháng</a:t>
            </a:r>
            <a:r>
              <a:rPr sz="1400" dirty="0">
                <a:latin typeface="Tahoma" panose="020B0604030504040204" pitchFamily="34" charset="0"/>
              </a:rPr>
              <a:t> 8.</a:t>
            </a:r>
          </a:p>
          <a:p>
            <a:pPr>
              <a:defRPr sz="8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Kiểm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chứng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từ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chương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trình</a:t>
            </a:r>
            <a:r>
              <a:rPr sz="1400" dirty="0">
                <a:latin typeface="Tahoma" panose="020B0604030504040204" pitchFamily="34" charset="0"/>
              </a:rPr>
              <a:t> VCS.</a:t>
            </a:r>
          </a:p>
          <a:p>
            <a:pPr>
              <a:defRPr sz="8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Follow-up </a:t>
            </a:r>
            <a:r>
              <a:rPr sz="1400" dirty="0" err="1">
                <a:latin typeface="Tahoma" panose="020B0604030504040204" pitchFamily="34" charset="0"/>
              </a:rPr>
              <a:t>vụ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r>
              <a:rPr sz="1400" dirty="0">
                <a:latin typeface="Tahoma" panose="020B0604030504040204" pitchFamily="34" charset="0"/>
              </a:rPr>
              <a:t> UV-003.</a:t>
            </a:r>
          </a:p>
          <a:p>
            <a:pPr>
              <a:defRPr sz="8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Chuẩn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bị</a:t>
            </a:r>
            <a:r>
              <a:rPr sz="1400" dirty="0">
                <a:latin typeface="Tahoma" panose="020B0604030504040204" pitchFamily="34" charset="0"/>
              </a:rPr>
              <a:t> dashboard </a:t>
            </a:r>
            <a:r>
              <a:rPr sz="1400" dirty="0" err="1">
                <a:latin typeface="Tahoma" panose="020B0604030504040204" pitchFamily="34" charset="0"/>
              </a:rPr>
              <a:t>trình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BLĐ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1926265"/>
            <a:ext cx="3063240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567928" y="2054281"/>
            <a:ext cx="269747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E87823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CẢNH</a:t>
            </a:r>
            <a:r>
              <a:rPr sz="1400" dirty="0">
                <a:latin typeface="Tahoma" panose="020B0604030504040204" pitchFamily="34" charset="0"/>
              </a:rPr>
              <a:t> BÁO </a:t>
            </a:r>
            <a:r>
              <a:rPr sz="1400" dirty="0" err="1">
                <a:latin typeface="Tahoma" panose="020B0604030504040204" pitchFamily="34" charset="0"/>
              </a:rPr>
              <a:t>HỆ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THỐNG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586216" y="2502337"/>
            <a:ext cx="2843784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90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Vụ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sắp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quá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0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Chính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chăm</a:t>
            </a:r>
            <a:r>
              <a:rPr sz="1400" dirty="0">
                <a:latin typeface="Tahoma" panose="020B0604030504040204" pitchFamily="34" charset="0"/>
              </a:rPr>
              <a:t> lo </a:t>
            </a:r>
            <a:r>
              <a:rPr sz="1400" dirty="0" err="1">
                <a:latin typeface="Tahoma" panose="020B0604030504040204" pitchFamily="34" charset="0"/>
              </a:rPr>
              <a:t>chưa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xử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lý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0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Đơn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vị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chưa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nộp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cáo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0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Ngân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gần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vượt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kế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hoạch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"/>
            <a:ext cx="960120" cy="5486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64008"/>
            <a:ext cx="646818" cy="5852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749808"/>
            <a:ext cx="11649456" cy="22860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74320" y="6299379"/>
            <a:ext cx="207781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CÔNG ĐOÀN GPG | GPG TRADE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97632" y="5899331"/>
            <a:ext cx="1029448" cy="218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19">
                <a:solidFill>
                  <a:srgbClr val="677180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V. </a:t>
            </a:r>
            <a:r>
              <a:rPr dirty="0" err="1">
                <a:latin typeface="Tahoma" panose="020B0604030504040204" pitchFamily="34" charset="0"/>
              </a:rPr>
              <a:t>SỐ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HÓA</a:t>
            </a:r>
            <a:r>
              <a:rPr dirty="0">
                <a:latin typeface="Tahoma" panose="020B0604030504040204" pitchFamily="34" charset="0"/>
              </a:rPr>
              <a:t> HỒ </a:t>
            </a:r>
            <a:r>
              <a:rPr dirty="0" err="1">
                <a:latin typeface="Tahoma" panose="020B0604030504040204" pitchFamily="34" charset="0"/>
              </a:rPr>
              <a:t>SƠ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347478" y="6271947"/>
            <a:ext cx="338554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5175" y="219456"/>
            <a:ext cx="9164688" cy="5001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50" b="1">
                <a:solidFill>
                  <a:srgbClr val="051F71"/>
                </a:solidFill>
                <a:latin typeface="Arial Narrow"/>
              </a:defRPr>
            </a:pPr>
            <a:r>
              <a:rPr dirty="0" err="1">
                <a:latin typeface="Tahoma" panose="020B0604030504040204" pitchFamily="34" charset="0"/>
              </a:rPr>
              <a:t>MÀN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HÌNH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ĐỀ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XUẤT</a:t>
            </a:r>
            <a:r>
              <a:rPr dirty="0">
                <a:latin typeface="Tahoma" panose="020B0604030504040204" pitchFamily="34" charset="0"/>
              </a:rPr>
              <a:t> 02 – HỒ </a:t>
            </a:r>
            <a:r>
              <a:rPr dirty="0" err="1">
                <a:latin typeface="Tahoma" panose="020B0604030504040204" pitchFamily="34" charset="0"/>
              </a:rPr>
              <a:t>SƠ</a:t>
            </a:r>
            <a:r>
              <a:rPr dirty="0">
                <a:latin typeface="Tahoma" panose="020B0604030504040204" pitchFamily="34" charset="0"/>
              </a:rPr>
              <a:t> ĐOÀN VIÊN &amp; </a:t>
            </a:r>
            <a:r>
              <a:rPr dirty="0" err="1">
                <a:latin typeface="Tahoma" panose="020B0604030504040204" pitchFamily="34" charset="0"/>
              </a:rPr>
              <a:t>CĐCS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13232" y="961571"/>
            <a:ext cx="10808208" cy="5186932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48640" y="961571"/>
            <a:ext cx="10972800" cy="475488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77240" y="1080443"/>
            <a:ext cx="105156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GPG UNION PORTAL | Hồ </a:t>
            </a:r>
            <a:r>
              <a:rPr sz="1400" dirty="0" err="1">
                <a:latin typeface="Tahoma" panose="020B0604030504040204" pitchFamily="34" charset="0"/>
              </a:rPr>
              <a:t>sơ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đoàn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viên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48640" y="1437059"/>
            <a:ext cx="1874519" cy="4720588"/>
          </a:xfrm>
          <a:prstGeom prst="rect">
            <a:avLst/>
          </a:prstGeom>
          <a:solidFill>
            <a:srgbClr val="F7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13232" y="1674803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1">
                <a:solidFill>
                  <a:srgbClr val="051F71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Đoàn </a:t>
            </a:r>
            <a:r>
              <a:rPr sz="1400" dirty="0" err="1">
                <a:latin typeface="Tahoma" panose="020B0604030504040204" pitchFamily="34" charset="0"/>
              </a:rPr>
              <a:t>viên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3232" y="2132003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CĐCS</a:t>
            </a:r>
            <a:r>
              <a:rPr sz="1400" dirty="0">
                <a:latin typeface="Tahoma" panose="020B0604030504040204" pitchFamily="34" charset="0"/>
              </a:rPr>
              <a:t>/BCH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589203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Import </a:t>
            </a:r>
            <a:r>
              <a:rPr sz="1400" dirty="0" err="1">
                <a:latin typeface="Tahoma" panose="020B0604030504040204" pitchFamily="34" charset="0"/>
              </a:rPr>
              <a:t>dữ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liệu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13232" y="3046403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Biến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13232" y="3503603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Tài </a:t>
            </a:r>
            <a:r>
              <a:rPr sz="1400" dirty="0" err="1">
                <a:latin typeface="Tahoma" panose="020B0604030504040204" pitchFamily="34" charset="0"/>
              </a:rPr>
              <a:t>liệu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697479" y="1665659"/>
            <a:ext cx="864108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898648" y="1793675"/>
            <a:ext cx="827531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50" b="1">
                <a:solidFill>
                  <a:srgbClr val="051F7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BỘ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LỌC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898648" y="2098185"/>
            <a:ext cx="820216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3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Công ty [</a:t>
            </a:r>
            <a:r>
              <a:rPr sz="1400" dirty="0" err="1">
                <a:latin typeface="Tahoma" panose="020B0604030504040204" pitchFamily="34" charset="0"/>
              </a:rPr>
              <a:t>Tất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cả</a:t>
            </a:r>
            <a:r>
              <a:rPr sz="1400" dirty="0">
                <a:latin typeface="Tahoma" panose="020B0604030504040204" pitchFamily="34" charset="0"/>
              </a:rPr>
              <a:t>]  |  </a:t>
            </a:r>
            <a:r>
              <a:rPr sz="1400" dirty="0" err="1">
                <a:latin typeface="Tahoma" panose="020B0604030504040204" pitchFamily="34" charset="0"/>
              </a:rPr>
              <a:t>Địa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điểm</a:t>
            </a:r>
            <a:r>
              <a:rPr sz="1400" dirty="0">
                <a:latin typeface="Tahoma" panose="020B0604030504040204" pitchFamily="34" charset="0"/>
              </a:rPr>
              <a:t> [</a:t>
            </a:r>
            <a:r>
              <a:rPr sz="1400" dirty="0" err="1">
                <a:latin typeface="Tahoma" panose="020B0604030504040204" pitchFamily="34" charset="0"/>
              </a:rPr>
              <a:t>Tất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cả</a:t>
            </a:r>
            <a:r>
              <a:rPr sz="1400" dirty="0">
                <a:latin typeface="Tahoma" panose="020B0604030504040204" pitchFamily="34" charset="0"/>
              </a:rPr>
              <a:t>]  |  </a:t>
            </a:r>
            <a:r>
              <a:rPr sz="1400" dirty="0" err="1">
                <a:latin typeface="Tahoma" panose="020B0604030504040204" pitchFamily="34" charset="0"/>
              </a:rPr>
              <a:t>Trạng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thái</a:t>
            </a:r>
            <a:r>
              <a:rPr sz="1400" dirty="0">
                <a:latin typeface="Tahoma" panose="020B0604030504040204" pitchFamily="34" charset="0"/>
              </a:rPr>
              <a:t> [</a:t>
            </a:r>
            <a:r>
              <a:rPr sz="1400" dirty="0" err="1">
                <a:latin typeface="Tahoma" panose="020B0604030504040204" pitchFamily="34" charset="0"/>
              </a:rPr>
              <a:t>Đang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r>
              <a:rPr sz="1400" dirty="0">
                <a:latin typeface="Tahoma" panose="020B0604030504040204" pitchFamily="34" charset="0"/>
              </a:rPr>
              <a:t>]  |  </a:t>
            </a:r>
            <a:r>
              <a:rPr sz="1400" dirty="0" err="1">
                <a:latin typeface="Tahoma" panose="020B0604030504040204" pitchFamily="34" charset="0"/>
              </a:rPr>
              <a:t>Tìm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kiếm</a:t>
            </a:r>
            <a:r>
              <a:rPr sz="1400" dirty="0">
                <a:latin typeface="Tahoma" panose="020B0604030504040204" pitchFamily="34" charset="0"/>
              </a:rPr>
              <a:t> [</a:t>
            </a:r>
            <a:r>
              <a:rPr sz="1400" dirty="0" err="1">
                <a:latin typeface="Tahoma" panose="020B0604030504040204" pitchFamily="34" charset="0"/>
              </a:rPr>
              <a:t>Tên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Mã</a:t>
            </a:r>
            <a:r>
              <a:rPr sz="1400" dirty="0">
                <a:latin typeface="Tahoma" panose="020B0604030504040204" pitchFamily="34" charset="0"/>
              </a:rPr>
              <a:t> NV]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97479" y="2625779"/>
            <a:ext cx="960120" cy="45720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734055" y="2689787"/>
            <a:ext cx="8869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Mã</a:t>
            </a:r>
            <a:r>
              <a:rPr sz="1400" dirty="0">
                <a:latin typeface="Tahoma" panose="020B0604030504040204" pitchFamily="34" charset="0"/>
              </a:rPr>
              <a:t> NV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2625779"/>
            <a:ext cx="2148840" cy="45720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694176" y="2689787"/>
            <a:ext cx="2075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Họ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tên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806440" y="2625779"/>
            <a:ext cx="1005840" cy="45720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843016" y="2689787"/>
            <a:ext cx="932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Công 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12280" y="2625779"/>
            <a:ext cx="1234440" cy="45720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848856" y="2689787"/>
            <a:ext cx="11612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CĐ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046720" y="2625779"/>
            <a:ext cx="1234440" cy="45720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083295" y="2689787"/>
            <a:ext cx="11612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Địa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điểm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281160" y="2625779"/>
            <a:ext cx="1417320" cy="45720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317735" y="2689787"/>
            <a:ext cx="13441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Trạng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2697479" y="3082979"/>
            <a:ext cx="9601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734055" y="3137842"/>
            <a:ext cx="8869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NV3811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657600" y="3082979"/>
            <a:ext cx="214884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3694176" y="3137842"/>
            <a:ext cx="2075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Nguyễn </a:t>
            </a:r>
            <a:r>
              <a:rPr sz="1400" dirty="0" err="1">
                <a:latin typeface="Tahoma" panose="020B0604030504040204" pitchFamily="34" charset="0"/>
              </a:rPr>
              <a:t>Trần</a:t>
            </a:r>
            <a:r>
              <a:rPr sz="1400" dirty="0">
                <a:latin typeface="Tahoma" panose="020B0604030504040204" pitchFamily="34" charset="0"/>
              </a:rPr>
              <a:t> Hải Yến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3082979"/>
            <a:ext cx="100584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843016" y="3137842"/>
            <a:ext cx="932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VCS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12280" y="3082979"/>
            <a:ext cx="123444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848856" y="3137842"/>
            <a:ext cx="11612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Đoàn </a:t>
            </a:r>
            <a:r>
              <a:rPr sz="1400" dirty="0" err="1">
                <a:latin typeface="Tahoma" panose="020B0604030504040204" pitchFamily="34" charset="0"/>
              </a:rPr>
              <a:t>viên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8046720" y="3082979"/>
            <a:ext cx="123444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083295" y="3137842"/>
            <a:ext cx="11612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VP-TCT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3082979"/>
            <a:ext cx="14173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317735" y="3137842"/>
            <a:ext cx="13441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Đang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2697479" y="3540179"/>
            <a:ext cx="96012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734055" y="3595042"/>
            <a:ext cx="8869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NV1182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3657600" y="3540179"/>
            <a:ext cx="214884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694176" y="3595042"/>
            <a:ext cx="2075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Nguyễn Văn Quang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3540179"/>
            <a:ext cx="100584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843016" y="3595042"/>
            <a:ext cx="932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VCS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12280" y="3540179"/>
            <a:ext cx="123444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848856" y="3595042"/>
            <a:ext cx="11612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Đoàn </a:t>
            </a:r>
            <a:r>
              <a:rPr sz="1400" dirty="0" err="1">
                <a:latin typeface="Tahoma" panose="020B0604030504040204" pitchFamily="34" charset="0"/>
              </a:rPr>
              <a:t>viên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8046720" y="3540179"/>
            <a:ext cx="123444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8083295" y="3595042"/>
            <a:ext cx="11612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VP-TCT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81160" y="3540179"/>
            <a:ext cx="141732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317735" y="3595042"/>
            <a:ext cx="13441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Đang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2697479" y="3997379"/>
            <a:ext cx="9601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734055" y="4052243"/>
            <a:ext cx="8869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NVxxxx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3657600" y="3997379"/>
            <a:ext cx="214884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694176" y="4052243"/>
            <a:ext cx="2075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Nguyễn 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3997379"/>
            <a:ext cx="100584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5843016" y="4052243"/>
            <a:ext cx="932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12280" y="3997379"/>
            <a:ext cx="123444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848856" y="4052243"/>
            <a:ext cx="11612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Chưa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gia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nhập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8046720" y="3997379"/>
            <a:ext cx="123444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8083295" y="4052243"/>
            <a:ext cx="11612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Linh Xuân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81160" y="3997379"/>
            <a:ext cx="14173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9317735" y="4052243"/>
            <a:ext cx="13441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Đang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2697479" y="4454579"/>
            <a:ext cx="96012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2734055" y="4509443"/>
            <a:ext cx="8869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NVyyyy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3657600" y="4454579"/>
            <a:ext cx="214884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94176" y="4509443"/>
            <a:ext cx="2075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Trần</a:t>
            </a:r>
            <a:r>
              <a:rPr sz="1400" dirty="0">
                <a:latin typeface="Tahoma" panose="020B0604030504040204" pitchFamily="34" charset="0"/>
              </a:rPr>
              <a:t> B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806440" y="4454579"/>
            <a:ext cx="100584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843016" y="4509443"/>
            <a:ext cx="932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AZC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812280" y="4454579"/>
            <a:ext cx="123444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848856" y="4509443"/>
            <a:ext cx="11612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Đoàn </a:t>
            </a:r>
            <a:r>
              <a:rPr sz="1400" dirty="0" err="1">
                <a:latin typeface="Tahoma" panose="020B0604030504040204" pitchFamily="34" charset="0"/>
              </a:rPr>
              <a:t>viên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8046720" y="4454579"/>
            <a:ext cx="123444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8083295" y="4509443"/>
            <a:ext cx="11612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Hải </a:t>
            </a:r>
            <a:r>
              <a:rPr sz="1400" dirty="0" err="1">
                <a:latin typeface="Tahoma" panose="020B0604030504040204" pitchFamily="34" charset="0"/>
              </a:rPr>
              <a:t>Phòng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9281160" y="4454579"/>
            <a:ext cx="141732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9317735" y="4509443"/>
            <a:ext cx="13441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Đang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2697479" y="4957499"/>
            <a:ext cx="41605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2898648" y="5085515"/>
            <a:ext cx="3794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118F9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TÁC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VỤ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2898648" y="5290249"/>
            <a:ext cx="37216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81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Thêm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đoàn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viên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cập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nhật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biến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xuất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danh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kiểm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dữ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liệu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thiếu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086599" y="4957499"/>
            <a:ext cx="42519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7287768" y="5085515"/>
            <a:ext cx="38862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E87823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HỒ </a:t>
            </a:r>
            <a:r>
              <a:rPr sz="1400" dirty="0" err="1">
                <a:latin typeface="Tahoma" panose="020B0604030504040204" pitchFamily="34" charset="0"/>
              </a:rPr>
              <a:t>SƠ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GẮN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KÈM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7306055" y="5271961"/>
            <a:ext cx="38130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81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Đơn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gia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nhập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quyết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định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tài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liệu</a:t>
            </a:r>
            <a:r>
              <a:rPr sz="1400" dirty="0">
                <a:latin typeface="Tahoma" panose="020B0604030504040204" pitchFamily="34" charset="0"/>
              </a:rPr>
              <a:t> BCH • </a:t>
            </a:r>
            <a:r>
              <a:rPr sz="1400" dirty="0" err="1">
                <a:latin typeface="Tahoma" panose="020B0604030504040204" pitchFamily="34" charset="0"/>
              </a:rPr>
              <a:t>lịch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sử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chính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endParaRPr sz="14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"/>
            <a:ext cx="960120" cy="5486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64008"/>
            <a:ext cx="646818" cy="5852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749808"/>
            <a:ext cx="11649456" cy="22860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40" y="6483096"/>
            <a:ext cx="207781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CÔNG ĐOÀN GPG | GPG TRADE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43352" y="6473952"/>
            <a:ext cx="1029448" cy="218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19">
                <a:solidFill>
                  <a:srgbClr val="677180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V. </a:t>
            </a:r>
            <a:r>
              <a:rPr dirty="0" err="1">
                <a:latin typeface="Tahoma" panose="020B0604030504040204" pitchFamily="34" charset="0"/>
              </a:rPr>
              <a:t>SỐ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HÓA</a:t>
            </a:r>
            <a:r>
              <a:rPr dirty="0">
                <a:latin typeface="Tahoma" panose="020B0604030504040204" pitchFamily="34" charset="0"/>
              </a:rPr>
              <a:t> HỒ </a:t>
            </a:r>
            <a:r>
              <a:rPr dirty="0" err="1">
                <a:latin typeface="Tahoma" panose="020B0604030504040204" pitchFamily="34" charset="0"/>
              </a:rPr>
              <a:t>SƠ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393198" y="6455664"/>
            <a:ext cx="338554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276" y="162803"/>
            <a:ext cx="9905276" cy="5001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50" b="1">
                <a:solidFill>
                  <a:srgbClr val="051F71"/>
                </a:solidFill>
                <a:latin typeface="Arial Narrow"/>
              </a:defRPr>
            </a:pPr>
            <a:r>
              <a:rPr dirty="0" err="1">
                <a:latin typeface="Tahoma" panose="020B0604030504040204" pitchFamily="34" charset="0"/>
              </a:rPr>
              <a:t>MÀN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HÌNH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ĐỀ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XUẤT</a:t>
            </a:r>
            <a:r>
              <a:rPr dirty="0">
                <a:latin typeface="Tahoma" panose="020B0604030504040204" pitchFamily="34" charset="0"/>
              </a:rPr>
              <a:t> 03 – QUẢN LÝ </a:t>
            </a:r>
            <a:r>
              <a:rPr dirty="0" err="1">
                <a:latin typeface="Tahoma" panose="020B0604030504040204" pitchFamily="34" charset="0"/>
              </a:rPr>
              <a:t>KIẾN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NGHỊ</a:t>
            </a:r>
            <a:r>
              <a:rPr dirty="0">
                <a:latin typeface="Tahoma" panose="020B0604030504040204" pitchFamily="34" charset="0"/>
              </a:rPr>
              <a:t> / </a:t>
            </a:r>
            <a:r>
              <a:rPr dirty="0" err="1">
                <a:latin typeface="Tahoma" panose="020B0604030504040204" pitchFamily="34" charset="0"/>
              </a:rPr>
              <a:t>VỤ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VIỆC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8912" y="977122"/>
            <a:ext cx="10972800" cy="4590288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8912" y="977122"/>
            <a:ext cx="10972800" cy="475488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7512" y="1095994"/>
            <a:ext cx="105156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GPG UNION PORTAL | Case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1452610"/>
            <a:ext cx="1874519" cy="4114800"/>
          </a:xfrm>
          <a:prstGeom prst="rect">
            <a:avLst/>
          </a:prstGeom>
          <a:solidFill>
            <a:srgbClr val="F7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03504" y="1690354"/>
            <a:ext cx="150876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1">
                <a:solidFill>
                  <a:srgbClr val="051F71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Danh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vụ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504" y="2147554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mới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03504" y="2604754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Quá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03504" y="3061954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Báo </a:t>
            </a:r>
            <a:r>
              <a:rPr sz="1400" dirty="0" err="1">
                <a:latin typeface="Tahoma" panose="020B0604030504040204" pitchFamily="34" charset="0"/>
              </a:rPr>
              <a:t>cáo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03504" y="3519154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Phân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tích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587751" y="1772650"/>
            <a:ext cx="91440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624327" y="1836658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Mã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502151" y="1772650"/>
            <a:ext cx="91440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538727" y="1836658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vị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416552" y="1772650"/>
            <a:ext cx="164592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453128" y="1836658"/>
            <a:ext cx="15727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Nhóm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062472" y="1772650"/>
            <a:ext cx="73152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099048" y="1836658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Mức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793992" y="1772650"/>
            <a:ext cx="164592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830568" y="1836658"/>
            <a:ext cx="15727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PIC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39912" y="1772650"/>
            <a:ext cx="100584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476488" y="1836658"/>
            <a:ext cx="932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Deadline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45752" y="1772650"/>
            <a:ext cx="132588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482328" y="1836658"/>
            <a:ext cx="12527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Trạng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2587751" y="2248138"/>
            <a:ext cx="9144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4327" y="2303002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UV-003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02151" y="2248138"/>
            <a:ext cx="9144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538727" y="2303002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AZC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16552" y="2248138"/>
            <a:ext cx="16459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453128" y="2303002"/>
            <a:ext cx="15727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Ca </a:t>
            </a:r>
            <a:r>
              <a:rPr sz="1400" dirty="0" err="1">
                <a:latin typeface="Tahoma" panose="020B0604030504040204" pitchFamily="34" charset="0"/>
              </a:rPr>
              <a:t>làm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062472" y="2248138"/>
            <a:ext cx="7315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099048" y="2303002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Cao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93992" y="2248138"/>
            <a:ext cx="16459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830568" y="2303002"/>
            <a:ext cx="15727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HR + </a:t>
            </a:r>
            <a:r>
              <a:rPr sz="1400" dirty="0" err="1">
                <a:latin typeface="Tahoma" panose="020B0604030504040204" pitchFamily="34" charset="0"/>
              </a:rPr>
              <a:t>CĐ</a:t>
            </a:r>
            <a:r>
              <a:rPr sz="1400" dirty="0">
                <a:latin typeface="Tahoma" panose="020B0604030504040204" pitchFamily="34" charset="0"/>
              </a:rPr>
              <a:t> GPG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39912" y="2248138"/>
            <a:ext cx="100584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76488" y="2303002"/>
            <a:ext cx="932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15/08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45752" y="2248138"/>
            <a:ext cx="13258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482328" y="2303002"/>
            <a:ext cx="12527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Đang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xử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lý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2587751" y="2723626"/>
            <a:ext cx="91440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624327" y="2778490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UV-006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02151" y="2723626"/>
            <a:ext cx="91440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538727" y="2778490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16552" y="2723626"/>
            <a:ext cx="164592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453128" y="2778490"/>
            <a:ext cx="15727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Phúc </a:t>
            </a:r>
            <a:r>
              <a:rPr sz="1400" dirty="0" err="1">
                <a:latin typeface="Tahoma" panose="020B0604030504040204" pitchFamily="34" charset="0"/>
              </a:rPr>
              <a:t>lợi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062472" y="2723626"/>
            <a:ext cx="73152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099048" y="2778490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TB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93992" y="2723626"/>
            <a:ext cx="164592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830568" y="2778490"/>
            <a:ext cx="15727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CĐCS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8439912" y="2723626"/>
            <a:ext cx="100584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476488" y="2778490"/>
            <a:ext cx="932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16/08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45752" y="2723626"/>
            <a:ext cx="132588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482328" y="2778490"/>
            <a:ext cx="12527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Chờ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phản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hồi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2587751" y="3199114"/>
            <a:ext cx="9144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624327" y="3253978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UV-008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02151" y="3199114"/>
            <a:ext cx="9144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538727" y="3253978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VCS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16552" y="3199114"/>
            <a:ext cx="16459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453128" y="3253978"/>
            <a:ext cx="15727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Điều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kiện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làm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6062472" y="3199114"/>
            <a:ext cx="7315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099048" y="3253978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Cao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93992" y="3199114"/>
            <a:ext cx="16459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6830568" y="3253978"/>
            <a:ext cx="15727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BNC + </a:t>
            </a:r>
            <a:r>
              <a:rPr sz="1400" dirty="0" err="1">
                <a:latin typeface="Tahoma" panose="020B0604030504040204" pitchFamily="34" charset="0"/>
              </a:rPr>
              <a:t>CĐCS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8439912" y="3199114"/>
            <a:ext cx="100584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8476488" y="3253978"/>
            <a:ext cx="932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14/08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445752" y="3199114"/>
            <a:ext cx="13258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9482328" y="3253978"/>
            <a:ext cx="12527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Quá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2587751" y="3674602"/>
            <a:ext cx="91440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2624327" y="3729466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UV-010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02151" y="3674602"/>
            <a:ext cx="91440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3538727" y="3729466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416552" y="3674602"/>
            <a:ext cx="164592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4453128" y="3729466"/>
            <a:ext cx="15727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Đề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xuất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6062472" y="3674602"/>
            <a:ext cx="73152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099048" y="3729466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Thấp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6793992" y="3674602"/>
            <a:ext cx="164592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6830568" y="3729466"/>
            <a:ext cx="15727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CĐCS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8439912" y="3674602"/>
            <a:ext cx="100584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8476488" y="3729466"/>
            <a:ext cx="932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30/08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445752" y="3674602"/>
            <a:ext cx="132588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9482328" y="3729466"/>
            <a:ext cx="12527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7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Kế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hoạch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2587751" y="4470130"/>
            <a:ext cx="24231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2788920" y="4598146"/>
            <a:ext cx="205739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50" b="1">
                <a:solidFill>
                  <a:srgbClr val="051F71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THÔNG TIN </a:t>
            </a:r>
            <a:r>
              <a:rPr sz="1400" dirty="0" err="1">
                <a:latin typeface="Tahoma" panose="020B0604030504040204" pitchFamily="34" charset="0"/>
              </a:rPr>
              <a:t>BẮT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BUỘC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788920" y="4837890"/>
            <a:ext cx="1984248" cy="73866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10" b="0">
                <a:solidFill>
                  <a:srgbClr val="202838"/>
                </a:solidFill>
                <a:latin typeface="Arial"/>
              </a:defRPr>
            </a:pPr>
            <a:r>
              <a:rPr lang="vi-VN"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Nguồn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tiếp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nhận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mô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tả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người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bị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ảnh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hưởng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mức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tài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liệu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5285231" y="4470130"/>
            <a:ext cx="24231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486399" y="4598146"/>
            <a:ext cx="20574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50" b="1">
                <a:solidFill>
                  <a:srgbClr val="118F91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WORKFLOW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523701" y="4759590"/>
            <a:ext cx="1984248" cy="73866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1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Xác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minh</a:t>
            </a:r>
            <a:r>
              <a:rPr sz="1400" dirty="0">
                <a:latin typeface="Tahoma" panose="020B0604030504040204" pitchFamily="34" charset="0"/>
              </a:rPr>
              <a:t> → </a:t>
            </a:r>
            <a:r>
              <a:rPr sz="1400" dirty="0" err="1">
                <a:latin typeface="Tahoma" panose="020B0604030504040204" pitchFamily="34" charset="0"/>
              </a:rPr>
              <a:t>phân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loại</a:t>
            </a:r>
            <a:r>
              <a:rPr sz="1400" dirty="0">
                <a:latin typeface="Tahoma" panose="020B0604030504040204" pitchFamily="34" charset="0"/>
              </a:rPr>
              <a:t> → </a:t>
            </a:r>
            <a:r>
              <a:rPr sz="1400" dirty="0" err="1">
                <a:latin typeface="Tahoma" panose="020B0604030504040204" pitchFamily="34" charset="0"/>
              </a:rPr>
              <a:t>giao</a:t>
            </a:r>
            <a:r>
              <a:rPr sz="1400" dirty="0">
                <a:latin typeface="Tahoma" panose="020B0604030504040204" pitchFamily="34" charset="0"/>
              </a:rPr>
              <a:t> PIC → </a:t>
            </a:r>
            <a:r>
              <a:rPr sz="1400" dirty="0" err="1">
                <a:latin typeface="Tahoma" panose="020B0604030504040204" pitchFamily="34" charset="0"/>
              </a:rPr>
              <a:t>xử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lý</a:t>
            </a:r>
            <a:r>
              <a:rPr sz="1400" dirty="0">
                <a:latin typeface="Tahoma" panose="020B0604030504040204" pitchFamily="34" charset="0"/>
              </a:rPr>
              <a:t> → </a:t>
            </a:r>
            <a:r>
              <a:rPr sz="1400" dirty="0" err="1">
                <a:latin typeface="Tahoma" panose="020B0604030504040204" pitchFamily="34" charset="0"/>
              </a:rPr>
              <a:t>phản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hồi</a:t>
            </a:r>
            <a:r>
              <a:rPr sz="1400" dirty="0">
                <a:latin typeface="Tahoma" panose="020B0604030504040204" pitchFamily="34" charset="0"/>
              </a:rPr>
              <a:t> → </a:t>
            </a:r>
            <a:r>
              <a:rPr sz="1400" dirty="0" err="1">
                <a:latin typeface="Tahoma" panose="020B0604030504040204" pitchFamily="34" charset="0"/>
              </a:rPr>
              <a:t>đóng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7982712" y="4470130"/>
            <a:ext cx="32461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8183880" y="4598146"/>
            <a:ext cx="288035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50" b="1">
                <a:solidFill>
                  <a:srgbClr val="E87823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CẢNH</a:t>
            </a:r>
            <a:r>
              <a:rPr sz="1400" dirty="0">
                <a:latin typeface="Tahoma" panose="020B0604030504040204" pitchFamily="34" charset="0"/>
              </a:rPr>
              <a:t> BÁO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165592" y="4871293"/>
            <a:ext cx="2807208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1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24h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quá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vụ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lặp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lại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ảnh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hưởng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nhiều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NLĐ</a:t>
            </a:r>
            <a:endParaRPr sz="14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"/>
            <a:ext cx="960120" cy="5486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64008"/>
            <a:ext cx="646818" cy="5852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749808"/>
            <a:ext cx="11649456" cy="22860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40" y="6483096"/>
            <a:ext cx="207781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CÔNG ĐOÀN GPG | GPG TRADE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43352" y="6473952"/>
            <a:ext cx="1029448" cy="218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19">
                <a:solidFill>
                  <a:srgbClr val="677180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V. </a:t>
            </a:r>
            <a:r>
              <a:rPr dirty="0" err="1">
                <a:latin typeface="Tahoma" panose="020B0604030504040204" pitchFamily="34" charset="0"/>
              </a:rPr>
              <a:t>SỐ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HÓA</a:t>
            </a:r>
            <a:r>
              <a:rPr dirty="0">
                <a:latin typeface="Tahoma" panose="020B0604030504040204" pitchFamily="34" charset="0"/>
              </a:rPr>
              <a:t> HỒ </a:t>
            </a:r>
            <a:r>
              <a:rPr dirty="0" err="1">
                <a:latin typeface="Tahoma" panose="020B0604030504040204" pitchFamily="34" charset="0"/>
              </a:rPr>
              <a:t>SƠ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393198" y="6455664"/>
            <a:ext cx="338554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9212" y="163601"/>
            <a:ext cx="10843033" cy="5001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50" b="1">
                <a:solidFill>
                  <a:srgbClr val="051F71"/>
                </a:solidFill>
                <a:latin typeface="Arial Narrow"/>
              </a:defRPr>
            </a:pPr>
            <a:r>
              <a:rPr dirty="0" err="1">
                <a:latin typeface="Tahoma" panose="020B0604030504040204" pitchFamily="34" charset="0"/>
              </a:rPr>
              <a:t>MÀN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HÌNH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ĐỀ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XUẤT</a:t>
            </a:r>
            <a:r>
              <a:rPr dirty="0">
                <a:latin typeface="Tahoma" panose="020B0604030504040204" pitchFamily="34" charset="0"/>
              </a:rPr>
              <a:t> 04 – </a:t>
            </a:r>
            <a:r>
              <a:rPr dirty="0" err="1">
                <a:latin typeface="Tahoma" panose="020B0604030504040204" pitchFamily="34" charset="0"/>
              </a:rPr>
              <a:t>CHĂM</a:t>
            </a:r>
            <a:r>
              <a:rPr dirty="0">
                <a:latin typeface="Tahoma" panose="020B0604030504040204" pitchFamily="34" charset="0"/>
              </a:rPr>
              <a:t> LO / PHÚC LỢI / CHÍNH </a:t>
            </a:r>
            <a:r>
              <a:rPr dirty="0" err="1">
                <a:latin typeface="Tahoma" panose="020B0604030504040204" pitchFamily="34" charset="0"/>
              </a:rPr>
              <a:t>SÁCH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09600" y="1084040"/>
            <a:ext cx="10972800" cy="466706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09600" y="1084040"/>
            <a:ext cx="10972800" cy="475488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38200" y="1202912"/>
            <a:ext cx="105156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GPG UNION PORTAL | Welfare &amp; Policy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559528"/>
            <a:ext cx="1874519" cy="4114800"/>
          </a:xfrm>
          <a:prstGeom prst="rect">
            <a:avLst/>
          </a:prstGeom>
          <a:solidFill>
            <a:srgbClr val="F7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74192" y="1797272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1">
                <a:solidFill>
                  <a:srgbClr val="051F7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Chăm</a:t>
            </a:r>
            <a:r>
              <a:rPr sz="1400" dirty="0">
                <a:latin typeface="Tahoma" panose="020B0604030504040204" pitchFamily="34" charset="0"/>
              </a:rPr>
              <a:t> 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192" y="2254472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Chính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74192" y="2711672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Yêu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cầu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mới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4192" y="3181624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74192" y="3638824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Chứng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từ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758439" y="1833848"/>
            <a:ext cx="1783080" cy="822960"/>
          </a:xfrm>
          <a:prstGeom prst="round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804159" y="1961864"/>
            <a:ext cx="169164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800" b="1">
                <a:solidFill>
                  <a:srgbClr val="051F71"/>
                </a:solidFill>
                <a:latin typeface="Arial Narrow"/>
              </a:defRPr>
            </a:pPr>
            <a:r>
              <a:rPr sz="1400" dirty="0">
                <a:latin typeface="Tahoma" panose="020B0604030504040204" pitchFamily="34" charset="0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04159" y="2309336"/>
            <a:ext cx="169164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40" b="1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Sinh </a:t>
            </a:r>
            <a:r>
              <a:rPr sz="1400" dirty="0" err="1">
                <a:latin typeface="Tahoma" panose="020B0604030504040204" pitchFamily="34" charset="0"/>
              </a:rPr>
              <a:t>nhật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này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770119" y="1833848"/>
            <a:ext cx="1783080" cy="822960"/>
          </a:xfrm>
          <a:prstGeom prst="round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815839" y="1961864"/>
            <a:ext cx="169164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800" b="1">
                <a:solidFill>
                  <a:srgbClr val="118F91"/>
                </a:solidFill>
                <a:latin typeface="Arial Narrow"/>
              </a:defRPr>
            </a:pPr>
            <a:r>
              <a:rPr sz="1400" dirty="0">
                <a:latin typeface="Tahoma" panose="020B0604030504040204" pitchFamily="34" charset="0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5839" y="2309336"/>
            <a:ext cx="169164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40" b="1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Thăm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hỏi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781800" y="1833848"/>
            <a:ext cx="1783080" cy="822960"/>
          </a:xfrm>
          <a:prstGeom prst="round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827520" y="1961864"/>
            <a:ext cx="169164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800" b="1">
                <a:solidFill>
                  <a:srgbClr val="E87823"/>
                </a:solidFill>
                <a:latin typeface="Arial Narrow"/>
              </a:defRPr>
            </a:pPr>
            <a:r>
              <a:rPr sz="1400" dirty="0">
                <a:latin typeface="Tahoma" panose="020B0604030504040204" pitchFamily="34" charset="0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7520" y="2309336"/>
            <a:ext cx="169164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40" b="1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Hiếu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hỷ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793480" y="1833848"/>
            <a:ext cx="1783080" cy="822960"/>
          </a:xfrm>
          <a:prstGeom prst="round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839200" y="1961864"/>
            <a:ext cx="169164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800" b="1">
                <a:solidFill>
                  <a:srgbClr val="C53A3A"/>
                </a:solidFill>
                <a:latin typeface="Arial Narrow"/>
              </a:defRPr>
            </a:pPr>
            <a:r>
              <a:rPr sz="1400" dirty="0">
                <a:latin typeface="Tahoma" panose="020B0604030504040204" pitchFamily="34" charset="0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9200" y="2309336"/>
            <a:ext cx="169164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40" b="1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Chưa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hoàn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tất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758439" y="2758951"/>
            <a:ext cx="114300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795015" y="2822959"/>
            <a:ext cx="1069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Mã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901440" y="2758951"/>
            <a:ext cx="123444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938016" y="2822959"/>
            <a:ext cx="11612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Loại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135880" y="2758951"/>
            <a:ext cx="100584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172456" y="2822959"/>
            <a:ext cx="932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vị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141719" y="2758951"/>
            <a:ext cx="109728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178295" y="2822959"/>
            <a:ext cx="102412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Ngày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7238999" y="2758951"/>
            <a:ext cx="150876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275576" y="2822959"/>
            <a:ext cx="14356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Trạng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8747759" y="2758951"/>
            <a:ext cx="141732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784335" y="2822959"/>
            <a:ext cx="13441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Hồ </a:t>
            </a:r>
            <a:r>
              <a:rPr sz="1400" dirty="0" err="1">
                <a:latin typeface="Tahoma" panose="020B0604030504040204" pitchFamily="34" charset="0"/>
              </a:rPr>
              <a:t>sơ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8439" y="3234438"/>
            <a:ext cx="11430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795015" y="3289302"/>
            <a:ext cx="1069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CS-0826-01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01440" y="3234438"/>
            <a:ext cx="123444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938016" y="3289302"/>
            <a:ext cx="11612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Sinh </a:t>
            </a:r>
            <a:r>
              <a:rPr sz="1400" dirty="0" err="1">
                <a:latin typeface="Tahoma" panose="020B0604030504040204" pitchFamily="34" charset="0"/>
              </a:rPr>
              <a:t>nhật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5135880" y="3234438"/>
            <a:ext cx="100584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172456" y="3289302"/>
            <a:ext cx="932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41719" y="3234438"/>
            <a:ext cx="1097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178295" y="3289302"/>
            <a:ext cx="102412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13/08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38999" y="3234438"/>
            <a:ext cx="150876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7275576" y="3289302"/>
            <a:ext cx="14356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chuẩn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bị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8747759" y="3234438"/>
            <a:ext cx="14173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8784335" y="3289302"/>
            <a:ext cx="13441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Đủ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2758439" y="3709926"/>
            <a:ext cx="114300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795015" y="3764790"/>
            <a:ext cx="1069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CS-0826-02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901440" y="3709926"/>
            <a:ext cx="123444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938016" y="3764790"/>
            <a:ext cx="11612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Thăm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hỏi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5135880" y="3709926"/>
            <a:ext cx="100584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5172456" y="3764790"/>
            <a:ext cx="932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VCS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41719" y="3709926"/>
            <a:ext cx="109728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178295" y="3764790"/>
            <a:ext cx="102412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14/08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38999" y="3709926"/>
            <a:ext cx="150876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275576" y="3764790"/>
            <a:ext cx="14356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Chờ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duyệt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8747759" y="3709926"/>
            <a:ext cx="141732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8784335" y="3764790"/>
            <a:ext cx="13441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Đủ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2758439" y="4185414"/>
            <a:ext cx="11430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2795015" y="4240278"/>
            <a:ext cx="1069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CS-0826-03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901440" y="4185414"/>
            <a:ext cx="123444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3938016" y="4240278"/>
            <a:ext cx="11612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Hiếu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5135880" y="4185414"/>
            <a:ext cx="100584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5172456" y="4240278"/>
            <a:ext cx="932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AZC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41719" y="4185414"/>
            <a:ext cx="1097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6178295" y="4240278"/>
            <a:ext cx="102412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11/08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238999" y="4185414"/>
            <a:ext cx="150876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275576" y="4240278"/>
            <a:ext cx="14356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thực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hiện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8747759" y="4185414"/>
            <a:ext cx="14173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8784335" y="4240278"/>
            <a:ext cx="13441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Thiếu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ảnh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2758439" y="4805648"/>
            <a:ext cx="36576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2959608" y="4933664"/>
            <a:ext cx="329183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E87823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TỰ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NHẮC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886455" y="5128141"/>
            <a:ext cx="3666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81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Sinh </a:t>
            </a:r>
            <a:r>
              <a:rPr sz="1400" dirty="0" err="1">
                <a:latin typeface="Tahoma" panose="020B0604030504040204" pitchFamily="34" charset="0"/>
              </a:rPr>
              <a:t>nhật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trước</a:t>
            </a:r>
            <a:r>
              <a:rPr sz="1400" dirty="0">
                <a:latin typeface="Tahoma" panose="020B0604030504040204" pitchFamily="34" charset="0"/>
              </a:rPr>
              <a:t> 7 </a:t>
            </a:r>
            <a:r>
              <a:rPr sz="1400" dirty="0" err="1">
                <a:latin typeface="Tahoma" panose="020B0604030504040204" pitchFamily="34" charset="0"/>
              </a:rPr>
              <a:t>ngày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hồ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sơ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hiếu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hỷ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chưa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hoàn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tất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thanh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toán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chưa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quyết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toán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6690359" y="4805648"/>
            <a:ext cx="4709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6891527" y="4933664"/>
            <a:ext cx="43434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118F9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KIỂM</a:t>
            </a:r>
            <a:r>
              <a:rPr sz="1400" dirty="0">
                <a:latin typeface="Tahoma" panose="020B0604030504040204" pitchFamily="34" charset="0"/>
              </a:rPr>
              <a:t> SOÁT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95589" y="5170956"/>
            <a:ext cx="42702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81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Đúng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đối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tượng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đúng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định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mức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đúng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đủ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chứng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từ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có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hình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ảnh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biên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nhận</a:t>
            </a:r>
            <a:endParaRPr sz="14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"/>
            <a:ext cx="960120" cy="5486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64008"/>
            <a:ext cx="646818" cy="5852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749808"/>
            <a:ext cx="11649456" cy="22860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40" y="6483096"/>
            <a:ext cx="207781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CÔNG ĐOÀN GPG | GPG TRADE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43352" y="6473952"/>
            <a:ext cx="1029448" cy="218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19">
                <a:solidFill>
                  <a:srgbClr val="677180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V. </a:t>
            </a:r>
            <a:r>
              <a:rPr dirty="0" err="1">
                <a:latin typeface="Tahoma" panose="020B0604030504040204" pitchFamily="34" charset="0"/>
              </a:rPr>
              <a:t>SỐ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HÓA</a:t>
            </a:r>
            <a:r>
              <a:rPr dirty="0">
                <a:latin typeface="Tahoma" panose="020B0604030504040204" pitchFamily="34" charset="0"/>
              </a:rPr>
              <a:t> HỒ </a:t>
            </a:r>
            <a:r>
              <a:rPr dirty="0" err="1">
                <a:latin typeface="Tahoma" panose="020B0604030504040204" pitchFamily="34" charset="0"/>
              </a:rPr>
              <a:t>SƠ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393198" y="6455664"/>
            <a:ext cx="338554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027" y="148317"/>
            <a:ext cx="1269931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50" b="1">
                <a:solidFill>
                  <a:srgbClr val="051F71"/>
                </a:solidFill>
                <a:latin typeface="Arial Narrow"/>
              </a:defRPr>
            </a:pPr>
            <a:r>
              <a:rPr sz="2400" dirty="0" err="1">
                <a:latin typeface="Tahoma" panose="020B0604030504040204" pitchFamily="34" charset="0"/>
              </a:rPr>
              <a:t>MÀN</a:t>
            </a:r>
            <a:r>
              <a:rPr sz="2400" dirty="0">
                <a:latin typeface="Tahoma" panose="020B0604030504040204" pitchFamily="34" charset="0"/>
              </a:rPr>
              <a:t> </a:t>
            </a:r>
            <a:r>
              <a:rPr sz="2400" dirty="0" err="1">
                <a:latin typeface="Tahoma" panose="020B0604030504040204" pitchFamily="34" charset="0"/>
              </a:rPr>
              <a:t>HÌNH</a:t>
            </a:r>
            <a:r>
              <a:rPr sz="2400" dirty="0">
                <a:latin typeface="Tahoma" panose="020B0604030504040204" pitchFamily="34" charset="0"/>
              </a:rPr>
              <a:t> </a:t>
            </a:r>
            <a:r>
              <a:rPr sz="2400" dirty="0" err="1">
                <a:latin typeface="Tahoma" panose="020B0604030504040204" pitchFamily="34" charset="0"/>
              </a:rPr>
              <a:t>ĐỀ</a:t>
            </a:r>
            <a:r>
              <a:rPr sz="2400" dirty="0">
                <a:latin typeface="Tahoma" panose="020B0604030504040204" pitchFamily="34" charset="0"/>
              </a:rPr>
              <a:t> </a:t>
            </a:r>
            <a:r>
              <a:rPr sz="2400" dirty="0" err="1">
                <a:latin typeface="Tahoma" panose="020B0604030504040204" pitchFamily="34" charset="0"/>
              </a:rPr>
              <a:t>XUẤT</a:t>
            </a:r>
            <a:r>
              <a:rPr sz="2400" dirty="0">
                <a:latin typeface="Tahoma" panose="020B0604030504040204" pitchFamily="34" charset="0"/>
              </a:rPr>
              <a:t> 05 – QUẢN LÝ </a:t>
            </a:r>
            <a:r>
              <a:rPr sz="2400" dirty="0" err="1">
                <a:latin typeface="Tahoma" panose="020B0604030504040204" pitchFamily="34" charset="0"/>
              </a:rPr>
              <a:t>HOẠT</a:t>
            </a:r>
            <a:r>
              <a:rPr sz="2400" dirty="0">
                <a:latin typeface="Tahoma" panose="020B0604030504040204" pitchFamily="34" charset="0"/>
              </a:rPr>
              <a:t> </a:t>
            </a:r>
            <a:r>
              <a:rPr sz="2400" dirty="0" err="1">
                <a:latin typeface="Tahoma" panose="020B0604030504040204" pitchFamily="34" charset="0"/>
              </a:rPr>
              <a:t>ĐỘNG</a:t>
            </a:r>
            <a:r>
              <a:rPr sz="2400" dirty="0">
                <a:latin typeface="Tahoma" panose="020B0604030504040204" pitchFamily="34" charset="0"/>
              </a:rPr>
              <a:t> &amp; BÁO CÁO SAU </a:t>
            </a:r>
            <a:r>
              <a:rPr sz="2400" dirty="0" err="1">
                <a:latin typeface="Tahoma" panose="020B0604030504040204" pitchFamily="34" charset="0"/>
              </a:rPr>
              <a:t>CHƯƠNG</a:t>
            </a:r>
            <a:r>
              <a:rPr sz="2400" dirty="0">
                <a:latin typeface="Tahoma" panose="020B0604030504040204" pitchFamily="34" charset="0"/>
              </a:rPr>
              <a:t> </a:t>
            </a:r>
            <a:r>
              <a:rPr sz="2400" dirty="0" err="1">
                <a:latin typeface="Tahoma" panose="020B0604030504040204" pitchFamily="34" charset="0"/>
              </a:rPr>
              <a:t>TRÌNH</a:t>
            </a:r>
            <a:endParaRPr sz="2400" dirty="0">
              <a:latin typeface="Tahoma" panose="020B0604030504040204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4360" y="1536192"/>
            <a:ext cx="10972800" cy="4590288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94360" y="1536192"/>
            <a:ext cx="10972800" cy="475488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1655064"/>
            <a:ext cx="105156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GPG UNION PORTAL | Activities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2011680"/>
            <a:ext cx="1874519" cy="4114800"/>
          </a:xfrm>
          <a:prstGeom prst="rect">
            <a:avLst/>
          </a:prstGeom>
          <a:solidFill>
            <a:srgbClr val="F7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58952" y="2249424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1">
                <a:solidFill>
                  <a:srgbClr val="051F7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Kế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hoạch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58952" y="2706624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Đang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triển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khai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58952" y="3163824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hoàn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tất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58952" y="3621024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Báo </a:t>
            </a:r>
            <a:r>
              <a:rPr sz="1400" dirty="0" err="1">
                <a:latin typeface="Tahoma" panose="020B0604030504040204" pitchFamily="34" charset="0"/>
              </a:rPr>
              <a:t>cáo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sau</a:t>
            </a:r>
            <a:r>
              <a:rPr sz="1400" dirty="0">
                <a:latin typeface="Tahoma" panose="020B0604030504040204" pitchFamily="34" charset="0"/>
              </a:rPr>
              <a:t> 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4078224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Thư </a:t>
            </a:r>
            <a:r>
              <a:rPr sz="1400" dirty="0" err="1">
                <a:latin typeface="Tahoma" panose="020B0604030504040204" pitchFamily="34" charset="0"/>
              </a:rPr>
              <a:t>viện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ảnh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743199" y="2331720"/>
            <a:ext cx="114300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779775" y="2395728"/>
            <a:ext cx="1069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Mã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886200" y="2331720"/>
            <a:ext cx="1874519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922776" y="2395728"/>
            <a:ext cx="180136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Chương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trình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760720" y="2331720"/>
            <a:ext cx="96012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797296" y="2395728"/>
            <a:ext cx="8869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vị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720840" y="2331720"/>
            <a:ext cx="105156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757416" y="2395728"/>
            <a:ext cx="9784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Ngày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7772400" y="2331720"/>
            <a:ext cx="118872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808975" y="2395728"/>
            <a:ext cx="11155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Trạng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961120" y="2331720"/>
            <a:ext cx="86868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997696" y="2395728"/>
            <a:ext cx="7955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Số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người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9829800" y="2331720"/>
            <a:ext cx="105156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866376" y="2395728"/>
            <a:ext cx="9784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Điểm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2743199" y="2807208"/>
            <a:ext cx="11430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779775" y="2862072"/>
            <a:ext cx="1069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ACT-0826-01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86200" y="2807208"/>
            <a:ext cx="1874519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922776" y="2862072"/>
            <a:ext cx="180136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Bữa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trưa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kết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nối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760720" y="2807208"/>
            <a:ext cx="9601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797296" y="2862072"/>
            <a:ext cx="8869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20840" y="2807208"/>
            <a:ext cx="105156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757416" y="2862072"/>
            <a:ext cx="9784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25/08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0" y="2807208"/>
            <a:ext cx="1188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808975" y="2862072"/>
            <a:ext cx="11155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duyệt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8961120" y="2807208"/>
            <a:ext cx="8686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997696" y="2862072"/>
            <a:ext cx="7955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32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29800" y="2807208"/>
            <a:ext cx="105156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866376" y="2862072"/>
            <a:ext cx="9784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4,6/5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199" y="3282696"/>
            <a:ext cx="114300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779775" y="3337560"/>
            <a:ext cx="1069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ACT-0926-01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86200" y="3282696"/>
            <a:ext cx="1874519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922776" y="3337560"/>
            <a:ext cx="180136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Lắng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nghe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tuyến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đầu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5760720" y="3282696"/>
            <a:ext cx="96012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797296" y="3337560"/>
            <a:ext cx="8869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VCS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20840" y="3282696"/>
            <a:ext cx="105156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757416" y="3337560"/>
            <a:ext cx="9784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10/09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0" y="3282696"/>
            <a:ext cx="118872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808975" y="3337560"/>
            <a:ext cx="11155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Kế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hoạch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8961120" y="3282696"/>
            <a:ext cx="86868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997696" y="3337560"/>
            <a:ext cx="7955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29800" y="3282696"/>
            <a:ext cx="105156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866376" y="3337560"/>
            <a:ext cx="9784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199" y="3758184"/>
            <a:ext cx="11430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779775" y="3813048"/>
            <a:ext cx="1069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ACT-1026-02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886200" y="3758184"/>
            <a:ext cx="1874519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922776" y="3813048"/>
            <a:ext cx="180136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Skill-sharing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60720" y="3758184"/>
            <a:ext cx="9601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5797296" y="3813048"/>
            <a:ext cx="8869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20840" y="3758184"/>
            <a:ext cx="105156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757416" y="3813048"/>
            <a:ext cx="9784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18/10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72400" y="3758184"/>
            <a:ext cx="1188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808975" y="3813048"/>
            <a:ext cx="11155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Kế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hoạch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8961120" y="3758184"/>
            <a:ext cx="8686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8997696" y="3813048"/>
            <a:ext cx="7955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829800" y="3758184"/>
            <a:ext cx="105156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9866376" y="3813048"/>
            <a:ext cx="9784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6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—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43199" y="4434840"/>
            <a:ext cx="26974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2944368" y="4562855"/>
            <a:ext cx="233172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50" b="1">
                <a:solidFill>
                  <a:srgbClr val="051F7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TRƯỚC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CHƯƠNG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TRÌNH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2962655" y="5020055"/>
            <a:ext cx="2258568" cy="73866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3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Kế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hoạch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mục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tiêu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ngân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danh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phê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duyệt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5715000" y="4434840"/>
            <a:ext cx="26974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5916168" y="4562855"/>
            <a:ext cx="233172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50" b="1">
                <a:solidFill>
                  <a:srgbClr val="118F91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TRONG </a:t>
            </a:r>
            <a:r>
              <a:rPr sz="1400" dirty="0" err="1">
                <a:latin typeface="Tahoma" panose="020B0604030504040204" pitchFamily="34" charset="0"/>
              </a:rPr>
              <a:t>CHƯƠNG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TRÌNH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5934456" y="5020055"/>
            <a:ext cx="2258568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3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Check-in • </a:t>
            </a:r>
            <a:r>
              <a:rPr sz="1400" dirty="0" err="1">
                <a:latin typeface="Tahoma" panose="020B0604030504040204" pitchFamily="34" charset="0"/>
              </a:rPr>
              <a:t>ảnh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phản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hồi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nhanh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vấn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đề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phát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sinh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8686800" y="4434840"/>
            <a:ext cx="26974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8887968" y="4562855"/>
            <a:ext cx="233171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50" b="1">
                <a:solidFill>
                  <a:srgbClr val="E87823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SAU </a:t>
            </a:r>
            <a:r>
              <a:rPr sz="1400" dirty="0" err="1">
                <a:latin typeface="Tahoma" panose="020B0604030504040204" pitchFamily="34" charset="0"/>
              </a:rPr>
              <a:t>CHƯƠNG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TRÌNH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906256" y="5020055"/>
            <a:ext cx="2258568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3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Chi </a:t>
            </a:r>
            <a:r>
              <a:rPr sz="1400" dirty="0" err="1">
                <a:latin typeface="Tahoma" panose="020B0604030504040204" pitchFamily="34" charset="0"/>
              </a:rPr>
              <a:t>phí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chứng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từ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đánh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giá</a:t>
            </a:r>
            <a:r>
              <a:rPr sz="1400" dirty="0">
                <a:latin typeface="Tahoma" panose="020B0604030504040204" pitchFamily="34" charset="0"/>
              </a:rPr>
              <a:t> • follow-up • </a:t>
            </a:r>
            <a:r>
              <a:rPr sz="1400" dirty="0" err="1">
                <a:latin typeface="Tahoma" panose="020B0604030504040204" pitchFamily="34" charset="0"/>
              </a:rPr>
              <a:t>bài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học</a:t>
            </a:r>
            <a:endParaRPr sz="14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"/>
            <a:ext cx="960120" cy="5486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64008"/>
            <a:ext cx="646818" cy="5852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749808"/>
            <a:ext cx="11649456" cy="22860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40" y="6483096"/>
            <a:ext cx="207781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CÔNG ĐOÀN GPG | GPG TRADE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43352" y="6473952"/>
            <a:ext cx="1029448" cy="218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19">
                <a:solidFill>
                  <a:srgbClr val="677180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V. </a:t>
            </a:r>
            <a:r>
              <a:rPr dirty="0" err="1">
                <a:latin typeface="Tahoma" panose="020B0604030504040204" pitchFamily="34" charset="0"/>
              </a:rPr>
              <a:t>SỐ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HÓA</a:t>
            </a:r>
            <a:r>
              <a:rPr dirty="0">
                <a:latin typeface="Tahoma" panose="020B0604030504040204" pitchFamily="34" charset="0"/>
              </a:rPr>
              <a:t> HỒ </a:t>
            </a:r>
            <a:r>
              <a:rPr dirty="0" err="1">
                <a:latin typeface="Tahoma" panose="020B0604030504040204" pitchFamily="34" charset="0"/>
              </a:rPr>
              <a:t>SƠ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393198" y="6455664"/>
            <a:ext cx="338554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199" y="118872"/>
            <a:ext cx="1192185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50" b="1">
                <a:solidFill>
                  <a:srgbClr val="051F71"/>
                </a:solidFill>
                <a:latin typeface="Arial Narrow"/>
              </a:defRPr>
            </a:pPr>
            <a:r>
              <a:rPr sz="2400" dirty="0">
                <a:latin typeface="Tahoma" panose="020B0604030504040204" pitchFamily="34" charset="0"/>
              </a:rPr>
              <a:t>QUY </a:t>
            </a:r>
            <a:r>
              <a:rPr sz="2400" dirty="0" err="1">
                <a:latin typeface="Tahoma" panose="020B0604030504040204" pitchFamily="34" charset="0"/>
              </a:rPr>
              <a:t>TRÌNH</a:t>
            </a:r>
            <a:r>
              <a:rPr sz="2400" dirty="0">
                <a:latin typeface="Tahoma" panose="020B0604030504040204" pitchFamily="34" charset="0"/>
              </a:rPr>
              <a:t> </a:t>
            </a:r>
            <a:r>
              <a:rPr sz="2400" dirty="0" err="1">
                <a:latin typeface="Tahoma" panose="020B0604030504040204" pitchFamily="34" charset="0"/>
              </a:rPr>
              <a:t>SỐ</a:t>
            </a:r>
            <a:r>
              <a:rPr sz="2400" dirty="0">
                <a:latin typeface="Tahoma" panose="020B0604030504040204" pitchFamily="34" charset="0"/>
              </a:rPr>
              <a:t> </a:t>
            </a:r>
            <a:r>
              <a:rPr sz="2400" dirty="0" err="1">
                <a:latin typeface="Tahoma" panose="020B0604030504040204" pitchFamily="34" charset="0"/>
              </a:rPr>
              <a:t>HÓA</a:t>
            </a:r>
            <a:r>
              <a:rPr sz="2400" dirty="0">
                <a:latin typeface="Tahoma" panose="020B0604030504040204" pitchFamily="34" charset="0"/>
              </a:rPr>
              <a:t> END-TO-END – TỪ </a:t>
            </a:r>
            <a:r>
              <a:rPr sz="2400" dirty="0" err="1">
                <a:latin typeface="Tahoma" panose="020B0604030504040204" pitchFamily="34" charset="0"/>
              </a:rPr>
              <a:t>DỮ</a:t>
            </a:r>
            <a:r>
              <a:rPr sz="2400" dirty="0">
                <a:latin typeface="Tahoma" panose="020B0604030504040204" pitchFamily="34" charset="0"/>
              </a:rPr>
              <a:t> LIỆU </a:t>
            </a:r>
            <a:r>
              <a:rPr sz="2400" dirty="0" err="1">
                <a:latin typeface="Tahoma" panose="020B0604030504040204" pitchFamily="34" charset="0"/>
              </a:rPr>
              <a:t>ĐẦU</a:t>
            </a:r>
            <a:r>
              <a:rPr sz="2400" dirty="0">
                <a:latin typeface="Tahoma" panose="020B0604030504040204" pitchFamily="34" charset="0"/>
              </a:rPr>
              <a:t> </a:t>
            </a:r>
            <a:r>
              <a:rPr sz="2400" dirty="0" err="1">
                <a:latin typeface="Tahoma" panose="020B0604030504040204" pitchFamily="34" charset="0"/>
              </a:rPr>
              <a:t>VÀO</a:t>
            </a:r>
            <a:r>
              <a:rPr sz="2400" dirty="0">
                <a:latin typeface="Tahoma" panose="020B0604030504040204" pitchFamily="34" charset="0"/>
              </a:rPr>
              <a:t> </a:t>
            </a:r>
            <a:r>
              <a:rPr sz="2400" dirty="0" err="1">
                <a:latin typeface="Tahoma" panose="020B0604030504040204" pitchFamily="34" charset="0"/>
              </a:rPr>
              <a:t>ĐẾN</a:t>
            </a:r>
            <a:r>
              <a:rPr sz="2400" dirty="0">
                <a:latin typeface="Tahoma" panose="020B0604030504040204" pitchFamily="34" charset="0"/>
              </a:rPr>
              <a:t> DASHBOARD</a:t>
            </a:r>
          </a:p>
        </p:txBody>
      </p:sp>
      <p:sp>
        <p:nvSpPr>
          <p:cNvPr id="9" name="Oval 8"/>
          <p:cNvSpPr/>
          <p:nvPr/>
        </p:nvSpPr>
        <p:spPr>
          <a:xfrm>
            <a:off x="384048" y="1407474"/>
            <a:ext cx="658368" cy="658368"/>
          </a:xfrm>
          <a:prstGeom prst="ellipse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590355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4" y="2230435"/>
            <a:ext cx="1401527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051F71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NHẬP / </a:t>
            </a:r>
            <a:r>
              <a:rPr sz="1400" dirty="0" err="1">
                <a:latin typeface="Tahoma" panose="020B0604030504040204" pitchFamily="34" charset="0"/>
              </a:rPr>
              <a:t>ĐỒNG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BỘ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DỮ</a:t>
            </a:r>
            <a:r>
              <a:rPr sz="1400" dirty="0">
                <a:latin typeface="Tahoma" panose="020B0604030504040204" pitchFamily="34" charset="0"/>
              </a:rPr>
              <a:t> LIỆU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" y="2797363"/>
            <a:ext cx="1280160" cy="73866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HR master / </a:t>
            </a:r>
            <a:r>
              <a:rPr sz="1400" dirty="0" err="1">
                <a:latin typeface="Tahoma" panose="020B0604030504040204" pitchFamily="34" charset="0"/>
              </a:rPr>
              <a:t>CĐCS</a:t>
            </a:r>
            <a:r>
              <a:rPr sz="1400" dirty="0">
                <a:latin typeface="Tahoma" panose="020B0604030504040204" pitchFamily="34" charset="0"/>
              </a:rPr>
              <a:t> / import Excel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7280" y="1745803"/>
            <a:ext cx="731520" cy="0"/>
          </a:xfrm>
          <a:prstGeom prst="line">
            <a:avLst/>
          </a:prstGeom>
          <a:ln w="25400">
            <a:solidFill>
              <a:srgbClr val="D9E0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048256" y="1407474"/>
            <a:ext cx="658368" cy="658368"/>
          </a:xfrm>
          <a:prstGeom prst="ellipse">
            <a:avLst/>
          </a:prstGeom>
          <a:solidFill>
            <a:srgbClr val="2E6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048256" y="1590355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4" y="2230435"/>
            <a:ext cx="118872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2E63DC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TẠO</a:t>
            </a:r>
            <a:r>
              <a:rPr sz="1400" dirty="0">
                <a:latin typeface="Tahoma" panose="020B0604030504040204" pitchFamily="34" charset="0"/>
              </a:rPr>
              <a:t> HỒ </a:t>
            </a:r>
            <a:r>
              <a:rPr sz="1400" dirty="0" err="1">
                <a:latin typeface="Tahoma" panose="020B0604030504040204" pitchFamily="34" charset="0"/>
              </a:rPr>
              <a:t>SƠ</a:t>
            </a:r>
            <a:r>
              <a:rPr sz="1400" dirty="0">
                <a:latin typeface="Tahoma" panose="020B0604030504040204" pitchFamily="34" charset="0"/>
              </a:rPr>
              <a:t> / </a:t>
            </a:r>
            <a:r>
              <a:rPr sz="1400" dirty="0" err="1">
                <a:latin typeface="Tahoma" panose="020B0604030504040204" pitchFamily="34" charset="0"/>
              </a:rPr>
              <a:t>VỤ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746504" y="2797363"/>
            <a:ext cx="1280160" cy="95410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Đoàn </a:t>
            </a:r>
            <a:r>
              <a:rPr sz="1400" dirty="0" err="1">
                <a:latin typeface="Tahoma" panose="020B0604030504040204" pitchFamily="34" charset="0"/>
              </a:rPr>
              <a:t>viên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chăm</a:t>
            </a:r>
            <a:r>
              <a:rPr sz="1400" dirty="0">
                <a:latin typeface="Tahoma" panose="020B0604030504040204" pitchFamily="34" charset="0"/>
              </a:rPr>
              <a:t> lo • </a:t>
            </a:r>
            <a:r>
              <a:rPr sz="1400" dirty="0" err="1">
                <a:latin typeface="Tahoma" panose="020B0604030504040204" pitchFamily="34" charset="0"/>
              </a:rPr>
              <a:t>kiến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nghị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endParaRPr sz="1400" dirty="0">
              <a:latin typeface="Tahoma" panose="020B0604030504040204" pitchFamily="34" charset="0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761488" y="1745803"/>
            <a:ext cx="731520" cy="0"/>
          </a:xfrm>
          <a:prstGeom prst="line">
            <a:avLst/>
          </a:prstGeom>
          <a:ln w="25400">
            <a:solidFill>
              <a:srgbClr val="D9E0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712464" y="1407474"/>
            <a:ext cx="658368" cy="658368"/>
          </a:xfrm>
          <a:prstGeom prst="ellipse">
            <a:avLst/>
          </a:prstGeom>
          <a:solidFill>
            <a:srgbClr val="118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712464" y="1590355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2230435"/>
            <a:ext cx="118872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118F9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PHÊ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DUYỆT</a:t>
            </a:r>
            <a:r>
              <a:rPr sz="1400" dirty="0">
                <a:latin typeface="Tahoma" panose="020B0604030504040204" pitchFamily="34" charset="0"/>
              </a:rPr>
              <a:t> / GIAO PIC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0712" y="2797363"/>
            <a:ext cx="128016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Workflow </a:t>
            </a:r>
            <a:r>
              <a:rPr sz="1400" dirty="0" err="1">
                <a:latin typeface="Tahoma" panose="020B0604030504040204" pitchFamily="34" charset="0"/>
              </a:rPr>
              <a:t>theo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loại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hồ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sơ</a:t>
            </a:r>
            <a:endParaRPr sz="1400" dirty="0">
              <a:latin typeface="Tahoma" panose="020B0604030504040204" pitchFamily="34" charset="0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425696" y="1745803"/>
            <a:ext cx="731520" cy="0"/>
          </a:xfrm>
          <a:prstGeom prst="line">
            <a:avLst/>
          </a:prstGeom>
          <a:ln w="25400">
            <a:solidFill>
              <a:srgbClr val="D9E0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376672" y="1407474"/>
            <a:ext cx="658368" cy="658368"/>
          </a:xfrm>
          <a:prstGeom prst="ellipse">
            <a:avLst/>
          </a:prstGeom>
          <a:solidFill>
            <a:srgbClr val="E87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376672" y="1590355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230435"/>
            <a:ext cx="118872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E87823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THỰC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HIỆN</a:t>
            </a:r>
            <a:r>
              <a:rPr sz="1400" dirty="0">
                <a:latin typeface="Tahoma" panose="020B0604030504040204" pitchFamily="34" charset="0"/>
              </a:rPr>
              <a:t> &amp; </a:t>
            </a:r>
            <a:r>
              <a:rPr sz="1400" dirty="0" err="1">
                <a:latin typeface="Tahoma" panose="020B0604030504040204" pitchFamily="34" charset="0"/>
              </a:rPr>
              <a:t>CẬP</a:t>
            </a:r>
            <a:r>
              <a:rPr sz="1400" dirty="0">
                <a:latin typeface="Tahoma" panose="020B0604030504040204" pitchFamily="34" charset="0"/>
              </a:rPr>
              <a:t> NHẬT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797363"/>
            <a:ext cx="1280160" cy="73866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Trạng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thái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chứng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từ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phản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hồi</a:t>
            </a:r>
            <a:endParaRPr sz="1400" dirty="0">
              <a:latin typeface="Tahoma" panose="020B0604030504040204" pitchFamily="34" charset="0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6089904" y="1745803"/>
            <a:ext cx="731520" cy="0"/>
          </a:xfrm>
          <a:prstGeom prst="line">
            <a:avLst/>
          </a:prstGeom>
          <a:ln w="25400">
            <a:solidFill>
              <a:srgbClr val="D9E0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40880" y="1407474"/>
            <a:ext cx="658368" cy="658368"/>
          </a:xfrm>
          <a:prstGeom prst="ellipse">
            <a:avLst/>
          </a:prstGeom>
          <a:solidFill>
            <a:srgbClr val="2A97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040880" y="1590355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2230435"/>
            <a:ext cx="118872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2A975D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GIÁM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SÁT</a:t>
            </a:r>
            <a:r>
              <a:rPr sz="1400" dirty="0">
                <a:latin typeface="Tahoma" panose="020B0604030504040204" pitchFamily="34" charset="0"/>
              </a:rPr>
              <a:t> &amp; </a:t>
            </a:r>
            <a:r>
              <a:rPr sz="1400" dirty="0" err="1">
                <a:latin typeface="Tahoma" panose="020B0604030504040204" pitchFamily="34" charset="0"/>
              </a:rPr>
              <a:t>NHẮC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739128" y="2797363"/>
            <a:ext cx="128016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CĐ</a:t>
            </a:r>
            <a:r>
              <a:rPr sz="1400" dirty="0">
                <a:latin typeface="Tahoma" panose="020B0604030504040204" pitchFamily="34" charset="0"/>
              </a:rPr>
              <a:t> GPG / Ban </a:t>
            </a:r>
            <a:r>
              <a:rPr sz="1400" dirty="0" err="1">
                <a:latin typeface="Tahoma" panose="020B0604030504040204" pitchFamily="34" charset="0"/>
              </a:rPr>
              <a:t>CSNLĐ</a:t>
            </a:r>
            <a:endParaRPr sz="1400" dirty="0">
              <a:latin typeface="Tahoma" panose="020B0604030504040204" pitchFamily="34" charset="0"/>
            </a:endParaRPr>
          </a:p>
        </p:txBody>
      </p:sp>
      <p:cxnSp>
        <p:nvCxnSpPr>
          <p:cNvPr id="33" name="Connector 32"/>
          <p:cNvCxnSpPr/>
          <p:nvPr/>
        </p:nvCxnSpPr>
        <p:spPr>
          <a:xfrm>
            <a:off x="7754112" y="1745803"/>
            <a:ext cx="731520" cy="0"/>
          </a:xfrm>
          <a:prstGeom prst="line">
            <a:avLst/>
          </a:prstGeom>
          <a:ln w="25400">
            <a:solidFill>
              <a:srgbClr val="D9E0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8705088" y="1407474"/>
            <a:ext cx="658368" cy="658368"/>
          </a:xfrm>
          <a:prstGeom prst="ellipse">
            <a:avLst/>
          </a:prstGeom>
          <a:solidFill>
            <a:srgbClr val="F1B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705088" y="1590355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2230435"/>
            <a:ext cx="118872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1B419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ĐÓNG</a:t>
            </a:r>
            <a:r>
              <a:rPr sz="1400" dirty="0">
                <a:latin typeface="Tahoma" panose="020B0604030504040204" pitchFamily="34" charset="0"/>
              </a:rPr>
              <a:t> HỒ </a:t>
            </a:r>
            <a:r>
              <a:rPr sz="1400" dirty="0" err="1">
                <a:latin typeface="Tahoma" panose="020B0604030504040204" pitchFamily="34" charset="0"/>
              </a:rPr>
              <a:t>SƠ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403336" y="2797363"/>
            <a:ext cx="1280160" cy="73866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Kết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quả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bài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học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tài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liệu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lưu</a:t>
            </a:r>
            <a:endParaRPr sz="1400" dirty="0">
              <a:latin typeface="Tahoma" panose="020B0604030504040204" pitchFamily="34" charset="0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9418319" y="1745803"/>
            <a:ext cx="731521" cy="0"/>
          </a:xfrm>
          <a:prstGeom prst="line">
            <a:avLst/>
          </a:prstGeom>
          <a:ln w="25400">
            <a:solidFill>
              <a:srgbClr val="D9E0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10369296" y="1407474"/>
            <a:ext cx="658368" cy="658368"/>
          </a:xfrm>
          <a:prstGeom prst="ellipse">
            <a:avLst/>
          </a:prstGeom>
          <a:solidFill>
            <a:srgbClr val="744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0369296" y="1590355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13264" y="2230435"/>
            <a:ext cx="118872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744BB4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DASHBOARD &amp; BÁO CÁO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67544" y="2797363"/>
            <a:ext cx="128016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Tháng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quý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BLĐ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kiểm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tra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868680" y="4150674"/>
            <a:ext cx="3291840" cy="1670183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069848" y="4278691"/>
            <a:ext cx="292607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051F71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QUYỀN </a:t>
            </a:r>
            <a:r>
              <a:rPr sz="1400" dirty="0" err="1">
                <a:latin typeface="Tahoma" panose="020B0604030504040204" pitchFamily="34" charset="0"/>
              </a:rPr>
              <a:t>TRUY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CẬP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95828" y="4497419"/>
            <a:ext cx="2852928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83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CĐCS</a:t>
            </a:r>
            <a:r>
              <a:rPr sz="1400" dirty="0">
                <a:latin typeface="Tahoma" panose="020B0604030504040204" pitchFamily="34" charset="0"/>
              </a:rPr>
              <a:t>: </a:t>
            </a:r>
            <a:r>
              <a:rPr sz="1400" dirty="0" err="1">
                <a:latin typeface="Tahoma" panose="020B0604030504040204" pitchFamily="34" charset="0"/>
              </a:rPr>
              <a:t>dữ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liệu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vị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83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CĐ</a:t>
            </a:r>
            <a:r>
              <a:rPr sz="1400" dirty="0">
                <a:latin typeface="Tahoma" panose="020B0604030504040204" pitchFamily="34" charset="0"/>
              </a:rPr>
              <a:t> GPG: </a:t>
            </a:r>
            <a:r>
              <a:rPr sz="1400" dirty="0" err="1">
                <a:latin typeface="Tahoma" panose="020B0604030504040204" pitchFamily="34" charset="0"/>
              </a:rPr>
              <a:t>toàn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hệ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thống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83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Ban </a:t>
            </a:r>
            <a:r>
              <a:rPr sz="1400" dirty="0" err="1">
                <a:latin typeface="Tahoma" panose="020B0604030504040204" pitchFamily="34" charset="0"/>
              </a:rPr>
              <a:t>CSNLĐ</a:t>
            </a:r>
            <a:r>
              <a:rPr sz="1400" dirty="0">
                <a:latin typeface="Tahoma" panose="020B0604030504040204" pitchFamily="34" charset="0"/>
              </a:rPr>
              <a:t>: </a:t>
            </a:r>
            <a:r>
              <a:rPr sz="1400" dirty="0" err="1">
                <a:latin typeface="Tahoma" panose="020B0604030504040204" pitchFamily="34" charset="0"/>
              </a:rPr>
              <a:t>giám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chăm</a:t>
            </a:r>
            <a:r>
              <a:rPr sz="1400" dirty="0">
                <a:latin typeface="Tahoma" panose="020B0604030504040204" pitchFamily="34" charset="0"/>
              </a:rPr>
              <a:t> lo.</a:t>
            </a:r>
          </a:p>
          <a:p>
            <a:pPr>
              <a:spcAft>
                <a:spcPts val="550"/>
              </a:spcAft>
              <a:defRPr sz="83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BLĐ</a:t>
            </a:r>
            <a:r>
              <a:rPr sz="1400" dirty="0">
                <a:latin typeface="Tahoma" panose="020B0604030504040204" pitchFamily="34" charset="0"/>
              </a:rPr>
              <a:t>: dashboard </a:t>
            </a:r>
            <a:r>
              <a:rPr sz="1400" dirty="0" err="1">
                <a:latin typeface="Tahoma" panose="020B0604030504040204" pitchFamily="34" charset="0"/>
              </a:rPr>
              <a:t>tổng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hợp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34840" y="4150674"/>
            <a:ext cx="3291840" cy="1670175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636007" y="4278691"/>
            <a:ext cx="292608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118F9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KIỂM</a:t>
            </a:r>
            <a:r>
              <a:rPr sz="1400" dirty="0">
                <a:latin typeface="Tahoma" panose="020B0604030504040204" pitchFamily="34" charset="0"/>
              </a:rPr>
              <a:t> SOÁT </a:t>
            </a:r>
            <a:r>
              <a:rPr sz="1400" dirty="0" err="1">
                <a:latin typeface="Tahoma" panose="020B0604030504040204" pitchFamily="34" charset="0"/>
              </a:rPr>
              <a:t>DỮ</a:t>
            </a:r>
            <a:r>
              <a:rPr sz="1400" dirty="0">
                <a:latin typeface="Tahoma" panose="020B0604030504040204" pitchFamily="34" charset="0"/>
              </a:rPr>
              <a:t> LIỆU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61988" y="4497419"/>
            <a:ext cx="2852928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83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Lịch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sử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thay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đổi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83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Tài </a:t>
            </a:r>
            <a:r>
              <a:rPr sz="1400" dirty="0" err="1">
                <a:latin typeface="Tahoma" panose="020B0604030504040204" pitchFamily="34" charset="0"/>
              </a:rPr>
              <a:t>liệu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đính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kèm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83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Trạng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và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người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cập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nhật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83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Phân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quyền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theo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vai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trò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01000" y="4150674"/>
            <a:ext cx="3291840" cy="1756345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202168" y="4278691"/>
            <a:ext cx="292607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E87823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ƯU</a:t>
            </a:r>
            <a:r>
              <a:rPr sz="1400" dirty="0">
                <a:latin typeface="Tahoma" panose="020B0604030504040204" pitchFamily="34" charset="0"/>
              </a:rPr>
              <a:t> TIÊN </a:t>
            </a:r>
            <a:r>
              <a:rPr sz="1400" dirty="0" err="1">
                <a:latin typeface="Tahoma" panose="020B0604030504040204" pitchFamily="34" charset="0"/>
              </a:rPr>
              <a:t>TRIỂN</a:t>
            </a:r>
            <a:r>
              <a:rPr sz="1400" dirty="0">
                <a:latin typeface="Tahoma" panose="020B0604030504040204" pitchFamily="34" charset="0"/>
              </a:rPr>
              <a:t> KHAI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8148" y="4497419"/>
            <a:ext cx="285292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83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Giai </a:t>
            </a:r>
            <a:r>
              <a:rPr sz="1400" dirty="0" err="1">
                <a:latin typeface="Tahoma" panose="020B0604030504040204" pitchFamily="34" charset="0"/>
              </a:rPr>
              <a:t>đoạn</a:t>
            </a:r>
            <a:r>
              <a:rPr sz="1400" dirty="0">
                <a:latin typeface="Tahoma" panose="020B0604030504040204" pitchFamily="34" charset="0"/>
              </a:rPr>
              <a:t> 1: </a:t>
            </a:r>
            <a:r>
              <a:rPr sz="1400" dirty="0" err="1">
                <a:latin typeface="Tahoma" panose="020B0604030504040204" pitchFamily="34" charset="0"/>
              </a:rPr>
              <a:t>dữ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liệu</a:t>
            </a:r>
            <a:r>
              <a:rPr sz="1400" dirty="0">
                <a:latin typeface="Tahoma" panose="020B0604030504040204" pitchFamily="34" charset="0"/>
              </a:rPr>
              <a:t> + </a:t>
            </a:r>
            <a:r>
              <a:rPr sz="1400" dirty="0" err="1">
                <a:latin typeface="Tahoma" panose="020B0604030504040204" pitchFamily="34" charset="0"/>
              </a:rPr>
              <a:t>báo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cáo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83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Giai </a:t>
            </a:r>
            <a:r>
              <a:rPr sz="1400" dirty="0" err="1">
                <a:latin typeface="Tahoma" panose="020B0604030504040204" pitchFamily="34" charset="0"/>
              </a:rPr>
              <a:t>đoạn</a:t>
            </a:r>
            <a:r>
              <a:rPr sz="1400" dirty="0">
                <a:latin typeface="Tahoma" panose="020B0604030504040204" pitchFamily="34" charset="0"/>
              </a:rPr>
              <a:t> 2: workflow + dashboard.</a:t>
            </a:r>
          </a:p>
          <a:p>
            <a:pPr>
              <a:spcAft>
                <a:spcPts val="550"/>
              </a:spcAft>
              <a:defRPr sz="83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Giai </a:t>
            </a:r>
            <a:r>
              <a:rPr sz="1400" dirty="0" err="1">
                <a:latin typeface="Tahoma" panose="020B0604030504040204" pitchFamily="34" charset="0"/>
              </a:rPr>
              <a:t>đoạn</a:t>
            </a:r>
            <a:r>
              <a:rPr sz="1400" dirty="0">
                <a:latin typeface="Tahoma" panose="020B0604030504040204" pitchFamily="34" charset="0"/>
              </a:rPr>
              <a:t> 3: </a:t>
            </a:r>
            <a:r>
              <a:rPr sz="1400" dirty="0" err="1">
                <a:latin typeface="Tahoma" panose="020B0604030504040204" pitchFamily="34" charset="0"/>
              </a:rPr>
              <a:t>tích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hợp</a:t>
            </a:r>
            <a:r>
              <a:rPr sz="1400" dirty="0">
                <a:latin typeface="Tahoma" panose="020B0604030504040204" pitchFamily="34" charset="0"/>
              </a:rPr>
              <a:t> HR/Finance.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F7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56032"/>
            <a:ext cx="1360170" cy="7772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0312"/>
            <a:ext cx="92980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325880"/>
            <a:ext cx="7224486" cy="95410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5600" b="1">
                <a:solidFill>
                  <a:srgbClr val="F1B419"/>
                </a:solidFill>
                <a:latin typeface="Arial Narrow"/>
              </a:defRPr>
            </a:pPr>
            <a:r>
              <a:rPr lang="vi-VN" dirty="0">
                <a:latin typeface="Tahoma" panose="020B0604030504040204" pitchFamily="34" charset="0"/>
              </a:rPr>
              <a:t>PHẦN </a:t>
            </a:r>
            <a:r>
              <a:rPr dirty="0">
                <a:latin typeface="Tahoma" panose="020B0604030504040204" pitchFamily="34" charset="0"/>
              </a:rPr>
              <a:t>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241280" cy="55399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 Narrow"/>
              </a:defRPr>
            </a:pPr>
            <a:r>
              <a:rPr dirty="0">
                <a:latin typeface="Tahoma" panose="020B0604030504040204" pitchFamily="34" charset="0"/>
              </a:rPr>
              <a:t>BÁO CÁO – DASHBOARD – </a:t>
            </a:r>
            <a:r>
              <a:rPr dirty="0" err="1">
                <a:latin typeface="Tahoma" panose="020B0604030504040204" pitchFamily="34" charset="0"/>
              </a:rPr>
              <a:t>GIÁM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SÁT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31520" y="4800600"/>
            <a:ext cx="2286000" cy="45720"/>
          </a:xfrm>
          <a:prstGeom prst="rect">
            <a:avLst/>
          </a:prstGeom>
          <a:solidFill>
            <a:srgbClr val="F1B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49808" y="5074920"/>
            <a:ext cx="9875520" cy="26161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 err="1">
                <a:latin typeface="Tahoma" panose="020B0604030504040204" pitchFamily="34" charset="0"/>
              </a:rPr>
              <a:t>HỘI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NGHỊ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NGƯỜI</a:t>
            </a:r>
            <a:r>
              <a:rPr dirty="0">
                <a:latin typeface="Tahoma" panose="020B0604030504040204" pitchFamily="34" charset="0"/>
              </a:rPr>
              <a:t> LAO </a:t>
            </a:r>
            <a:r>
              <a:rPr dirty="0" err="1">
                <a:latin typeface="Tahoma" panose="020B0604030504040204" pitchFamily="34" charset="0"/>
              </a:rPr>
              <a:t>ĐỘNG</a:t>
            </a:r>
            <a:r>
              <a:rPr dirty="0">
                <a:latin typeface="Tahoma" panose="020B0604030504040204" pitchFamily="34" charset="0"/>
              </a:rPr>
              <a:t> – 15/08/2026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365760" cy="2308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"/>
            <a:ext cx="960120" cy="5486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64008"/>
            <a:ext cx="646818" cy="5852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749808"/>
            <a:ext cx="11649456" cy="22860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40" y="6483096"/>
            <a:ext cx="207781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CÔNG ĐOÀN GPG | GPG TRADE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85370" y="6473952"/>
            <a:ext cx="2087430" cy="218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19">
                <a:solidFill>
                  <a:srgbClr val="677180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IV. BÁO CÁO – DASHBOARD – </a:t>
            </a:r>
            <a:r>
              <a:rPr dirty="0" err="1">
                <a:latin typeface="Tahoma" panose="020B0604030504040204" pitchFamily="34" charset="0"/>
              </a:rPr>
              <a:t>GIÁM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SÁT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393198" y="6455664"/>
            <a:ext cx="338554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22239"/>
            <a:ext cx="10921580" cy="5001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50" b="1">
                <a:solidFill>
                  <a:srgbClr val="051F71"/>
                </a:solidFill>
                <a:latin typeface="Arial Narrow"/>
              </a:defRPr>
            </a:pPr>
            <a:r>
              <a:rPr dirty="0" err="1">
                <a:latin typeface="Tahoma" panose="020B0604030504040204" pitchFamily="34" charset="0"/>
              </a:rPr>
              <a:t>KIẾN</a:t>
            </a:r>
            <a:r>
              <a:rPr dirty="0">
                <a:latin typeface="Tahoma" panose="020B0604030504040204" pitchFamily="34" charset="0"/>
              </a:rPr>
              <a:t> TRÚC BÁO CÁO CÔNG ĐOÀN – TỪ </a:t>
            </a:r>
            <a:r>
              <a:rPr dirty="0" err="1">
                <a:latin typeface="Tahoma" panose="020B0604030504040204" pitchFamily="34" charset="0"/>
              </a:rPr>
              <a:t>ĐƠN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VỊ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LÊN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HỆ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THỐNG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4360" y="1600200"/>
            <a:ext cx="34290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95528" y="1728216"/>
            <a:ext cx="3063240" cy="29392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BÁO CÁO </a:t>
            </a:r>
            <a:r>
              <a:rPr dirty="0" err="1">
                <a:latin typeface="Tahoma" panose="020B0604030504040204" pitchFamily="34" charset="0"/>
              </a:rPr>
              <a:t>THÁNG</a:t>
            </a:r>
            <a:r>
              <a:rPr dirty="0">
                <a:latin typeface="Tahoma" panose="020B0604030504040204" pitchFamily="34" charset="0"/>
              </a:rPr>
              <a:t> – </a:t>
            </a:r>
            <a:r>
              <a:rPr dirty="0" err="1">
                <a:latin typeface="Tahoma" panose="020B0604030504040204" pitchFamily="34" charset="0"/>
              </a:rPr>
              <a:t>CĐCS</a:t>
            </a:r>
            <a:r>
              <a:rPr dirty="0">
                <a:latin typeface="Tahoma" panose="020B0604030504040204" pitchFamily="34" charset="0"/>
              </a:rPr>
              <a:t> → </a:t>
            </a:r>
            <a:r>
              <a:rPr dirty="0" err="1">
                <a:latin typeface="Tahoma" panose="020B0604030504040204" pitchFamily="34" charset="0"/>
              </a:rPr>
              <a:t>CĐ</a:t>
            </a:r>
            <a:r>
              <a:rPr dirty="0">
                <a:latin typeface="Tahoma" panose="020B0604030504040204" pitchFamily="34" charset="0"/>
              </a:rPr>
              <a:t> GPG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176272"/>
            <a:ext cx="2990088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Đoàn </a:t>
            </a:r>
            <a:r>
              <a:rPr sz="1400" dirty="0" err="1">
                <a:latin typeface="Tahoma" panose="020B0604030504040204" pitchFamily="34" charset="0"/>
              </a:rPr>
              <a:t>viên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NLĐ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và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biến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Chăm</a:t>
            </a:r>
            <a:r>
              <a:rPr sz="1400" dirty="0">
                <a:latin typeface="Tahoma" panose="020B0604030504040204" pitchFamily="34" charset="0"/>
              </a:rPr>
              <a:t> lo </a:t>
            </a:r>
            <a:r>
              <a:rPr sz="1400" dirty="0" err="1">
                <a:latin typeface="Tahoma" panose="020B0604030504040204" pitchFamily="34" charset="0"/>
              </a:rPr>
              <a:t>đã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thực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hiện</a:t>
            </a:r>
            <a:r>
              <a:rPr sz="1400" dirty="0">
                <a:latin typeface="Tahoma" panose="020B0604030504040204" pitchFamily="34" charset="0"/>
              </a:rPr>
              <a:t> / </a:t>
            </a:r>
            <a:r>
              <a:rPr sz="1400" dirty="0" err="1">
                <a:latin typeface="Tahoma" panose="020B0604030504040204" pitchFamily="34" charset="0"/>
              </a:rPr>
              <a:t>chưa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hoàn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tất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Ý </a:t>
            </a:r>
            <a:r>
              <a:rPr sz="1400" dirty="0" err="1">
                <a:latin typeface="Tahoma" panose="020B0604030504040204" pitchFamily="34" charset="0"/>
              </a:rPr>
              <a:t>kiến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kiến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nghị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và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xử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lý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gắn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kết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và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mức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tham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gia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Thu – chi </a:t>
            </a:r>
            <a:r>
              <a:rPr sz="1400" dirty="0" err="1">
                <a:latin typeface="Tahoma" panose="020B0604030504040204" pitchFamily="34" charset="0"/>
              </a:rPr>
              <a:t>và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chứng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từ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Kế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tới</a:t>
            </a:r>
            <a:r>
              <a:rPr sz="1400" dirty="0">
                <a:latin typeface="Tahoma" panose="020B0604030504040204" pitchFamily="34" charset="0"/>
              </a:rPr>
              <a:t> &amp; </a:t>
            </a:r>
            <a:r>
              <a:rPr sz="1400" dirty="0" err="1">
                <a:latin typeface="Tahoma" panose="020B0604030504040204" pitchFamily="34" charset="0"/>
              </a:rPr>
              <a:t>đề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xuất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hỗ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trợ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00200"/>
            <a:ext cx="34290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90288" y="1728216"/>
            <a:ext cx="3063240" cy="495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118F91"/>
                </a:solidFill>
                <a:latin typeface="Arial"/>
              </a:defRPr>
            </a:pPr>
            <a:r>
              <a:rPr dirty="0" err="1">
                <a:latin typeface="Tahoma" panose="020B0604030504040204" pitchFamily="34" charset="0"/>
              </a:rPr>
              <a:t>TỔNG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HỢP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THÁNG</a:t>
            </a:r>
            <a:r>
              <a:rPr dirty="0">
                <a:latin typeface="Tahoma" panose="020B0604030504040204" pitchFamily="34" charset="0"/>
              </a:rPr>
              <a:t>/QUÝ – </a:t>
            </a:r>
            <a:r>
              <a:rPr dirty="0" err="1">
                <a:latin typeface="Tahoma" panose="020B0604030504040204" pitchFamily="34" charset="0"/>
              </a:rPr>
              <a:t>CĐ</a:t>
            </a:r>
            <a:r>
              <a:rPr dirty="0">
                <a:latin typeface="Tahoma" panose="020B0604030504040204" pitchFamily="34" charset="0"/>
              </a:rPr>
              <a:t> GPG → </a:t>
            </a:r>
            <a:r>
              <a:rPr dirty="0" err="1">
                <a:latin typeface="Tahoma" panose="020B0604030504040204" pitchFamily="34" charset="0"/>
              </a:rPr>
              <a:t>BLĐ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08576" y="2176272"/>
            <a:ext cx="2990088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Xu </a:t>
            </a:r>
            <a:r>
              <a:rPr sz="1400" dirty="0" err="1">
                <a:latin typeface="Tahoma" panose="020B0604030504040204" pitchFamily="34" charset="0"/>
              </a:rPr>
              <a:t>hướng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toàn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Hệ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sinh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thái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Đơn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vị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có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vấn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đề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lặp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lại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quá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Hiệu </a:t>
            </a:r>
            <a:r>
              <a:rPr sz="1400" dirty="0" err="1">
                <a:latin typeface="Tahoma" panose="020B0604030504040204" pitchFamily="34" charset="0"/>
              </a:rPr>
              <a:t>quả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chính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chương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trình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Tình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hình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ngân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và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chăm</a:t>
            </a:r>
            <a:r>
              <a:rPr sz="1400" dirty="0">
                <a:latin typeface="Tahoma" panose="020B0604030504040204" pitchFamily="34" charset="0"/>
              </a:rPr>
              <a:t> lo.</a:t>
            </a:r>
          </a:p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Rủi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ro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cần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quyết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định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Đề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xuất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điều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chỉnh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chính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nguồn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lực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00200"/>
            <a:ext cx="34290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39328" y="1728216"/>
            <a:ext cx="3063239" cy="29392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E87823"/>
                </a:solidFill>
                <a:latin typeface="Arial"/>
              </a:defRPr>
            </a:pPr>
            <a:r>
              <a:rPr dirty="0" err="1">
                <a:latin typeface="Tahoma" panose="020B0604030504040204" pitchFamily="34" charset="0"/>
              </a:rPr>
              <a:t>GIÁM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SÁT</a:t>
            </a:r>
            <a:r>
              <a:rPr dirty="0">
                <a:latin typeface="Tahoma" panose="020B0604030504040204" pitchFamily="34" charset="0"/>
              </a:rPr>
              <a:t> – BAN </a:t>
            </a:r>
            <a:r>
              <a:rPr dirty="0" err="1">
                <a:latin typeface="Tahoma" panose="020B0604030504040204" pitchFamily="34" charset="0"/>
              </a:rPr>
              <a:t>CSNLĐ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57616" y="2176272"/>
            <a:ext cx="2990088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Đối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chiếu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tiến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chăm</a:t>
            </a:r>
            <a:r>
              <a:rPr sz="1400" dirty="0">
                <a:latin typeface="Tahoma" panose="020B0604030504040204" pitchFamily="34" charset="0"/>
              </a:rPr>
              <a:t> lo.</a:t>
            </a:r>
          </a:p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Theo </a:t>
            </a:r>
            <a:r>
              <a:rPr sz="1400" dirty="0" err="1">
                <a:latin typeface="Tahoma" panose="020B0604030504040204" pitchFamily="34" charset="0"/>
              </a:rPr>
              <a:t>dõi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trường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hợp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chậm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thiếu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hồ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sơ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Phối </a:t>
            </a:r>
            <a:r>
              <a:rPr sz="1400" dirty="0" err="1">
                <a:latin typeface="Tahoma" panose="020B0604030504040204" pitchFamily="34" charset="0"/>
              </a:rPr>
              <a:t>hợp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xác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minh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phản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hồi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NLĐ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Theo </a:t>
            </a:r>
            <a:r>
              <a:rPr sz="1400" dirty="0" err="1">
                <a:latin typeface="Tahoma" panose="020B0604030504040204" pitchFamily="34" charset="0"/>
              </a:rPr>
              <a:t>dõi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tính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nhất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quán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giữa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vị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Tổng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hợp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bài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học</a:t>
            </a:r>
            <a:r>
              <a:rPr sz="1400" dirty="0">
                <a:latin typeface="Tahoma" panose="020B0604030504040204" pitchFamily="34" charset="0"/>
              </a:rPr>
              <a:t> &amp; </a:t>
            </a:r>
            <a:r>
              <a:rPr sz="1400" dirty="0" err="1">
                <a:latin typeface="Tahoma" panose="020B0604030504040204" pitchFamily="34" charset="0"/>
              </a:rPr>
              <a:t>đề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xuất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cải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tiến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788152"/>
            <a:ext cx="10332720" cy="566928"/>
          </a:xfrm>
          <a:prstGeom prst="roundRect">
            <a:avLst/>
          </a:prstGeom>
          <a:solidFill>
            <a:srgbClr val="118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15568" y="5916168"/>
            <a:ext cx="9930384" cy="43088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Báo </a:t>
            </a:r>
            <a:r>
              <a:rPr dirty="0" err="1">
                <a:latin typeface="Tahoma" panose="020B0604030504040204" pitchFamily="34" charset="0"/>
              </a:rPr>
              <a:t>cáo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không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nhằm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tăng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thủ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tục</a:t>
            </a:r>
            <a:r>
              <a:rPr dirty="0">
                <a:latin typeface="Tahoma" panose="020B0604030504040204" pitchFamily="34" charset="0"/>
              </a:rPr>
              <a:t>; </a:t>
            </a:r>
            <a:r>
              <a:rPr dirty="0" err="1">
                <a:latin typeface="Tahoma" panose="020B0604030504040204" pitchFamily="34" charset="0"/>
              </a:rPr>
              <a:t>mục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tiêu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là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không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bỏ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sót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NLĐ</a:t>
            </a:r>
            <a:r>
              <a:rPr dirty="0">
                <a:latin typeface="Tahoma" panose="020B0604030504040204" pitchFamily="34" charset="0"/>
              </a:rPr>
              <a:t>, </a:t>
            </a:r>
            <a:r>
              <a:rPr dirty="0" err="1">
                <a:latin typeface="Tahoma" panose="020B0604030504040204" pitchFamily="34" charset="0"/>
              </a:rPr>
              <a:t>không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bỏ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quên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vụ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việc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và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giúp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BLĐ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nhìn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thấy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vấn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đề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trước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khi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trở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thành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rủi</a:t>
            </a:r>
            <a:r>
              <a:rPr dirty="0">
                <a:latin typeface="Tahoma" panose="020B0604030504040204" pitchFamily="34" charset="0"/>
              </a:rPr>
              <a:t> 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"/>
            <a:ext cx="960120" cy="5486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64008"/>
            <a:ext cx="646818" cy="5852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899433"/>
            <a:ext cx="11649456" cy="22860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40" y="6632721"/>
            <a:ext cx="207781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CÔNG ĐOÀN GPG | GPG TRADE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88474" y="6623577"/>
            <a:ext cx="1284326" cy="218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19">
                <a:solidFill>
                  <a:srgbClr val="677180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IV. </a:t>
            </a:r>
            <a:r>
              <a:rPr dirty="0" err="1">
                <a:latin typeface="Tahoma" panose="020B0604030504040204" pitchFamily="34" charset="0"/>
              </a:rPr>
              <a:t>BIỂU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MẪU</a:t>
            </a:r>
            <a:r>
              <a:rPr dirty="0">
                <a:latin typeface="Tahoma" panose="020B0604030504040204" pitchFamily="34" charset="0"/>
              </a:rPr>
              <a:t>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93198" y="6605289"/>
            <a:ext cx="338554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9002"/>
            <a:ext cx="11870575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50" b="1">
                <a:solidFill>
                  <a:srgbClr val="051F71"/>
                </a:solidFill>
                <a:latin typeface="Arial Narrow"/>
              </a:defRPr>
            </a:pPr>
            <a:r>
              <a:rPr dirty="0" err="1">
                <a:latin typeface="Tahoma" panose="020B0604030504040204" pitchFamily="34" charset="0"/>
              </a:rPr>
              <a:t>BIỂU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MẪU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M01</a:t>
            </a:r>
            <a:r>
              <a:rPr dirty="0">
                <a:latin typeface="Tahoma" panose="020B0604030504040204" pitchFamily="34" charset="0"/>
              </a:rPr>
              <a:t> – BÁO CÁO </a:t>
            </a:r>
            <a:r>
              <a:rPr dirty="0" err="1">
                <a:latin typeface="Tahoma" panose="020B0604030504040204" pitchFamily="34" charset="0"/>
              </a:rPr>
              <a:t>THÁNG</a:t>
            </a:r>
            <a:r>
              <a:rPr dirty="0">
                <a:latin typeface="Tahoma" panose="020B0604030504040204" pitchFamily="34" charset="0"/>
              </a:rPr>
              <a:t> CÔNG ĐOÀN </a:t>
            </a:r>
            <a:r>
              <a:rPr dirty="0" err="1">
                <a:latin typeface="Tahoma" panose="020B0604030504040204" pitchFamily="34" charset="0"/>
              </a:rPr>
              <a:t>CƠ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SỞ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TẠI</a:t>
            </a:r>
            <a:r>
              <a:rPr dirty="0">
                <a:latin typeface="Tahoma" panose="020B0604030504040204" pitchFamily="34" charset="0"/>
              </a:rPr>
              <a:t> CÔNG 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3" y="1363491"/>
            <a:ext cx="1828800" cy="438912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02919" y="1427499"/>
            <a:ext cx="17556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Nhóm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nội</a:t>
            </a:r>
            <a:r>
              <a:rPr sz="1400" dirty="0">
                <a:latin typeface="Tahoma" panose="020B0604030504040204" pitchFamily="34" charset="0"/>
              </a:rPr>
              <a:t> dung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95143" y="1363491"/>
            <a:ext cx="5669280" cy="438912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331719" y="1427499"/>
            <a:ext cx="55961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Chỉ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tiêu</a:t>
            </a:r>
            <a:r>
              <a:rPr sz="1400" dirty="0">
                <a:latin typeface="Tahoma" panose="020B0604030504040204" pitchFamily="34" charset="0"/>
              </a:rPr>
              <a:t> / </a:t>
            </a:r>
            <a:r>
              <a:rPr sz="1400" dirty="0" err="1">
                <a:latin typeface="Tahoma" panose="020B0604030504040204" pitchFamily="34" charset="0"/>
              </a:rPr>
              <a:t>dữ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liệu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bắt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buộc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964423" y="1363491"/>
            <a:ext cx="3657600" cy="438912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000998" y="1427499"/>
            <a:ext cx="35844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Ví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dụ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đầu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ra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66343" y="1802402"/>
            <a:ext cx="18288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19" y="1857266"/>
            <a:ext cx="17556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A. Thông tin </a:t>
            </a:r>
            <a:r>
              <a:rPr sz="1400" dirty="0" err="1">
                <a:latin typeface="Tahoma" panose="020B0604030504040204" pitchFamily="34" charset="0"/>
              </a:rPr>
              <a:t>chung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295143" y="1802402"/>
            <a:ext cx="56692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31719" y="1857266"/>
            <a:ext cx="55961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Tên</a:t>
            </a:r>
            <a:r>
              <a:rPr sz="1400" dirty="0">
                <a:latin typeface="Tahoma" panose="020B0604030504040204" pitchFamily="34" charset="0"/>
              </a:rPr>
              <a:t> Công ty; </a:t>
            </a:r>
            <a:r>
              <a:rPr sz="1400" dirty="0" err="1">
                <a:latin typeface="Tahoma" panose="020B0604030504040204" pitchFamily="34" charset="0"/>
              </a:rPr>
              <a:t>kỳ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cáo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Chủ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tịch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CĐCS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người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lập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ngày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gửi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964423" y="1802402"/>
            <a:ext cx="36576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000998" y="1857266"/>
            <a:ext cx="35844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GPL – Báo </a:t>
            </a:r>
            <a:r>
              <a:rPr sz="1400" dirty="0" err="1">
                <a:latin typeface="Tahoma" panose="020B0604030504040204" pitchFamily="34" charset="0"/>
              </a:rPr>
              <a:t>cáo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tháng</a:t>
            </a:r>
            <a:r>
              <a:rPr sz="1400" dirty="0">
                <a:latin typeface="Tahoma" panose="020B0604030504040204" pitchFamily="34" charset="0"/>
              </a:rPr>
              <a:t> 08/2026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3" y="2241314"/>
            <a:ext cx="1828800" cy="438912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19" y="2296179"/>
            <a:ext cx="17556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B. Đoàn </a:t>
            </a:r>
            <a:r>
              <a:rPr sz="1400" dirty="0" err="1">
                <a:latin typeface="Tahoma" panose="020B0604030504040204" pitchFamily="34" charset="0"/>
              </a:rPr>
              <a:t>viên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NLĐ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295143" y="2241314"/>
            <a:ext cx="5669280" cy="438912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331719" y="2296179"/>
            <a:ext cx="55961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Tổng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NLĐ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tổng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đoàn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viên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tăng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giảm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tỷ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lệ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tham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gia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7964423" y="2241314"/>
            <a:ext cx="3657600" cy="438912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000998" y="2296179"/>
            <a:ext cx="35844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180 </a:t>
            </a:r>
            <a:r>
              <a:rPr sz="1400" dirty="0" err="1">
                <a:latin typeface="Tahoma" panose="020B0604030504040204" pitchFamily="34" charset="0"/>
              </a:rPr>
              <a:t>NLĐ</a:t>
            </a:r>
            <a:r>
              <a:rPr sz="1400" dirty="0">
                <a:latin typeface="Tahoma" panose="020B0604030504040204" pitchFamily="34" charset="0"/>
              </a:rPr>
              <a:t> / 126 </a:t>
            </a:r>
            <a:r>
              <a:rPr sz="1400" dirty="0" err="1">
                <a:latin typeface="Tahoma" panose="020B0604030504040204" pitchFamily="34" charset="0"/>
              </a:rPr>
              <a:t>đoàn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viên</a:t>
            </a:r>
            <a:r>
              <a:rPr sz="1400" dirty="0">
                <a:latin typeface="Tahoma" panose="020B0604030504040204" pitchFamily="34" charset="0"/>
              </a:rPr>
              <a:t> / +4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3" y="2680226"/>
            <a:ext cx="18288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02919" y="2735090"/>
            <a:ext cx="17556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C. </a:t>
            </a:r>
            <a:r>
              <a:rPr sz="1400" dirty="0" err="1">
                <a:latin typeface="Tahoma" panose="020B0604030504040204" pitchFamily="34" charset="0"/>
              </a:rPr>
              <a:t>Chăm</a:t>
            </a:r>
            <a:r>
              <a:rPr sz="1400" dirty="0">
                <a:latin typeface="Tahoma" panose="020B0604030504040204" pitchFamily="34" charset="0"/>
              </a:rPr>
              <a:t> lo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95143" y="2680226"/>
            <a:ext cx="56692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331719" y="2735090"/>
            <a:ext cx="55961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Sinh </a:t>
            </a:r>
            <a:r>
              <a:rPr sz="1400" dirty="0" err="1">
                <a:latin typeface="Tahoma" panose="020B0604030504040204" pitchFamily="34" charset="0"/>
              </a:rPr>
              <a:t>nhật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hiếu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hỷ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thăm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hỏi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sinh</a:t>
            </a:r>
            <a:r>
              <a:rPr sz="1400" dirty="0">
                <a:latin typeface="Tahoma" panose="020B0604030504040204" pitchFamily="34" charset="0"/>
              </a:rPr>
              <a:t> con; </a:t>
            </a:r>
            <a:r>
              <a:rPr sz="1400" dirty="0" err="1">
                <a:latin typeface="Tahoma" panose="020B0604030504040204" pitchFamily="34" charset="0"/>
              </a:rPr>
              <a:t>khó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khăn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đúng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chậm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7964423" y="2680226"/>
            <a:ext cx="36576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000998" y="2735090"/>
            <a:ext cx="35844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12 </a:t>
            </a:r>
            <a:r>
              <a:rPr sz="1400" dirty="0" err="1">
                <a:latin typeface="Tahoma" panose="020B0604030504040204" pitchFamily="34" charset="0"/>
              </a:rPr>
              <a:t>trường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hợp</a:t>
            </a:r>
            <a:r>
              <a:rPr sz="1400" dirty="0">
                <a:latin typeface="Tahoma" panose="020B0604030504040204" pitchFamily="34" charset="0"/>
              </a:rPr>
              <a:t> – 100% </a:t>
            </a:r>
            <a:r>
              <a:rPr sz="1400" dirty="0" err="1">
                <a:latin typeface="Tahoma" panose="020B0604030504040204" pitchFamily="34" charset="0"/>
              </a:rPr>
              <a:t>đúng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66343" y="3119138"/>
            <a:ext cx="1828800" cy="438912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19" y="3174002"/>
            <a:ext cx="17556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D. </a:t>
            </a:r>
            <a:r>
              <a:rPr sz="1400" dirty="0" err="1">
                <a:latin typeface="Tahoma" panose="020B0604030504040204" pitchFamily="34" charset="0"/>
              </a:rPr>
              <a:t>Kiến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nghị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NLĐ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2295143" y="3119138"/>
            <a:ext cx="5669280" cy="438912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331719" y="3174002"/>
            <a:ext cx="55961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Mã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vụ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nhóm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vấn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đề</a:t>
            </a:r>
            <a:r>
              <a:rPr sz="1400" dirty="0">
                <a:latin typeface="Tahoma" panose="020B0604030504040204" pitchFamily="34" charset="0"/>
              </a:rPr>
              <a:t>; PIC; deadline; </a:t>
            </a:r>
            <a:r>
              <a:rPr sz="1400" dirty="0" err="1">
                <a:latin typeface="Tahoma" panose="020B0604030504040204" pitchFamily="34" charset="0"/>
              </a:rPr>
              <a:t>trạng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thái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kết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quả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7964423" y="3119138"/>
            <a:ext cx="3657600" cy="438912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000998" y="3174002"/>
            <a:ext cx="35844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5 </a:t>
            </a:r>
            <a:r>
              <a:rPr sz="1400" dirty="0" err="1">
                <a:latin typeface="Tahoma" panose="020B0604030504040204" pitchFamily="34" charset="0"/>
              </a:rPr>
              <a:t>vụ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r>
              <a:rPr sz="1400" dirty="0">
                <a:latin typeface="Tahoma" panose="020B0604030504040204" pitchFamily="34" charset="0"/>
              </a:rPr>
              <a:t>: 3 </a:t>
            </a:r>
            <a:r>
              <a:rPr sz="1400" dirty="0" err="1">
                <a:latin typeface="Tahoma" panose="020B0604030504040204" pitchFamily="34" charset="0"/>
              </a:rPr>
              <a:t>đóng</a:t>
            </a:r>
            <a:r>
              <a:rPr sz="1400" dirty="0">
                <a:latin typeface="Tahoma" panose="020B0604030504040204" pitchFamily="34" charset="0"/>
              </a:rPr>
              <a:t> / 2 </a:t>
            </a:r>
            <a:r>
              <a:rPr sz="1400" dirty="0" err="1">
                <a:latin typeface="Tahoma" panose="020B0604030504040204" pitchFamily="34" charset="0"/>
              </a:rPr>
              <a:t>đang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xử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lý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466343" y="3558050"/>
            <a:ext cx="18288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02919" y="3612914"/>
            <a:ext cx="17556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E. </a:t>
            </a: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295143" y="3558050"/>
            <a:ext cx="56692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331719" y="3612914"/>
            <a:ext cx="55961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Tên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chương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trình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số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người</a:t>
            </a:r>
            <a:r>
              <a:rPr sz="1400" dirty="0">
                <a:latin typeface="Tahoma" panose="020B0604030504040204" pitchFamily="34" charset="0"/>
              </a:rPr>
              <a:t>; chi </a:t>
            </a:r>
            <a:r>
              <a:rPr sz="1400" dirty="0" err="1">
                <a:latin typeface="Tahoma" panose="020B0604030504040204" pitchFamily="34" charset="0"/>
              </a:rPr>
              <a:t>phí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tỷ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lệ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tham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gia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phản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hồi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7964423" y="3558050"/>
            <a:ext cx="36576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000998" y="3612914"/>
            <a:ext cx="35844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Bữa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trưa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kết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nối</a:t>
            </a:r>
            <a:r>
              <a:rPr sz="1400" dirty="0">
                <a:latin typeface="Tahoma" panose="020B0604030504040204" pitchFamily="34" charset="0"/>
              </a:rPr>
              <a:t> – 32 </a:t>
            </a:r>
            <a:r>
              <a:rPr sz="1400" dirty="0" err="1">
                <a:latin typeface="Tahoma" panose="020B0604030504040204" pitchFamily="34" charset="0"/>
              </a:rPr>
              <a:t>người</a:t>
            </a:r>
            <a:r>
              <a:rPr sz="1400" dirty="0">
                <a:latin typeface="Tahoma" panose="020B0604030504040204" pitchFamily="34" charset="0"/>
              </a:rPr>
              <a:t> – 4,6/5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6343" y="3996963"/>
            <a:ext cx="1828800" cy="438912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02919" y="4051827"/>
            <a:ext cx="17556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F. Thu – chi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95143" y="3996963"/>
            <a:ext cx="5669280" cy="438912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331719" y="4051827"/>
            <a:ext cx="55961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Thu </a:t>
            </a:r>
            <a:r>
              <a:rPr sz="1400" dirty="0" err="1">
                <a:latin typeface="Tahoma" panose="020B0604030504040204" pitchFamily="34" charset="0"/>
              </a:rPr>
              <a:t>kỳ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này</a:t>
            </a:r>
            <a:r>
              <a:rPr sz="1400" dirty="0">
                <a:latin typeface="Tahoma" panose="020B0604030504040204" pitchFamily="34" charset="0"/>
              </a:rPr>
              <a:t>; chi; </a:t>
            </a:r>
            <a:r>
              <a:rPr sz="1400" dirty="0" err="1">
                <a:latin typeface="Tahoma" panose="020B0604030504040204" pitchFamily="34" charset="0"/>
              </a:rPr>
              <a:t>số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dư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chứng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từ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chưa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hoàn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thiện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7964423" y="3996963"/>
            <a:ext cx="3657600" cy="438912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000998" y="4051827"/>
            <a:ext cx="35844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Chi </a:t>
            </a:r>
            <a:r>
              <a:rPr sz="1400" dirty="0" err="1">
                <a:latin typeface="Tahoma" panose="020B0604030504040204" pitchFamily="34" charset="0"/>
              </a:rPr>
              <a:t>3,2M</a:t>
            </a:r>
            <a:r>
              <a:rPr sz="1400" dirty="0">
                <a:latin typeface="Tahoma" panose="020B0604030504040204" pitchFamily="34" charset="0"/>
              </a:rPr>
              <a:t> – 0 </a:t>
            </a:r>
            <a:r>
              <a:rPr sz="1400" dirty="0" err="1">
                <a:latin typeface="Tahoma" panose="020B0604030504040204" pitchFamily="34" charset="0"/>
              </a:rPr>
              <a:t>chứng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từ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thiếu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466343" y="4435875"/>
            <a:ext cx="18288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02919" y="4490739"/>
            <a:ext cx="17556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G. </a:t>
            </a:r>
            <a:r>
              <a:rPr sz="1400" dirty="0" err="1">
                <a:latin typeface="Tahoma" panose="020B0604030504040204" pitchFamily="34" charset="0"/>
              </a:rPr>
              <a:t>Kế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tới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2295143" y="4435875"/>
            <a:ext cx="56692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331719" y="4490739"/>
            <a:ext cx="55961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thời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gian</a:t>
            </a:r>
            <a:r>
              <a:rPr sz="1400" dirty="0">
                <a:latin typeface="Tahoma" panose="020B0604030504040204" pitchFamily="34" charset="0"/>
              </a:rPr>
              <a:t>; PIC; </a:t>
            </a:r>
            <a:r>
              <a:rPr sz="1400" dirty="0" err="1">
                <a:latin typeface="Tahoma" panose="020B0604030504040204" pitchFamily="34" charset="0"/>
              </a:rPr>
              <a:t>ngân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dự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kiến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7964423" y="4435875"/>
            <a:ext cx="36576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000998" y="4490739"/>
            <a:ext cx="35844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Tuần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lễ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lắng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nghe</a:t>
            </a:r>
            <a:r>
              <a:rPr sz="1400" dirty="0">
                <a:latin typeface="Tahoma" panose="020B0604030504040204" pitchFamily="34" charset="0"/>
              </a:rPr>
              <a:t> – 15/09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6343" y="4874787"/>
            <a:ext cx="1828800" cy="438912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502919" y="4929651"/>
            <a:ext cx="17556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H. </a:t>
            </a:r>
            <a:r>
              <a:rPr sz="1400" dirty="0" err="1">
                <a:latin typeface="Tahoma" panose="020B0604030504040204" pitchFamily="34" charset="0"/>
              </a:rPr>
              <a:t>Đề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xuất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kiến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nghị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2295143" y="4874787"/>
            <a:ext cx="5669280" cy="438912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331719" y="4929651"/>
            <a:ext cx="559612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Nội</a:t>
            </a:r>
            <a:r>
              <a:rPr sz="1400" dirty="0">
                <a:latin typeface="Tahoma" panose="020B0604030504040204" pitchFamily="34" charset="0"/>
              </a:rPr>
              <a:t> dung </a:t>
            </a:r>
            <a:r>
              <a:rPr sz="1400" dirty="0" err="1">
                <a:latin typeface="Tahoma" panose="020B0604030504040204" pitchFamily="34" charset="0"/>
              </a:rPr>
              <a:t>cần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CĐ</a:t>
            </a:r>
            <a:r>
              <a:rPr sz="1400" dirty="0">
                <a:latin typeface="Tahoma" panose="020B0604030504040204" pitchFamily="34" charset="0"/>
              </a:rPr>
              <a:t> GPG/Ban </a:t>
            </a:r>
            <a:r>
              <a:rPr sz="1400" dirty="0" err="1">
                <a:latin typeface="Tahoma" panose="020B0604030504040204" pitchFamily="34" charset="0"/>
              </a:rPr>
              <a:t>CSNLĐ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BLĐ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hỗ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trợ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7964423" y="4874787"/>
            <a:ext cx="3657600" cy="438912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000998" y="4929651"/>
            <a:ext cx="35844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7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Xin </a:t>
            </a:r>
            <a:r>
              <a:rPr sz="1400" dirty="0" err="1">
                <a:latin typeface="Tahoma" panose="020B0604030504040204" pitchFamily="34" charset="0"/>
              </a:rPr>
              <a:t>duyệt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thêm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ngân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...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4400" y="5882913"/>
            <a:ext cx="10332720" cy="566928"/>
          </a:xfrm>
          <a:prstGeom prst="round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115568" y="6010928"/>
            <a:ext cx="9930384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Nguyên </a:t>
            </a:r>
            <a:r>
              <a:rPr sz="1400" dirty="0" err="1">
                <a:latin typeface="Tahoma" panose="020B0604030504040204" pitchFamily="34" charset="0"/>
              </a:rPr>
              <a:t>tắc</a:t>
            </a:r>
            <a:r>
              <a:rPr sz="1400" dirty="0">
                <a:latin typeface="Tahoma" panose="020B0604030504040204" pitchFamily="34" charset="0"/>
              </a:rPr>
              <a:t>: </a:t>
            </a:r>
            <a:r>
              <a:rPr sz="1400" dirty="0" err="1">
                <a:latin typeface="Tahoma" panose="020B0604030504040204" pitchFamily="34" charset="0"/>
              </a:rPr>
              <a:t>báo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phải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thể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hiện</a:t>
            </a:r>
            <a:r>
              <a:rPr sz="1400" dirty="0">
                <a:latin typeface="Tahoma" panose="020B0604030504040204" pitchFamily="34" charset="0"/>
              </a:rPr>
              <a:t> “</a:t>
            </a:r>
            <a:r>
              <a:rPr sz="1400" dirty="0" err="1">
                <a:latin typeface="Tahoma" panose="020B0604030504040204" pitchFamily="34" charset="0"/>
              </a:rPr>
              <a:t>đã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làm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gì</a:t>
            </a:r>
            <a:r>
              <a:rPr sz="1400" dirty="0">
                <a:latin typeface="Tahoma" panose="020B0604030504040204" pitchFamily="34" charset="0"/>
              </a:rPr>
              <a:t> – </a:t>
            </a:r>
            <a:r>
              <a:rPr sz="1400" dirty="0" err="1">
                <a:latin typeface="Tahoma" panose="020B0604030504040204" pitchFamily="34" charset="0"/>
              </a:rPr>
              <a:t>còn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gì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chưa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xong</a:t>
            </a:r>
            <a:r>
              <a:rPr sz="1400" dirty="0">
                <a:latin typeface="Tahoma" panose="020B0604030504040204" pitchFamily="34" charset="0"/>
              </a:rPr>
              <a:t> – ai </a:t>
            </a:r>
            <a:r>
              <a:rPr sz="1400" dirty="0" err="1">
                <a:latin typeface="Tahoma" panose="020B0604030504040204" pitchFamily="34" charset="0"/>
              </a:rPr>
              <a:t>chịu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trách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nhiệm</a:t>
            </a:r>
            <a:r>
              <a:rPr sz="1400" dirty="0">
                <a:latin typeface="Tahoma" panose="020B0604030504040204" pitchFamily="34" charset="0"/>
              </a:rPr>
              <a:t> – </a:t>
            </a:r>
            <a:r>
              <a:rPr sz="1400" dirty="0" err="1">
                <a:latin typeface="Tahoma" panose="020B0604030504040204" pitchFamily="34" charset="0"/>
              </a:rPr>
              <a:t>khi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nào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hoàn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tất</a:t>
            </a:r>
            <a:r>
              <a:rPr sz="1400" dirty="0">
                <a:latin typeface="Tahoma" panose="020B0604030504040204" pitchFamily="34" charset="0"/>
              </a:rPr>
              <a:t> – </a:t>
            </a:r>
            <a:r>
              <a:rPr sz="1400" dirty="0" err="1">
                <a:latin typeface="Tahoma" panose="020B0604030504040204" pitchFamily="34" charset="0"/>
              </a:rPr>
              <a:t>cần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hỗ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gì</a:t>
            </a:r>
            <a:r>
              <a:rPr sz="1400" dirty="0">
                <a:latin typeface="Tahoma" panose="020B0604030504040204" pitchFamily="34" charset="0"/>
              </a:rPr>
              <a:t>”.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"/>
            <a:ext cx="960120" cy="5486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64008"/>
            <a:ext cx="646818" cy="5852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749808"/>
            <a:ext cx="11649456" cy="22860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40" y="6483096"/>
            <a:ext cx="207781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CÔNG ĐOÀN GPG | GPG TRADE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88474" y="6473952"/>
            <a:ext cx="1284326" cy="218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19">
                <a:solidFill>
                  <a:srgbClr val="677180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IV. </a:t>
            </a:r>
            <a:r>
              <a:rPr dirty="0" err="1">
                <a:latin typeface="Tahoma" panose="020B0604030504040204" pitchFamily="34" charset="0"/>
              </a:rPr>
              <a:t>BIỂU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MẪU</a:t>
            </a:r>
            <a:r>
              <a:rPr dirty="0">
                <a:latin typeface="Tahoma" panose="020B0604030504040204" pitchFamily="34" charset="0"/>
              </a:rPr>
              <a:t>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93198" y="6455664"/>
            <a:ext cx="338554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179" y="235157"/>
            <a:ext cx="13130518" cy="5001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50" b="1">
                <a:solidFill>
                  <a:srgbClr val="051F71"/>
                </a:solidFill>
                <a:latin typeface="Arial Narrow"/>
              </a:defRPr>
            </a:pPr>
            <a:r>
              <a:rPr dirty="0" err="1">
                <a:latin typeface="Tahoma" panose="020B0604030504040204" pitchFamily="34" charset="0"/>
              </a:rPr>
              <a:t>BIỂU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MẪU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M02</a:t>
            </a:r>
            <a:r>
              <a:rPr dirty="0">
                <a:latin typeface="Tahoma" panose="020B0604030504040204" pitchFamily="34" charset="0"/>
              </a:rPr>
              <a:t> – BÁO CÁO SAU </a:t>
            </a:r>
            <a:r>
              <a:rPr dirty="0" err="1">
                <a:latin typeface="Tahoma" panose="020B0604030504040204" pitchFamily="34" charset="0"/>
              </a:rPr>
              <a:t>CHƯƠNG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TRÌNH</a:t>
            </a:r>
            <a:r>
              <a:rPr dirty="0">
                <a:latin typeface="Tahoma" panose="020B0604030504040204" pitchFamily="34" charset="0"/>
              </a:rPr>
              <a:t> / </a:t>
            </a:r>
            <a:r>
              <a:rPr dirty="0" err="1">
                <a:latin typeface="Tahoma" panose="020B0604030504040204" pitchFamily="34" charset="0"/>
              </a:rPr>
              <a:t>HOẠT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ĐỘNG</a:t>
            </a:r>
            <a:r>
              <a:rPr dirty="0">
                <a:latin typeface="Tahoma" panose="020B0604030504040204" pitchFamily="34" charset="0"/>
              </a:rPr>
              <a:t> CÔNG ĐOÀN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042272"/>
            <a:ext cx="228600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22376" y="1106280"/>
            <a:ext cx="2212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Mục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971800" y="1042272"/>
            <a:ext cx="8595360" cy="475488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008376" y="1106280"/>
            <a:ext cx="852220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Nội</a:t>
            </a:r>
            <a:r>
              <a:rPr sz="1400" dirty="0">
                <a:latin typeface="Tahoma" panose="020B0604030504040204" pitchFamily="34" charset="0"/>
              </a:rPr>
              <a:t> dung </a:t>
            </a:r>
            <a:r>
              <a:rPr sz="1400" dirty="0" err="1">
                <a:latin typeface="Tahoma" panose="020B0604030504040204" pitchFamily="34" charset="0"/>
              </a:rPr>
              <a:t>bắt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buộc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85800" y="1517760"/>
            <a:ext cx="22860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22376" y="1572624"/>
            <a:ext cx="2212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1. Thông tin </a:t>
            </a:r>
            <a:r>
              <a:rPr sz="1400" dirty="0" err="1">
                <a:latin typeface="Tahoma" panose="020B0604030504040204" pitchFamily="34" charset="0"/>
              </a:rPr>
              <a:t>chương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trình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971800" y="1517760"/>
            <a:ext cx="859536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008376" y="1572624"/>
            <a:ext cx="852220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Tên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mục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tiêu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đơn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vị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ngày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giờ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địa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điểm</a:t>
            </a:r>
            <a:r>
              <a:rPr sz="1400" dirty="0">
                <a:latin typeface="Tahoma" panose="020B0604030504040204" pitchFamily="34" charset="0"/>
              </a:rPr>
              <a:t>; PIC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1993248"/>
            <a:ext cx="228600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22376" y="2048112"/>
            <a:ext cx="2212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2. Quy </a:t>
            </a:r>
            <a:r>
              <a:rPr sz="1400" dirty="0" err="1">
                <a:latin typeface="Tahoma" panose="020B0604030504040204" pitchFamily="34" charset="0"/>
              </a:rPr>
              <a:t>mô</a:t>
            </a:r>
            <a:r>
              <a:rPr sz="1400" dirty="0">
                <a:latin typeface="Tahoma" panose="020B0604030504040204" pitchFamily="34" charset="0"/>
              </a:rPr>
              <a:t> &amp; </a:t>
            </a:r>
            <a:r>
              <a:rPr sz="1400" dirty="0" err="1">
                <a:latin typeface="Tahoma" panose="020B0604030504040204" pitchFamily="34" charset="0"/>
              </a:rPr>
              <a:t>đối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tượng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971800" y="1993248"/>
            <a:ext cx="859536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008376" y="2048112"/>
            <a:ext cx="852220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Số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mời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số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tham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dự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tỷ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lệ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tham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gia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nhóm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NLĐ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85800" y="2468736"/>
            <a:ext cx="22860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22376" y="2523600"/>
            <a:ext cx="2212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3. </a:t>
            </a:r>
            <a:r>
              <a:rPr sz="1400" dirty="0" err="1">
                <a:latin typeface="Tahoma" panose="020B0604030504040204" pitchFamily="34" charset="0"/>
              </a:rPr>
              <a:t>Nội</a:t>
            </a:r>
            <a:r>
              <a:rPr sz="1400" dirty="0">
                <a:latin typeface="Tahoma" panose="020B0604030504040204" pitchFamily="34" charset="0"/>
              </a:rPr>
              <a:t> dung </a:t>
            </a:r>
            <a:r>
              <a:rPr sz="1400" dirty="0" err="1">
                <a:latin typeface="Tahoma" panose="020B0604030504040204" pitchFamily="34" charset="0"/>
              </a:rPr>
              <a:t>thực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tế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971800" y="2468736"/>
            <a:ext cx="859536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008376" y="2523600"/>
            <a:ext cx="852220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Các </a:t>
            </a:r>
            <a:r>
              <a:rPr sz="1400" dirty="0" err="1">
                <a:latin typeface="Tahoma" panose="020B0604030504040204" pitchFamily="34" charset="0"/>
              </a:rPr>
              <a:t>nội</a:t>
            </a:r>
            <a:r>
              <a:rPr sz="1400" dirty="0">
                <a:latin typeface="Tahoma" panose="020B0604030504040204" pitchFamily="34" charset="0"/>
              </a:rPr>
              <a:t> dung </a:t>
            </a:r>
            <a:r>
              <a:rPr sz="1400" dirty="0" err="1">
                <a:latin typeface="Tahoma" panose="020B0604030504040204" pitchFamily="34" charset="0"/>
              </a:rPr>
              <a:t>đã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triển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khai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khác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biệt</a:t>
            </a:r>
            <a:r>
              <a:rPr sz="1400" dirty="0">
                <a:latin typeface="Tahoma" panose="020B0604030504040204" pitchFamily="34" charset="0"/>
              </a:rPr>
              <a:t> so </a:t>
            </a:r>
            <a:r>
              <a:rPr sz="1400" dirty="0" err="1">
                <a:latin typeface="Tahoma" panose="020B0604030504040204" pitchFamily="34" charset="0"/>
              </a:rPr>
              <a:t>kế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hoạch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85800" y="2944224"/>
            <a:ext cx="228600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22376" y="2999088"/>
            <a:ext cx="2212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4. </a:t>
            </a:r>
            <a:r>
              <a:rPr sz="1400" dirty="0" err="1">
                <a:latin typeface="Tahoma" panose="020B0604030504040204" pitchFamily="34" charset="0"/>
              </a:rPr>
              <a:t>Kết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quả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đầu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ra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971800" y="2944224"/>
            <a:ext cx="859536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008376" y="2999088"/>
            <a:ext cx="852220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Số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NLĐ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được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tiếp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cận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phản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hồi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vấn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đề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ghi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nhận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đề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xuất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85800" y="3419712"/>
            <a:ext cx="22860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22376" y="3474576"/>
            <a:ext cx="2212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5. Ngân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971800" y="3419712"/>
            <a:ext cx="859536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08376" y="3474576"/>
            <a:ext cx="852220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Được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duyệt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thực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tế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chênh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lệch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tình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chứng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từ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85800" y="3895200"/>
            <a:ext cx="228600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22376" y="3950063"/>
            <a:ext cx="2212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6. </a:t>
            </a:r>
            <a:r>
              <a:rPr sz="1400" dirty="0" err="1">
                <a:latin typeface="Tahoma" panose="020B0604030504040204" pitchFamily="34" charset="0"/>
              </a:rPr>
              <a:t>Hình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ảnh</a:t>
            </a:r>
            <a:r>
              <a:rPr sz="1400" dirty="0">
                <a:latin typeface="Tahoma" panose="020B0604030504040204" pitchFamily="34" charset="0"/>
              </a:rPr>
              <a:t> / </a:t>
            </a:r>
            <a:r>
              <a:rPr sz="1400" dirty="0" err="1">
                <a:latin typeface="Tahoma" panose="020B0604030504040204" pitchFamily="34" charset="0"/>
              </a:rPr>
              <a:t>tài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liệu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971800" y="3895200"/>
            <a:ext cx="859536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3008376" y="3950063"/>
            <a:ext cx="852220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Link </a:t>
            </a:r>
            <a:r>
              <a:rPr sz="1400" dirty="0" err="1">
                <a:latin typeface="Tahoma" panose="020B0604030504040204" pitchFamily="34" charset="0"/>
              </a:rPr>
              <a:t>ảnh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nội</a:t>
            </a:r>
            <a:r>
              <a:rPr sz="1400" dirty="0">
                <a:latin typeface="Tahoma" panose="020B0604030504040204" pitchFamily="34" charset="0"/>
              </a:rPr>
              <a:t> dung </a:t>
            </a:r>
            <a:r>
              <a:rPr sz="1400" dirty="0" err="1">
                <a:latin typeface="Tahoma" panose="020B0604030504040204" pitchFamily="34" charset="0"/>
              </a:rPr>
              <a:t>truyền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thông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danh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tham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dự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85800" y="4370687"/>
            <a:ext cx="22860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22376" y="4425551"/>
            <a:ext cx="2212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7. </a:t>
            </a:r>
            <a:r>
              <a:rPr sz="1400" dirty="0" err="1">
                <a:latin typeface="Tahoma" panose="020B0604030504040204" pitchFamily="34" charset="0"/>
              </a:rPr>
              <a:t>Đánh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giá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971800" y="4370687"/>
            <a:ext cx="859536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008376" y="4425551"/>
            <a:ext cx="852220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Điểm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hài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lòng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điều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làm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tốt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điều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chưa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tốt</a:t>
            </a:r>
            <a:r>
              <a:rPr sz="1400" dirty="0">
                <a:latin typeface="Tahoma" panose="020B0604030504040204" pitchFamily="34" charset="0"/>
              </a:rPr>
              <a:t>; </a:t>
            </a:r>
            <a:r>
              <a:rPr sz="1400" dirty="0" err="1">
                <a:latin typeface="Tahoma" panose="020B0604030504040204" pitchFamily="34" charset="0"/>
              </a:rPr>
              <a:t>bài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học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685800" y="4846175"/>
            <a:ext cx="228600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22376" y="4901039"/>
            <a:ext cx="2212848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8. </a:t>
            </a:r>
            <a:r>
              <a:rPr sz="1400" dirty="0" err="1">
                <a:latin typeface="Tahoma" panose="020B0604030504040204" pitchFamily="34" charset="0"/>
              </a:rPr>
              <a:t>Hành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sau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chương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trình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971800" y="4846175"/>
            <a:ext cx="8595360" cy="475488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008376" y="4901039"/>
            <a:ext cx="852220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8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Vấn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đề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cần</a:t>
            </a:r>
            <a:r>
              <a:rPr sz="1400" dirty="0">
                <a:latin typeface="Tahoma" panose="020B0604030504040204" pitchFamily="34" charset="0"/>
              </a:rPr>
              <a:t> follow-up; PIC; deadline; </a:t>
            </a:r>
            <a:r>
              <a:rPr sz="1400" dirty="0" err="1">
                <a:latin typeface="Tahoma" panose="020B0604030504040204" pitchFamily="34" charset="0"/>
              </a:rPr>
              <a:t>tình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trạng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685800" y="5532120"/>
            <a:ext cx="315468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86968" y="5561464"/>
            <a:ext cx="278892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50" b="1">
                <a:solidFill>
                  <a:srgbClr val="051F71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KPI </a:t>
            </a:r>
            <a:r>
              <a:rPr sz="1400" dirty="0" err="1">
                <a:latin typeface="Tahoma" panose="020B0604030504040204" pitchFamily="34" charset="0"/>
              </a:rPr>
              <a:t>GỢI</a:t>
            </a:r>
            <a:r>
              <a:rPr sz="1400" dirty="0">
                <a:latin typeface="Tahoma" panose="020B0604030504040204" pitchFamily="34" charset="0"/>
              </a:rPr>
              <a:t> 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6" y="5797150"/>
            <a:ext cx="2715768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19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Tỷ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lệ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tham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gia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Điểm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hữu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ích</a:t>
            </a:r>
            <a:r>
              <a:rPr sz="1400" dirty="0">
                <a:latin typeface="Tahoma" panose="020B0604030504040204" pitchFamily="34" charset="0"/>
              </a:rPr>
              <a:t> </a:t>
            </a:r>
            <a:endParaRPr lang="vi-VN" sz="1400" dirty="0">
              <a:latin typeface="Tahoma" panose="020B0604030504040204" pitchFamily="34" charset="0"/>
            </a:endParaRPr>
          </a:p>
          <a:p>
            <a:pPr algn="l">
              <a:defRPr sz="819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Chi </a:t>
            </a:r>
            <a:r>
              <a:rPr sz="1400" dirty="0" err="1">
                <a:latin typeface="Tahoma" panose="020B0604030504040204" pitchFamily="34" charset="0"/>
              </a:rPr>
              <a:t>phí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người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069080" y="5532120"/>
            <a:ext cx="315468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237882" y="5530196"/>
            <a:ext cx="278892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50" b="1">
                <a:solidFill>
                  <a:srgbClr val="118F9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BẮT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BUỘC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CÓ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270248" y="5780053"/>
            <a:ext cx="2715768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19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Ảnh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chứng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từ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danh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 • </a:t>
            </a:r>
            <a:r>
              <a:rPr sz="1400" dirty="0" err="1">
                <a:latin typeface="Tahoma" panose="020B0604030504040204" pitchFamily="34" charset="0"/>
              </a:rPr>
              <a:t>phản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hồi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7452360" y="5532120"/>
            <a:ext cx="315468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7621162" y="5530196"/>
            <a:ext cx="278891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50" b="1">
                <a:solidFill>
                  <a:srgbClr val="E87823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ĐÓNG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CHƯƠNG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TRÌNH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671816" y="5780053"/>
            <a:ext cx="2715768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19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Chỉ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đóng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khi</a:t>
            </a:r>
            <a:r>
              <a:rPr sz="1400" dirty="0">
                <a:latin typeface="Tahoma" panose="020B0604030504040204" pitchFamily="34" charset="0"/>
              </a:rPr>
              <a:t> follow-up </a:t>
            </a:r>
            <a:r>
              <a:rPr sz="1400" dirty="0" err="1">
                <a:latin typeface="Tahoma" panose="020B0604030504040204" pitchFamily="34" charset="0"/>
              </a:rPr>
              <a:t>đã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có</a:t>
            </a:r>
            <a:r>
              <a:rPr sz="1400" dirty="0">
                <a:latin typeface="Tahoma" panose="020B0604030504040204" pitchFamily="34" charset="0"/>
              </a:rPr>
              <a:t> PIC/deadline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"/>
            <a:ext cx="960120" cy="5486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64008"/>
            <a:ext cx="646818" cy="5852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749808"/>
            <a:ext cx="11649456" cy="22860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40" y="6483096"/>
            <a:ext cx="207781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CÔNG ĐOÀN GPG | GPG TRADE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88474" y="6473952"/>
            <a:ext cx="1284326" cy="218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19">
                <a:solidFill>
                  <a:srgbClr val="677180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IV. </a:t>
            </a:r>
            <a:r>
              <a:rPr dirty="0" err="1">
                <a:latin typeface="Tahoma" panose="020B0604030504040204" pitchFamily="34" charset="0"/>
              </a:rPr>
              <a:t>BIỂU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MẪU</a:t>
            </a:r>
            <a:r>
              <a:rPr dirty="0">
                <a:latin typeface="Tahoma" panose="020B0604030504040204" pitchFamily="34" charset="0"/>
              </a:rPr>
              <a:t>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93198" y="6455664"/>
            <a:ext cx="338554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159993"/>
            <a:ext cx="12539010" cy="5001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50" b="1">
                <a:solidFill>
                  <a:srgbClr val="051F71"/>
                </a:solidFill>
                <a:latin typeface="Arial Narrow"/>
              </a:defRPr>
            </a:pPr>
            <a:r>
              <a:rPr dirty="0" err="1">
                <a:latin typeface="Tahoma" panose="020B0604030504040204" pitchFamily="34" charset="0"/>
              </a:rPr>
              <a:t>BIỂU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MẪU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M03</a:t>
            </a:r>
            <a:r>
              <a:rPr dirty="0">
                <a:latin typeface="Tahoma" panose="020B0604030504040204" pitchFamily="34" charset="0"/>
              </a:rPr>
              <a:t> – </a:t>
            </a:r>
            <a:r>
              <a:rPr dirty="0" err="1">
                <a:latin typeface="Tahoma" panose="020B0604030504040204" pitchFamily="34" charset="0"/>
              </a:rPr>
              <a:t>SỔ</a:t>
            </a:r>
            <a:r>
              <a:rPr dirty="0">
                <a:latin typeface="Tahoma" panose="020B0604030504040204" pitchFamily="34" charset="0"/>
              </a:rPr>
              <a:t> THEO </a:t>
            </a:r>
            <a:r>
              <a:rPr dirty="0" err="1">
                <a:latin typeface="Tahoma" panose="020B0604030504040204" pitchFamily="34" charset="0"/>
              </a:rPr>
              <a:t>DÕI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KIẾN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NGHỊ</a:t>
            </a:r>
            <a:r>
              <a:rPr dirty="0">
                <a:latin typeface="Tahoma" panose="020B0604030504040204" pitchFamily="34" charset="0"/>
              </a:rPr>
              <a:t> / </a:t>
            </a:r>
            <a:r>
              <a:rPr dirty="0" err="1">
                <a:latin typeface="Tahoma" panose="020B0604030504040204" pitchFamily="34" charset="0"/>
              </a:rPr>
              <a:t>VỤ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VIỆC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NGƯỜI</a:t>
            </a:r>
            <a:r>
              <a:rPr dirty="0">
                <a:latin typeface="Tahoma" panose="020B0604030504040204" pitchFamily="34" charset="0"/>
              </a:rPr>
              <a:t> LAO </a:t>
            </a:r>
            <a:r>
              <a:rPr dirty="0" err="1">
                <a:latin typeface="Tahoma" panose="020B0604030504040204" pitchFamily="34" charset="0"/>
              </a:rPr>
              <a:t>ĐỘNG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93192" y="989111"/>
            <a:ext cx="731520" cy="54864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9767" y="1053119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Mã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124712" y="989111"/>
            <a:ext cx="914400" cy="54864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61288" y="1053119"/>
            <a:ext cx="841248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Ngày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nhận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39112" y="989111"/>
            <a:ext cx="914400" cy="54864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075688" y="1053119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vị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953512" y="989111"/>
            <a:ext cx="1417320" cy="54864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90088" y="1053119"/>
            <a:ext cx="13441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Nhóm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vấn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đề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70832" y="989111"/>
            <a:ext cx="731520" cy="54864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407408" y="1053119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Mức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102352" y="989111"/>
            <a:ext cx="1143000" cy="54864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138928" y="1053119"/>
            <a:ext cx="1069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PIC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352" y="989111"/>
            <a:ext cx="960120" cy="54864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281928" y="1053119"/>
            <a:ext cx="8869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Deadline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05472" y="989111"/>
            <a:ext cx="1097280" cy="54864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242048" y="1053119"/>
            <a:ext cx="102412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Trạng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302752" y="989111"/>
            <a:ext cx="3108960" cy="54864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339327" y="1053119"/>
            <a:ext cx="303580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Kết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quả</a:t>
            </a:r>
            <a:r>
              <a:rPr sz="1400" dirty="0">
                <a:latin typeface="Tahoma" panose="020B0604030504040204" pitchFamily="34" charset="0"/>
              </a:rPr>
              <a:t> / </a:t>
            </a:r>
            <a:r>
              <a:rPr sz="1400" dirty="0" err="1">
                <a:latin typeface="Tahoma" panose="020B0604030504040204" pitchFamily="34" charset="0"/>
              </a:rPr>
              <a:t>phản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hồi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93192" y="1537751"/>
            <a:ext cx="73152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29767" y="1592615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UV-001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24712" y="1537751"/>
            <a:ext cx="9144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161288" y="1592615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08/08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39112" y="1537751"/>
            <a:ext cx="9144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075688" y="1592615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VCS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53512" y="1537751"/>
            <a:ext cx="141732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990088" y="1592615"/>
            <a:ext cx="1344168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Điều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kiện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làm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4370832" y="1537751"/>
            <a:ext cx="73152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407408" y="1592615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Cao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02352" y="1537751"/>
            <a:ext cx="1143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138928" y="1592615"/>
            <a:ext cx="1069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CĐCS</a:t>
            </a:r>
            <a:r>
              <a:rPr sz="1400" dirty="0">
                <a:latin typeface="Tahoma" panose="020B0604030504040204" pitchFamily="34" charset="0"/>
              </a:rPr>
              <a:t> + HR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45352" y="1537751"/>
            <a:ext cx="96012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281928" y="1592615"/>
            <a:ext cx="8869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12/08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05472" y="1537751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242048" y="1592615"/>
            <a:ext cx="102412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Đang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xử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lý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8302752" y="1537751"/>
            <a:ext cx="31089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339327" y="1592615"/>
            <a:ext cx="303580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xác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minh</a:t>
            </a:r>
            <a:r>
              <a:rPr sz="1400" dirty="0">
                <a:latin typeface="Tahoma" panose="020B0604030504040204" pitchFamily="34" charset="0"/>
              </a:rPr>
              <a:t>, </a:t>
            </a:r>
            <a:r>
              <a:rPr sz="1400" dirty="0" err="1">
                <a:latin typeface="Tahoma" panose="020B0604030504040204" pitchFamily="34" charset="0"/>
              </a:rPr>
              <a:t>chờ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phương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án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393192" y="2086391"/>
            <a:ext cx="73152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29767" y="2141255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UV-002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24712" y="2086391"/>
            <a:ext cx="91440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161288" y="2141255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09/08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039112" y="2086391"/>
            <a:ext cx="91440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075688" y="2141255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53512" y="2086391"/>
            <a:ext cx="141732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990088" y="2141255"/>
            <a:ext cx="13441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Phúc </a:t>
            </a:r>
            <a:r>
              <a:rPr sz="1400" dirty="0" err="1">
                <a:latin typeface="Tahoma" panose="020B0604030504040204" pitchFamily="34" charset="0"/>
              </a:rPr>
              <a:t>lợi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4370832" y="2086391"/>
            <a:ext cx="73152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407408" y="2141255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TB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02352" y="2086391"/>
            <a:ext cx="114300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138928" y="2141255"/>
            <a:ext cx="1069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CĐCS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6245352" y="2086391"/>
            <a:ext cx="96012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6281928" y="2141255"/>
            <a:ext cx="8869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11/08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05472" y="2086391"/>
            <a:ext cx="109728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7242048" y="2141255"/>
            <a:ext cx="102412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đóng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8302752" y="2086391"/>
            <a:ext cx="310896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339327" y="2141255"/>
            <a:ext cx="303580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thực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hiện</a:t>
            </a:r>
            <a:r>
              <a:rPr sz="1400" dirty="0">
                <a:latin typeface="Tahoma" panose="020B0604030504040204" pitchFamily="34" charset="0"/>
              </a:rPr>
              <a:t> &amp; </a:t>
            </a:r>
            <a:r>
              <a:rPr sz="1400" dirty="0" err="1">
                <a:latin typeface="Tahoma" panose="020B0604030504040204" pitchFamily="34" charset="0"/>
              </a:rPr>
              <a:t>phản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hồi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93192" y="2635031"/>
            <a:ext cx="73152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29767" y="2689895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UV-003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24712" y="2635031"/>
            <a:ext cx="9144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161288" y="2689895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10/08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039112" y="2635031"/>
            <a:ext cx="9144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2075688" y="2689895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AZC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953512" y="2635031"/>
            <a:ext cx="141732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2990088" y="2689895"/>
            <a:ext cx="13441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Ca </a:t>
            </a:r>
            <a:r>
              <a:rPr sz="1400" dirty="0" err="1">
                <a:latin typeface="Tahoma" panose="020B0604030504040204" pitchFamily="34" charset="0"/>
              </a:rPr>
              <a:t>làm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4370832" y="2635031"/>
            <a:ext cx="73152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407408" y="2689895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Cao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02352" y="2635031"/>
            <a:ext cx="1143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138928" y="2689895"/>
            <a:ext cx="1069848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HR + </a:t>
            </a:r>
            <a:r>
              <a:rPr sz="1400" dirty="0" err="1">
                <a:latin typeface="Tahoma" panose="020B0604030504040204" pitchFamily="34" charset="0"/>
              </a:rPr>
              <a:t>CĐ</a:t>
            </a:r>
            <a:r>
              <a:rPr sz="1400" dirty="0">
                <a:latin typeface="Tahoma" panose="020B0604030504040204" pitchFamily="34" charset="0"/>
              </a:rPr>
              <a:t> GPG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45352" y="2635031"/>
            <a:ext cx="96012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281928" y="2689895"/>
            <a:ext cx="8869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15/08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205472" y="2635031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242048" y="2689895"/>
            <a:ext cx="102412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Đang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xử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lý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8302752" y="2635031"/>
            <a:ext cx="31089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8339327" y="2689895"/>
            <a:ext cx="303580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Đang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tổng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hợp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dữ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liệu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393192" y="3183671"/>
            <a:ext cx="73152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29767" y="3238535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UV-004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124712" y="3183671"/>
            <a:ext cx="91440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1161288" y="3238535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10/08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039112" y="3183671"/>
            <a:ext cx="91440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2075688" y="3238535"/>
            <a:ext cx="8412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953512" y="3183671"/>
            <a:ext cx="141732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990088" y="3238535"/>
            <a:ext cx="13441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Đề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xuất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kết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nối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4370832" y="3183671"/>
            <a:ext cx="73152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407408" y="3238535"/>
            <a:ext cx="6583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Thấp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5102352" y="3183671"/>
            <a:ext cx="114300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138928" y="3238535"/>
            <a:ext cx="10698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CĐCS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6245352" y="3183671"/>
            <a:ext cx="96012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6281928" y="3238535"/>
            <a:ext cx="8869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30/08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205472" y="3183671"/>
            <a:ext cx="109728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7242048" y="3238535"/>
            <a:ext cx="102412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Kế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hoạch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8302752" y="3183671"/>
            <a:ext cx="3108960" cy="54864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339327" y="3238535"/>
            <a:ext cx="303580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74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Đưa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vào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kế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685800" y="4343400"/>
            <a:ext cx="33832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1124712" y="4400603"/>
            <a:ext cx="301752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051F71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QUY </a:t>
            </a:r>
            <a:r>
              <a:rPr sz="1400" dirty="0" err="1">
                <a:latin typeface="Tahoma" panose="020B0604030504040204" pitchFamily="34" charset="0"/>
              </a:rPr>
              <a:t>TẮC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MÃ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HÓA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932687" y="4717406"/>
            <a:ext cx="2944368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90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Mỗi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vụ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có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mã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duy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nhất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0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Không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dùng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tên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NLĐ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trên</a:t>
            </a:r>
            <a:r>
              <a:rPr sz="1400" dirty="0">
                <a:latin typeface="Tahoma" panose="020B0604030504040204" pitchFamily="34" charset="0"/>
              </a:rPr>
              <a:t> dashboard </a:t>
            </a:r>
            <a:r>
              <a:rPr sz="1400" dirty="0" err="1">
                <a:latin typeface="Tahoma" panose="020B0604030504040204" pitchFamily="34" charset="0"/>
              </a:rPr>
              <a:t>công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khai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nếu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không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cần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thiết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389120" y="4343400"/>
            <a:ext cx="33832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4828032" y="4400603"/>
            <a:ext cx="301752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118F91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QUY </a:t>
            </a:r>
            <a:r>
              <a:rPr sz="1400" dirty="0" err="1">
                <a:latin typeface="Tahoma" panose="020B0604030504040204" pitchFamily="34" charset="0"/>
              </a:rPr>
              <a:t>TẮC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TRẠNG</a:t>
            </a:r>
            <a:r>
              <a:rPr sz="1400" dirty="0">
                <a:latin typeface="Tahoma" panose="020B0604030504040204" pitchFamily="34" charset="0"/>
              </a:rPr>
              <a:t> THÁI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636007" y="4717406"/>
            <a:ext cx="2944368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90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Mới</a:t>
            </a:r>
            <a:r>
              <a:rPr sz="1400" dirty="0">
                <a:latin typeface="Tahoma" panose="020B0604030504040204" pitchFamily="34" charset="0"/>
              </a:rPr>
              <a:t> → </a:t>
            </a:r>
            <a:r>
              <a:rPr sz="1400" dirty="0" err="1">
                <a:latin typeface="Tahoma" panose="020B0604030504040204" pitchFamily="34" charset="0"/>
              </a:rPr>
              <a:t>Đang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xác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minh</a:t>
            </a:r>
            <a:r>
              <a:rPr sz="1400" dirty="0">
                <a:latin typeface="Tahoma" panose="020B0604030504040204" pitchFamily="34" charset="0"/>
              </a:rPr>
              <a:t> → </a:t>
            </a:r>
            <a:r>
              <a:rPr sz="1400" dirty="0" err="1">
                <a:latin typeface="Tahoma" panose="020B0604030504040204" pitchFamily="34" charset="0"/>
              </a:rPr>
              <a:t>Đang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xử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lý</a:t>
            </a:r>
            <a:r>
              <a:rPr sz="1400" dirty="0">
                <a:latin typeface="Tahoma" panose="020B0604030504040204" pitchFamily="34" charset="0"/>
              </a:rPr>
              <a:t> → </a:t>
            </a:r>
            <a:r>
              <a:rPr sz="1400" dirty="0" err="1">
                <a:latin typeface="Tahoma" panose="020B0604030504040204" pitchFamily="34" charset="0"/>
              </a:rPr>
              <a:t>Chờ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phản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hồi</a:t>
            </a:r>
            <a:r>
              <a:rPr sz="1400" dirty="0">
                <a:latin typeface="Tahoma" panose="020B0604030504040204" pitchFamily="34" charset="0"/>
              </a:rPr>
              <a:t> → </a:t>
            </a:r>
            <a:r>
              <a:rPr sz="1400" dirty="0" err="1">
                <a:latin typeface="Tahoma" panose="020B0604030504040204" pitchFamily="34" charset="0"/>
              </a:rPr>
              <a:t>Đã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đóng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0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Quá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phải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có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lý</a:t>
            </a:r>
            <a:r>
              <a:rPr sz="1400" dirty="0">
                <a:latin typeface="Tahoma" panose="020B0604030504040204" pitchFamily="34" charset="0"/>
              </a:rPr>
              <a:t> do/ETA </a:t>
            </a:r>
            <a:r>
              <a:rPr sz="1400" dirty="0" err="1">
                <a:latin typeface="Tahoma" panose="020B0604030504040204" pitchFamily="34" charset="0"/>
              </a:rPr>
              <a:t>mới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092440" y="4343400"/>
            <a:ext cx="33832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8531352" y="4400603"/>
            <a:ext cx="301751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E87823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QUY </a:t>
            </a:r>
            <a:r>
              <a:rPr sz="1400" dirty="0" err="1">
                <a:latin typeface="Tahoma" panose="020B0604030504040204" pitchFamily="34" charset="0"/>
              </a:rPr>
              <a:t>TẮC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VƯỢT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CẤP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8339327" y="4717406"/>
            <a:ext cx="2944368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90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Vụ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ảnh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hưởng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nhiều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NLĐ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hoặc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có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rủi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ro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cao</a:t>
            </a:r>
            <a:r>
              <a:rPr sz="1400" dirty="0">
                <a:latin typeface="Tahoma" panose="020B0604030504040204" pitchFamily="34" charset="0"/>
              </a:rPr>
              <a:t>: </a:t>
            </a:r>
            <a:r>
              <a:rPr sz="1400" dirty="0" err="1">
                <a:latin typeface="Tahoma" panose="020B0604030504040204" pitchFamily="34" charset="0"/>
              </a:rPr>
              <a:t>báo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ngay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CĐ</a:t>
            </a:r>
            <a:r>
              <a:rPr sz="1400" dirty="0">
                <a:latin typeface="Tahoma" panose="020B0604030504040204" pitchFamily="34" charset="0"/>
              </a:rPr>
              <a:t> GPG/Ban </a:t>
            </a:r>
            <a:r>
              <a:rPr sz="1400" dirty="0" err="1">
                <a:latin typeface="Tahoma" panose="020B0604030504040204" pitchFamily="34" charset="0"/>
              </a:rPr>
              <a:t>CSNLĐ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0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Không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chờ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tháng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"/>
            <a:ext cx="960120" cy="5486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64008"/>
            <a:ext cx="646818" cy="5852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749808"/>
            <a:ext cx="11649456" cy="22860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40" y="6483096"/>
            <a:ext cx="207781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CÔNG ĐOÀN GPG | GPG TRADE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88474" y="6473952"/>
            <a:ext cx="1284326" cy="218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19">
                <a:solidFill>
                  <a:srgbClr val="677180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IV. </a:t>
            </a:r>
            <a:r>
              <a:rPr dirty="0" err="1">
                <a:latin typeface="Tahoma" panose="020B0604030504040204" pitchFamily="34" charset="0"/>
              </a:rPr>
              <a:t>BIỂU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MẪU</a:t>
            </a:r>
            <a:r>
              <a:rPr dirty="0">
                <a:latin typeface="Tahoma" panose="020B0604030504040204" pitchFamily="34" charset="0"/>
              </a:rPr>
              <a:t>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93198" y="6455664"/>
            <a:ext cx="338554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92721"/>
            <a:ext cx="11617283" cy="5001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50" b="1">
                <a:solidFill>
                  <a:srgbClr val="051F71"/>
                </a:solidFill>
                <a:latin typeface="Arial Narrow"/>
              </a:defRPr>
            </a:pPr>
            <a:r>
              <a:rPr dirty="0" err="1">
                <a:latin typeface="Tahoma" panose="020B0604030504040204" pitchFamily="34" charset="0"/>
              </a:rPr>
              <a:t>BIỂU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MẪU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M04</a:t>
            </a:r>
            <a:r>
              <a:rPr dirty="0">
                <a:latin typeface="Tahoma" panose="020B0604030504040204" pitchFamily="34" charset="0"/>
              </a:rPr>
              <a:t> – BÁO CÁO </a:t>
            </a:r>
            <a:r>
              <a:rPr dirty="0" err="1">
                <a:latin typeface="Tahoma" panose="020B0604030504040204" pitchFamily="34" charset="0"/>
              </a:rPr>
              <a:t>TỔNG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HỢP</a:t>
            </a:r>
            <a:r>
              <a:rPr dirty="0">
                <a:latin typeface="Tahoma" panose="020B0604030504040204" pitchFamily="34" charset="0"/>
              </a:rPr>
              <a:t> CÔNG ĐOÀN </a:t>
            </a:r>
            <a:r>
              <a:rPr dirty="0" err="1">
                <a:latin typeface="Tahoma" panose="020B0604030504040204" pitchFamily="34" charset="0"/>
              </a:rPr>
              <a:t>TỔNG</a:t>
            </a:r>
            <a:r>
              <a:rPr dirty="0">
                <a:latin typeface="Tahoma" panose="020B0604030504040204" pitchFamily="34" charset="0"/>
              </a:rPr>
              <a:t> CÔNG 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00200"/>
            <a:ext cx="34290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95528" y="1728216"/>
            <a:ext cx="306324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051F71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PHẦN 1 – </a:t>
            </a:r>
            <a:r>
              <a:rPr sz="1400" dirty="0" err="1">
                <a:latin typeface="Tahoma" panose="020B0604030504040204" pitchFamily="34" charset="0"/>
              </a:rPr>
              <a:t>TỔNG</a:t>
            </a:r>
            <a:r>
              <a:rPr sz="1400" dirty="0">
                <a:latin typeface="Tahoma" panose="020B0604030504040204" pitchFamily="34" charset="0"/>
              </a:rPr>
              <a:t> QUAN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4296" y="2176272"/>
            <a:ext cx="2990088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9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Số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CĐCS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cáo</a:t>
            </a:r>
            <a:r>
              <a:rPr sz="1400" dirty="0">
                <a:latin typeface="Tahoma" panose="020B0604030504040204" pitchFamily="34" charset="0"/>
              </a:rPr>
              <a:t> / </a:t>
            </a:r>
            <a:r>
              <a:rPr sz="1400" dirty="0" err="1">
                <a:latin typeface="Tahoma" panose="020B0604030504040204" pitchFamily="34" charset="0"/>
              </a:rPr>
              <a:t>chưa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cáo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Số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đoàn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viên</a:t>
            </a:r>
            <a:r>
              <a:rPr sz="1400" dirty="0">
                <a:latin typeface="Tahoma" panose="020B0604030504040204" pitchFamily="34" charset="0"/>
              </a:rPr>
              <a:t>, </a:t>
            </a:r>
            <a:r>
              <a:rPr sz="1400" dirty="0" err="1">
                <a:latin typeface="Tahoma" panose="020B0604030504040204" pitchFamily="34" charset="0"/>
              </a:rPr>
              <a:t>tỷ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lệ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tham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gia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Số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và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NLĐ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được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tiếp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cận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Tổng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thu</a:t>
            </a:r>
            <a:r>
              <a:rPr sz="1400" dirty="0">
                <a:latin typeface="Tahoma" panose="020B0604030504040204" pitchFamily="34" charset="0"/>
              </a:rPr>
              <a:t> – chi </a:t>
            </a:r>
            <a:r>
              <a:rPr sz="1400" dirty="0" err="1">
                <a:latin typeface="Tahoma" panose="020B0604030504040204" pitchFamily="34" charset="0"/>
              </a:rPr>
              <a:t>và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số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dư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00200"/>
            <a:ext cx="34290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90288" y="1728216"/>
            <a:ext cx="306324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118F91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PHẦN 2 – XU </a:t>
            </a:r>
            <a:r>
              <a:rPr sz="1400" dirty="0" err="1">
                <a:latin typeface="Tahoma" panose="020B0604030504040204" pitchFamily="34" charset="0"/>
              </a:rPr>
              <a:t>HƯỚNG</a:t>
            </a:r>
            <a:r>
              <a:rPr sz="1400" dirty="0">
                <a:latin typeface="Tahoma" panose="020B0604030504040204" pitchFamily="34" charset="0"/>
              </a:rPr>
              <a:t> &amp; </a:t>
            </a:r>
            <a:r>
              <a:rPr sz="1400" dirty="0" err="1">
                <a:latin typeface="Tahoma" panose="020B0604030504040204" pitchFamily="34" charset="0"/>
              </a:rPr>
              <a:t>CẢNH</a:t>
            </a:r>
            <a:r>
              <a:rPr sz="1400" dirty="0">
                <a:latin typeface="Tahoma" panose="020B0604030504040204" pitchFamily="34" charset="0"/>
              </a:rPr>
              <a:t> BÁO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176272"/>
            <a:ext cx="2990088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9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Top </a:t>
            </a:r>
            <a:r>
              <a:rPr sz="1400" dirty="0" err="1">
                <a:latin typeface="Tahoma" panose="020B0604030504040204" pitchFamily="34" charset="0"/>
              </a:rPr>
              <a:t>nhóm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kiến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nghị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Vụ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quá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r>
              <a:rPr sz="1400" dirty="0">
                <a:latin typeface="Tahoma" panose="020B0604030504040204" pitchFamily="34" charset="0"/>
              </a:rPr>
              <a:t> / </a:t>
            </a:r>
            <a:r>
              <a:rPr sz="1400" dirty="0" err="1">
                <a:latin typeface="Tahoma" panose="020B0604030504040204" pitchFamily="34" charset="0"/>
              </a:rPr>
              <a:t>rủi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ro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cao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Đơn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vị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triển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khai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chính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chậm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Chương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trình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có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mức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tham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gia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thấp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cao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Ngân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biến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bất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thường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00200"/>
            <a:ext cx="34290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39328" y="1728216"/>
            <a:ext cx="306323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E87823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PHẦN 3 – </a:t>
            </a:r>
            <a:r>
              <a:rPr sz="1400" dirty="0" err="1">
                <a:latin typeface="Tahoma" panose="020B0604030504040204" pitchFamily="34" charset="0"/>
              </a:rPr>
              <a:t>KIẾN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NGHỊ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BLĐ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57616" y="2176272"/>
            <a:ext cx="2990088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9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Nội</a:t>
            </a:r>
            <a:r>
              <a:rPr sz="1400" dirty="0">
                <a:latin typeface="Tahoma" panose="020B0604030504040204" pitchFamily="34" charset="0"/>
              </a:rPr>
              <a:t> dung </a:t>
            </a:r>
            <a:r>
              <a:rPr sz="1400" dirty="0" err="1">
                <a:latin typeface="Tahoma" panose="020B0604030504040204" pitchFamily="34" charset="0"/>
              </a:rPr>
              <a:t>cần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quyết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định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Nguồn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lực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ngân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cần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phê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duyệt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Chính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cần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điều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chỉnh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Đề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xuất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hỗ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trợ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vị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spcAft>
                <a:spcPts val="550"/>
              </a:spcAft>
              <a:defRPr sz="9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Kế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tháng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quý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tiếp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theo.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914400" y="5760720"/>
            <a:ext cx="10332720" cy="566928"/>
          </a:xfrm>
          <a:prstGeom prst="round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15568" y="5888736"/>
            <a:ext cx="9930384" cy="43088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Báo </a:t>
            </a:r>
            <a:r>
              <a:rPr dirty="0" err="1">
                <a:latin typeface="Tahoma" panose="020B0604030504040204" pitchFamily="34" charset="0"/>
              </a:rPr>
              <a:t>cáo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Tổng</a:t>
            </a:r>
            <a:r>
              <a:rPr dirty="0">
                <a:latin typeface="Tahoma" panose="020B0604030504040204" pitchFamily="34" charset="0"/>
              </a:rPr>
              <a:t> Công ty </a:t>
            </a:r>
            <a:r>
              <a:rPr dirty="0" err="1">
                <a:latin typeface="Tahoma" panose="020B0604030504040204" pitchFamily="34" charset="0"/>
              </a:rPr>
              <a:t>nên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ngắn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gọn</a:t>
            </a:r>
            <a:r>
              <a:rPr dirty="0">
                <a:latin typeface="Tahoma" panose="020B0604030504040204" pitchFamily="34" charset="0"/>
              </a:rPr>
              <a:t> ở </a:t>
            </a:r>
            <a:r>
              <a:rPr dirty="0" err="1">
                <a:latin typeface="Tahoma" panose="020B0604030504040204" pitchFamily="34" charset="0"/>
              </a:rPr>
              <a:t>phần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chính</a:t>
            </a:r>
            <a:r>
              <a:rPr dirty="0">
                <a:latin typeface="Tahoma" panose="020B0604030504040204" pitchFamily="34" charset="0"/>
              </a:rPr>
              <a:t>, </a:t>
            </a:r>
            <a:r>
              <a:rPr dirty="0" err="1">
                <a:latin typeface="Tahoma" panose="020B0604030504040204" pitchFamily="34" charset="0"/>
              </a:rPr>
              <a:t>dữ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liệu</a:t>
            </a:r>
            <a:r>
              <a:rPr dirty="0">
                <a:latin typeface="Tahoma" panose="020B0604030504040204" pitchFamily="34" charset="0"/>
              </a:rPr>
              <a:t> chi </a:t>
            </a:r>
            <a:r>
              <a:rPr dirty="0" err="1">
                <a:latin typeface="Tahoma" panose="020B0604030504040204" pitchFamily="34" charset="0"/>
              </a:rPr>
              <a:t>tiết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đặt</a:t>
            </a:r>
            <a:r>
              <a:rPr dirty="0">
                <a:latin typeface="Tahoma" panose="020B0604030504040204" pitchFamily="34" charset="0"/>
              </a:rPr>
              <a:t> ở dashboard/</a:t>
            </a:r>
            <a:r>
              <a:rPr dirty="0" err="1">
                <a:latin typeface="Tahoma" panose="020B0604030504040204" pitchFamily="34" charset="0"/>
              </a:rPr>
              <a:t>phụ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lục</a:t>
            </a:r>
            <a:r>
              <a:rPr dirty="0">
                <a:latin typeface="Tahoma" panose="020B0604030504040204" pitchFamily="34" charset="0"/>
              </a:rPr>
              <a:t>; </a:t>
            </a:r>
            <a:r>
              <a:rPr dirty="0" err="1">
                <a:latin typeface="Tahoma" panose="020B0604030504040204" pitchFamily="34" charset="0"/>
              </a:rPr>
              <a:t>BLĐ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tập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trung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vào</a:t>
            </a:r>
            <a:r>
              <a:rPr dirty="0">
                <a:latin typeface="Tahoma" panose="020B0604030504040204" pitchFamily="34" charset="0"/>
              </a:rPr>
              <a:t> xu </a:t>
            </a:r>
            <a:r>
              <a:rPr dirty="0" err="1">
                <a:latin typeface="Tahoma" panose="020B0604030504040204" pitchFamily="34" charset="0"/>
              </a:rPr>
              <a:t>hướng</a:t>
            </a:r>
            <a:r>
              <a:rPr dirty="0">
                <a:latin typeface="Tahoma" panose="020B0604030504040204" pitchFamily="34" charset="0"/>
              </a:rPr>
              <a:t>, </a:t>
            </a:r>
            <a:r>
              <a:rPr dirty="0" err="1">
                <a:latin typeface="Tahoma" panose="020B0604030504040204" pitchFamily="34" charset="0"/>
              </a:rPr>
              <a:t>rủi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ro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và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nội</a:t>
            </a:r>
            <a:r>
              <a:rPr dirty="0">
                <a:latin typeface="Tahoma" panose="020B0604030504040204" pitchFamily="34" charset="0"/>
              </a:rPr>
              <a:t> dung </a:t>
            </a:r>
            <a:r>
              <a:rPr dirty="0" err="1">
                <a:latin typeface="Tahoma" panose="020B0604030504040204" pitchFamily="34" charset="0"/>
              </a:rPr>
              <a:t>cần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quyết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định</a:t>
            </a:r>
            <a:r>
              <a:rPr dirty="0">
                <a:latin typeface="Tahoma" panose="020B060403050404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"/>
            <a:ext cx="960120" cy="5486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64008"/>
            <a:ext cx="646818" cy="5852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749808"/>
            <a:ext cx="11649456" cy="22860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40" y="6483096"/>
            <a:ext cx="207781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CÔNG ĐOÀN GPG | GPG TRADE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25105" y="6473952"/>
            <a:ext cx="947695" cy="218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19">
                <a:solidFill>
                  <a:srgbClr val="677180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IV.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93198" y="6455664"/>
            <a:ext cx="338554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7373" y="106547"/>
            <a:ext cx="11873763" cy="5001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50" b="1">
                <a:solidFill>
                  <a:srgbClr val="051F71"/>
                </a:solidFill>
                <a:latin typeface="Arial Narrow"/>
              </a:defRPr>
            </a:pPr>
            <a:r>
              <a:rPr dirty="0">
                <a:latin typeface="Tahoma" panose="020B0604030504040204" pitchFamily="34" charset="0"/>
              </a:rPr>
              <a:t> DASHBOARD CÔNG ĐOÀN – </a:t>
            </a:r>
            <a:r>
              <a:rPr dirty="0" err="1">
                <a:latin typeface="Tahoma" panose="020B0604030504040204" pitchFamily="34" charset="0"/>
              </a:rPr>
              <a:t>MÀN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HÌNH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TỔNG</a:t>
            </a:r>
            <a:r>
              <a:rPr dirty="0">
                <a:latin typeface="Tahoma" panose="020B0604030504040204" pitchFamily="34" charset="0"/>
              </a:rPr>
              <a:t> QUAN BAN </a:t>
            </a:r>
            <a:r>
              <a:rPr dirty="0" err="1">
                <a:latin typeface="Tahoma" panose="020B0604030504040204" pitchFamily="34" charset="0"/>
              </a:rPr>
              <a:t>LÃNH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ĐẠO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7492" y="962404"/>
            <a:ext cx="5139548" cy="2646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20">
                <a:solidFill>
                  <a:srgbClr val="677180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Mockup </a:t>
            </a:r>
            <a:r>
              <a:rPr dirty="0" err="1">
                <a:latin typeface="Tahoma" panose="020B0604030504040204" pitchFamily="34" charset="0"/>
              </a:rPr>
              <a:t>đề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xuất</a:t>
            </a:r>
            <a:r>
              <a:rPr dirty="0">
                <a:latin typeface="Tahoma" panose="020B0604030504040204" pitchFamily="34" charset="0"/>
              </a:rPr>
              <a:t>: </a:t>
            </a:r>
            <a:r>
              <a:rPr dirty="0" err="1">
                <a:latin typeface="Tahoma" panose="020B0604030504040204" pitchFamily="34" charset="0"/>
              </a:rPr>
              <a:t>xem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nhanh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trạng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thái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toàn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Hệ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sinh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thái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trong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một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màn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hình</a:t>
            </a:r>
            <a:r>
              <a:rPr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" y="1062989"/>
            <a:ext cx="1106424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7492" y="1062989"/>
            <a:ext cx="11064240" cy="475488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6092" y="1181861"/>
            <a:ext cx="10607040" cy="25391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GPG UNION DASHBOARD | Executive Overview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" y="1538476"/>
            <a:ext cx="1874519" cy="4050791"/>
          </a:xfrm>
          <a:prstGeom prst="rect">
            <a:avLst/>
          </a:prstGeom>
          <a:solidFill>
            <a:srgbClr val="F7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72084" y="1776221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1">
                <a:solidFill>
                  <a:srgbClr val="051F7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Tổng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quan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72084" y="2233421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Đoàn </a:t>
            </a:r>
            <a:r>
              <a:rPr sz="1400" dirty="0" err="1">
                <a:latin typeface="Tahoma" panose="020B0604030504040204" pitchFamily="34" charset="0"/>
              </a:rPr>
              <a:t>viên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72084" y="2690621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Chăm</a:t>
            </a:r>
            <a:r>
              <a:rPr sz="1400" dirty="0">
                <a:latin typeface="Tahoma" panose="020B0604030504040204" pitchFamily="34" charset="0"/>
              </a:rPr>
              <a:t> 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" y="3147821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Kiến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nghị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72084" y="3605021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72084" y="4062221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Tài </a:t>
            </a:r>
            <a:r>
              <a:rPr sz="1400" dirty="0" err="1">
                <a:latin typeface="Tahoma" panose="020B0604030504040204" pitchFamily="34" charset="0"/>
              </a:rPr>
              <a:t>chính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72084" y="4519421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Báo </a:t>
            </a:r>
            <a:r>
              <a:rPr sz="1400" dirty="0" err="1">
                <a:latin typeface="Tahoma" panose="020B0604030504040204" pitchFamily="34" charset="0"/>
              </a:rPr>
              <a:t>cáo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2656331" y="1794509"/>
            <a:ext cx="1783080" cy="822960"/>
          </a:xfrm>
          <a:prstGeom prst="round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729484" y="1904236"/>
            <a:ext cx="1636776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2000" b="1">
                <a:solidFill>
                  <a:srgbClr val="051F71"/>
                </a:solidFill>
                <a:latin typeface="Arial Narrow"/>
              </a:defRPr>
            </a:pPr>
            <a:r>
              <a:rPr sz="1400" dirty="0">
                <a:latin typeface="Tahoma" panose="020B0604030504040204" pitchFamily="34" charset="0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9484" y="2233420"/>
            <a:ext cx="1636776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60" b="1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CĐCS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đang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theo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dõi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668012" y="1794509"/>
            <a:ext cx="1783080" cy="822960"/>
          </a:xfrm>
          <a:prstGeom prst="round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741164" y="1904236"/>
            <a:ext cx="1636776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2000" b="1">
                <a:solidFill>
                  <a:srgbClr val="118F91"/>
                </a:solidFill>
                <a:latin typeface="Arial Narrow"/>
              </a:defRPr>
            </a:pPr>
            <a:r>
              <a:rPr sz="1400" dirty="0">
                <a:latin typeface="Tahoma" panose="020B0604030504040204" pitchFamily="34" charset="0"/>
              </a:rPr>
              <a:t>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41164" y="2233420"/>
            <a:ext cx="1636776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60" b="1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Nhân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sự</a:t>
            </a:r>
            <a:r>
              <a:rPr sz="1400" dirty="0">
                <a:latin typeface="Tahoma" panose="020B0604030504040204" pitchFamily="34" charset="0"/>
              </a:rPr>
              <a:t> BCH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9692" y="1794509"/>
            <a:ext cx="1783080" cy="822960"/>
          </a:xfrm>
          <a:prstGeom prst="round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752844" y="1904236"/>
            <a:ext cx="1636776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2000" b="1">
                <a:solidFill>
                  <a:srgbClr val="2A975D"/>
                </a:solidFill>
                <a:latin typeface="Arial Narrow"/>
              </a:defRPr>
            </a:pPr>
            <a:r>
              <a:rPr sz="1400" dirty="0">
                <a:latin typeface="Tahoma" panose="020B0604030504040204" pitchFamily="34" charset="0"/>
              </a:rPr>
              <a:t>95%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52844" y="2233420"/>
            <a:ext cx="1636776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60" b="1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Chăm</a:t>
            </a:r>
            <a:r>
              <a:rPr sz="1400" dirty="0">
                <a:latin typeface="Tahoma" panose="020B0604030504040204" pitchFamily="34" charset="0"/>
              </a:rPr>
              <a:t> lo </a:t>
            </a:r>
            <a:r>
              <a:rPr sz="1400" dirty="0" err="1">
                <a:latin typeface="Tahoma" panose="020B0604030504040204" pitchFamily="34" charset="0"/>
              </a:rPr>
              <a:t>đúng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8691372" y="1794509"/>
            <a:ext cx="1783080" cy="822960"/>
          </a:xfrm>
          <a:prstGeom prst="round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764524" y="1904236"/>
            <a:ext cx="1636776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2000" b="1">
                <a:solidFill>
                  <a:srgbClr val="E87823"/>
                </a:solidFill>
                <a:latin typeface="Arial Narrow"/>
              </a:defRPr>
            </a:pPr>
            <a:r>
              <a:rPr sz="1400" dirty="0">
                <a:latin typeface="Tahoma" panose="020B0604030504040204" pitchFamily="34" charset="0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4524" y="2233420"/>
            <a:ext cx="1636776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60" b="1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Vụ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đang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mở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2656331" y="2864357"/>
            <a:ext cx="324612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857500" y="2992373"/>
            <a:ext cx="288035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80" b="1">
                <a:solidFill>
                  <a:srgbClr val="051F7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CHĂM</a:t>
            </a:r>
            <a:r>
              <a:rPr sz="1400" dirty="0">
                <a:latin typeface="Tahoma" panose="020B0604030504040204" pitchFamily="34" charset="0"/>
              </a:rPr>
              <a:t> LO THEO </a:t>
            </a:r>
            <a:r>
              <a:rPr sz="1400" dirty="0" err="1">
                <a:latin typeface="Tahoma" panose="020B0604030504040204" pitchFamily="34" charset="0"/>
              </a:rPr>
              <a:t>NHÓM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875787" y="3449572"/>
            <a:ext cx="2807208" cy="104689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ts val="1900"/>
              </a:lnSpc>
              <a:spcBef>
                <a:spcPts val="600"/>
              </a:spcBef>
              <a:defRPr sz="105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Sinh </a:t>
            </a:r>
            <a:r>
              <a:rPr sz="1400" dirty="0" err="1">
                <a:latin typeface="Tahoma" panose="020B0604030504040204" pitchFamily="34" charset="0"/>
              </a:rPr>
              <a:t>nhật</a:t>
            </a:r>
            <a:r>
              <a:rPr sz="1400" dirty="0">
                <a:latin typeface="Tahoma" panose="020B0604030504040204" pitchFamily="34" charset="0"/>
              </a:rPr>
              <a:t> 42</a:t>
            </a:r>
            <a:br>
              <a:rPr sz="1400" dirty="0">
                <a:latin typeface="Tahoma" panose="020B0604030504040204" pitchFamily="34" charset="0"/>
              </a:rPr>
            </a:br>
            <a:r>
              <a:rPr sz="1400" dirty="0" err="1">
                <a:latin typeface="Tahoma" panose="020B0604030504040204" pitchFamily="34" charset="0"/>
              </a:rPr>
              <a:t>Hiếu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hỷ</a:t>
            </a:r>
            <a:r>
              <a:rPr sz="1400" dirty="0">
                <a:latin typeface="Tahoma" panose="020B0604030504040204" pitchFamily="34" charset="0"/>
              </a:rPr>
              <a:t> 9</a:t>
            </a:r>
            <a:br>
              <a:rPr sz="1400" dirty="0">
                <a:latin typeface="Tahoma" panose="020B0604030504040204" pitchFamily="34" charset="0"/>
              </a:rPr>
            </a:br>
            <a:r>
              <a:rPr sz="1400" dirty="0" err="1">
                <a:latin typeface="Tahoma" panose="020B0604030504040204" pitchFamily="34" charset="0"/>
              </a:rPr>
              <a:t>Thăm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hỏi</a:t>
            </a:r>
            <a:r>
              <a:rPr sz="1400" dirty="0">
                <a:latin typeface="Tahoma" panose="020B0604030504040204" pitchFamily="34" charset="0"/>
              </a:rPr>
              <a:t> 7</a:t>
            </a:r>
            <a:br>
              <a:rPr sz="1400" dirty="0">
                <a:latin typeface="Tahoma" panose="020B0604030504040204" pitchFamily="34" charset="0"/>
              </a:rPr>
            </a:br>
            <a:r>
              <a:rPr sz="1400" dirty="0">
                <a:latin typeface="Tahoma" panose="020B0604030504040204" pitchFamily="34" charset="0"/>
              </a:rPr>
              <a:t>Sinh con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22492" y="3321557"/>
            <a:ext cx="10515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00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Chính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7274052" y="3339844"/>
            <a:ext cx="2011680" cy="128016"/>
          </a:xfrm>
          <a:prstGeom prst="rect">
            <a:avLst/>
          </a:prstGeom>
          <a:solidFill>
            <a:srgbClr val="D9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7274052" y="3339844"/>
            <a:ext cx="1730044" cy="128016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222492" y="3760469"/>
            <a:ext cx="10515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00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Kết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nối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7274052" y="3778757"/>
            <a:ext cx="2011680" cy="128016"/>
          </a:xfrm>
          <a:prstGeom prst="rect">
            <a:avLst/>
          </a:prstGeom>
          <a:solidFill>
            <a:srgbClr val="D9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7274052" y="3778757"/>
            <a:ext cx="1448409" cy="128016"/>
          </a:xfrm>
          <a:prstGeom prst="rect">
            <a:avLst/>
          </a:prstGeom>
          <a:solidFill>
            <a:srgbClr val="118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222492" y="4199381"/>
            <a:ext cx="10515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00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Lắng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nghe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274052" y="4217668"/>
            <a:ext cx="2011680" cy="128016"/>
          </a:xfrm>
          <a:prstGeom prst="rect">
            <a:avLst/>
          </a:prstGeom>
          <a:solidFill>
            <a:srgbClr val="D9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7274052" y="4217668"/>
            <a:ext cx="1166774" cy="128016"/>
          </a:xfrm>
          <a:prstGeom prst="rect">
            <a:avLst/>
          </a:prstGeom>
          <a:solidFill>
            <a:srgbClr val="E87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222492" y="2937509"/>
            <a:ext cx="315468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50" b="1">
                <a:solidFill>
                  <a:srgbClr val="051F7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MỨC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</a:t>
            </a:r>
            <a:r>
              <a:rPr sz="1400" dirty="0">
                <a:latin typeface="Tahoma" panose="020B0604030504040204" pitchFamily="34" charset="0"/>
              </a:rPr>
              <a:t> HOÀN THÀNH KPI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51492" y="2864357"/>
            <a:ext cx="16916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9852660" y="2992373"/>
            <a:ext cx="132587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80" b="1">
                <a:solidFill>
                  <a:srgbClr val="E87823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CẢNH</a:t>
            </a:r>
            <a:r>
              <a:rPr sz="1400" dirty="0">
                <a:latin typeface="Tahoma" panose="020B0604030504040204" pitchFamily="34" charset="0"/>
              </a:rPr>
              <a:t> BÁO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0948" y="3449572"/>
            <a:ext cx="1510588" cy="116955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8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2 </a:t>
            </a:r>
            <a:r>
              <a:rPr sz="1400" dirty="0" err="1">
                <a:latin typeface="Tahoma" panose="020B0604030504040204" pitchFamily="34" charset="0"/>
              </a:rPr>
              <a:t>đơn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vị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cáo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chậm</a:t>
            </a:r>
            <a:br>
              <a:rPr sz="1400" dirty="0">
                <a:latin typeface="Tahoma" panose="020B0604030504040204" pitchFamily="34" charset="0"/>
              </a:rPr>
            </a:br>
            <a:r>
              <a:rPr sz="1400" dirty="0">
                <a:latin typeface="Tahoma" panose="020B0604030504040204" pitchFamily="34" charset="0"/>
              </a:rPr>
              <a:t>1 </a:t>
            </a:r>
            <a:r>
              <a:rPr sz="1400" dirty="0" err="1">
                <a:latin typeface="Tahoma" panose="020B0604030504040204" pitchFamily="34" charset="0"/>
              </a:rPr>
              <a:t>vụ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sắp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quá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br>
              <a:rPr sz="1400" dirty="0">
                <a:latin typeface="Tahoma" panose="020B0604030504040204" pitchFamily="34" charset="0"/>
              </a:rPr>
            </a:br>
            <a:r>
              <a:rPr sz="1400" dirty="0">
                <a:latin typeface="Tahoma" panose="020B0604030504040204" pitchFamily="34" charset="0"/>
              </a:rPr>
              <a:t>1 </a:t>
            </a:r>
            <a:r>
              <a:rPr sz="1400" dirty="0" err="1">
                <a:latin typeface="Tahoma" panose="020B0604030504040204" pitchFamily="34" charset="0"/>
              </a:rPr>
              <a:t>chứng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từ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thiếu</a:t>
            </a:r>
            <a:endParaRPr sz="14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"/>
            <a:ext cx="960120" cy="5486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64008"/>
            <a:ext cx="646818" cy="5852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749808"/>
            <a:ext cx="11649456" cy="22860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40" y="6483096"/>
            <a:ext cx="207781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CÔNG ĐOÀN GPG | GPG TRADE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25105" y="6473952"/>
            <a:ext cx="947695" cy="218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19">
                <a:solidFill>
                  <a:srgbClr val="677180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IV.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93198" y="6455664"/>
            <a:ext cx="338554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3838" y="193211"/>
            <a:ext cx="9124614" cy="5001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50" b="1">
                <a:solidFill>
                  <a:srgbClr val="051F71"/>
                </a:solidFill>
                <a:latin typeface="Arial Narrow"/>
              </a:defRPr>
            </a:pPr>
            <a:r>
              <a:rPr dirty="0">
                <a:latin typeface="Tahoma" panose="020B0604030504040204" pitchFamily="34" charset="0"/>
              </a:rPr>
              <a:t>DASHBOARD – </a:t>
            </a:r>
            <a:r>
              <a:rPr dirty="0" err="1">
                <a:latin typeface="Tahoma" panose="020B0604030504040204" pitchFamily="34" charset="0"/>
              </a:rPr>
              <a:t>CHĂM</a:t>
            </a:r>
            <a:r>
              <a:rPr dirty="0">
                <a:latin typeface="Tahoma" panose="020B0604030504040204" pitchFamily="34" charset="0"/>
              </a:rPr>
              <a:t> LO, CHÍNH </a:t>
            </a:r>
            <a:r>
              <a:rPr dirty="0" err="1">
                <a:latin typeface="Tahoma" panose="020B0604030504040204" pitchFamily="34" charset="0"/>
              </a:rPr>
              <a:t>SÁCH</a:t>
            </a:r>
            <a:r>
              <a:rPr dirty="0">
                <a:latin typeface="Tahoma" panose="020B0604030504040204" pitchFamily="34" charset="0"/>
              </a:rPr>
              <a:t> &amp; TÀI CHÍNH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1106424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48640" y="1554480"/>
            <a:ext cx="11064240" cy="475488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77240" y="1673352"/>
            <a:ext cx="1060704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GPG UNION DASHBOARD | Welfare &amp; Finance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29967"/>
            <a:ext cx="1874519" cy="4050791"/>
          </a:xfrm>
          <a:prstGeom prst="rect">
            <a:avLst/>
          </a:prstGeom>
          <a:solidFill>
            <a:srgbClr val="F7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13232" y="2267712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1">
                <a:solidFill>
                  <a:srgbClr val="051F7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Tổng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quan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3232" y="2724912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Chăm</a:t>
            </a:r>
            <a:r>
              <a:rPr sz="1400" dirty="0">
                <a:latin typeface="Tahoma" panose="020B0604030504040204" pitchFamily="34" charset="0"/>
              </a:rPr>
              <a:t> 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182112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Chính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13232" y="3639312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Tài </a:t>
            </a:r>
            <a:r>
              <a:rPr sz="1400" dirty="0" err="1">
                <a:latin typeface="Tahoma" panose="020B0604030504040204" pitchFamily="34" charset="0"/>
              </a:rPr>
              <a:t>chính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13232" y="4096512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Chứng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từ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13232" y="4553712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vị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697479" y="2304287"/>
            <a:ext cx="2514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898648" y="2432303"/>
            <a:ext cx="214883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19" b="1">
                <a:solidFill>
                  <a:srgbClr val="051F7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TỔNG</a:t>
            </a:r>
            <a:r>
              <a:rPr sz="1400" dirty="0">
                <a:latin typeface="Tahoma" panose="020B0604030504040204" pitchFamily="34" charset="0"/>
              </a:rPr>
              <a:t> CHI </a:t>
            </a:r>
            <a:r>
              <a:rPr sz="1400" dirty="0" err="1">
                <a:latin typeface="Tahoma" panose="020B0604030504040204" pitchFamily="34" charset="0"/>
              </a:rPr>
              <a:t>THÁNG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916935" y="2741188"/>
            <a:ext cx="2075688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19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34,0M</a:t>
            </a:r>
            <a:r>
              <a:rPr sz="1400" dirty="0">
                <a:latin typeface="Tahoma" panose="020B0604030504040204" pitchFamily="34" charset="0"/>
              </a:rPr>
              <a:t> | </a:t>
            </a:r>
            <a:r>
              <a:rPr sz="1400" dirty="0" err="1">
                <a:latin typeface="Tahoma" panose="020B0604030504040204" pitchFamily="34" charset="0"/>
              </a:rPr>
              <a:t>11,1M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trực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tiếp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chăm</a:t>
            </a:r>
            <a:r>
              <a:rPr sz="1400" dirty="0">
                <a:latin typeface="Tahoma" panose="020B0604030504040204" pitchFamily="34" charset="0"/>
              </a:rPr>
              <a:t> lo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79" y="3493008"/>
            <a:ext cx="2514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898648" y="3621024"/>
            <a:ext cx="214883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19" b="1">
                <a:solidFill>
                  <a:srgbClr val="118F9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CHỨNG</a:t>
            </a:r>
            <a:r>
              <a:rPr sz="1400" dirty="0">
                <a:latin typeface="Tahoma" panose="020B0604030504040204" pitchFamily="34" charset="0"/>
              </a:rPr>
              <a:t> TỪ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8648" y="3932284"/>
            <a:ext cx="2075688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19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98% </a:t>
            </a:r>
            <a:r>
              <a:rPr sz="1400" dirty="0" err="1">
                <a:latin typeface="Tahoma" panose="020B0604030504040204" pitchFamily="34" charset="0"/>
              </a:rPr>
              <a:t>hoàn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tất</a:t>
            </a:r>
            <a:r>
              <a:rPr sz="1400" dirty="0">
                <a:latin typeface="Tahoma" panose="020B0604030504040204" pitchFamily="34" charset="0"/>
              </a:rPr>
              <a:t> | 2% </a:t>
            </a:r>
            <a:r>
              <a:rPr sz="1400" dirty="0" err="1">
                <a:latin typeface="Tahoma" panose="020B0604030504040204" pitchFamily="34" charset="0"/>
              </a:rPr>
              <a:t>cần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bổ</a:t>
            </a:r>
            <a:r>
              <a:rPr sz="1400" dirty="0">
                <a:latin typeface="Tahoma" panose="020B0604030504040204" pitchFamily="34" charset="0"/>
              </a:rPr>
              <a:t> sung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79" y="4681727"/>
            <a:ext cx="2514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898648" y="4809743"/>
            <a:ext cx="2148839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19" b="1">
                <a:solidFill>
                  <a:srgbClr val="2A975D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CHÍNH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ĐÚNG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916935" y="5160227"/>
            <a:ext cx="207568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19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95% | 2 </a:t>
            </a:r>
            <a:r>
              <a:rPr sz="1400" dirty="0" err="1">
                <a:latin typeface="Tahoma" panose="020B0604030504040204" pitchFamily="34" charset="0"/>
              </a:rPr>
              <a:t>trường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hợp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chậm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532120" y="2304287"/>
            <a:ext cx="1188720" cy="45720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568696" y="2368295"/>
            <a:ext cx="11155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vị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720840" y="2304287"/>
            <a:ext cx="1188720" cy="45720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757416" y="2368295"/>
            <a:ext cx="11155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Chi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2304287"/>
            <a:ext cx="1280160" cy="45720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946136" y="2368295"/>
            <a:ext cx="12070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Đúng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9189720" y="2304287"/>
            <a:ext cx="1371600" cy="457200"/>
          </a:xfrm>
          <a:prstGeom prst="rect">
            <a:avLst/>
          </a:prstGeom>
          <a:solidFill>
            <a:srgbClr val="051F7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226296" y="2368295"/>
            <a:ext cx="12984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Chứng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từ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532120" y="2761487"/>
            <a:ext cx="11887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568696" y="2816351"/>
            <a:ext cx="11155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80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VCS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20840" y="2761487"/>
            <a:ext cx="11887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757416" y="2816351"/>
            <a:ext cx="11155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0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8,2M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7909560" y="2761487"/>
            <a:ext cx="12801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946136" y="2816351"/>
            <a:ext cx="12070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0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100%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89720" y="2761487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9226296" y="2816351"/>
            <a:ext cx="12984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0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Đủ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5532120" y="3218687"/>
            <a:ext cx="118872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568696" y="3273551"/>
            <a:ext cx="11155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80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AZC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20840" y="3218687"/>
            <a:ext cx="118872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757416" y="3273551"/>
            <a:ext cx="11155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0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5,6M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7909560" y="3218687"/>
            <a:ext cx="128016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7946136" y="3273551"/>
            <a:ext cx="12070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0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96%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89720" y="3218687"/>
            <a:ext cx="137160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9226296" y="3273551"/>
            <a:ext cx="12984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0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Đủ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5532120" y="3675887"/>
            <a:ext cx="11887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568696" y="3730751"/>
            <a:ext cx="11155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80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20840" y="3675887"/>
            <a:ext cx="11887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757416" y="3730751"/>
            <a:ext cx="11155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0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4,1M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7909560" y="3675887"/>
            <a:ext cx="12801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946136" y="3730751"/>
            <a:ext cx="12070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0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93%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89720" y="3675887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226296" y="3730751"/>
            <a:ext cx="12984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0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Thiếu</a:t>
            </a:r>
            <a:r>
              <a:rPr sz="1400" dirty="0">
                <a:latin typeface="Tahoma" panose="020B0604030504040204" pitchFamily="34" charset="0"/>
              </a:rPr>
              <a:t>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32120" y="4133087"/>
            <a:ext cx="118872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5568696" y="4187951"/>
            <a:ext cx="11155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80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20840" y="4133087"/>
            <a:ext cx="118872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757416" y="4187951"/>
            <a:ext cx="111556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0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3,9M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7909560" y="4133087"/>
            <a:ext cx="128016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946136" y="4187951"/>
            <a:ext cx="120700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00" b="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100%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89720" y="4133087"/>
            <a:ext cx="137160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9226296" y="4187951"/>
            <a:ext cx="1298448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00" b="0">
                <a:solidFill>
                  <a:srgbClr val="202838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Đủ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5532120" y="4864608"/>
            <a:ext cx="50292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719499" y="4914899"/>
            <a:ext cx="466344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E87823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CẢNH</a:t>
            </a:r>
            <a:r>
              <a:rPr sz="1400" dirty="0">
                <a:latin typeface="Tahoma" panose="020B0604030504040204" pitchFamily="34" charset="0"/>
              </a:rPr>
              <a:t> BÁO </a:t>
            </a:r>
            <a:r>
              <a:rPr sz="1400" dirty="0" err="1">
                <a:latin typeface="Tahoma" panose="020B0604030504040204" pitchFamily="34" charset="0"/>
              </a:rPr>
              <a:t>TỰ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5719499" y="5152627"/>
            <a:ext cx="459028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4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Chi </a:t>
            </a:r>
            <a:r>
              <a:rPr sz="1400" dirty="0" err="1">
                <a:latin typeface="Tahoma" panose="020B0604030504040204" pitchFamily="34" charset="0"/>
              </a:rPr>
              <a:t>vượt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ngân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sách</a:t>
            </a:r>
            <a:r>
              <a:rPr sz="1400" dirty="0">
                <a:latin typeface="Tahoma" panose="020B0604030504040204" pitchFamily="34" charset="0"/>
              </a:rPr>
              <a:t> &gt;10%.</a:t>
            </a:r>
          </a:p>
          <a:p>
            <a:pPr>
              <a:defRPr sz="84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Trường </a:t>
            </a:r>
            <a:r>
              <a:rPr sz="1400" dirty="0" err="1">
                <a:latin typeface="Tahoma" panose="020B0604030504040204" pitchFamily="34" charset="0"/>
              </a:rPr>
              <a:t>hợp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chăm</a:t>
            </a:r>
            <a:r>
              <a:rPr sz="1400" dirty="0">
                <a:latin typeface="Tahoma" panose="020B0604030504040204" pitchFamily="34" charset="0"/>
              </a:rPr>
              <a:t> lo </a:t>
            </a:r>
            <a:r>
              <a:rPr sz="1400" dirty="0" err="1">
                <a:latin typeface="Tahoma" panose="020B0604030504040204" pitchFamily="34" charset="0"/>
              </a:rPr>
              <a:t>quá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hạn</a:t>
            </a:r>
            <a:r>
              <a:rPr sz="1400" dirty="0">
                <a:latin typeface="Tahoma" panose="020B0604030504040204" pitchFamily="34" charset="0"/>
              </a:rPr>
              <a:t> &gt;2 </a:t>
            </a:r>
            <a:r>
              <a:rPr sz="1400" dirty="0" err="1">
                <a:latin typeface="Tahoma" panose="020B0604030504040204" pitchFamily="34" charset="0"/>
              </a:rPr>
              <a:t>ngày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  <a:p>
            <a:pPr>
              <a:defRPr sz="84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Chứng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từ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chưa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hoàn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thiện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sau</a:t>
            </a:r>
            <a:r>
              <a:rPr sz="1400" dirty="0">
                <a:latin typeface="Tahoma" panose="020B0604030504040204" pitchFamily="34" charset="0"/>
              </a:rPr>
              <a:t> 5 </a:t>
            </a:r>
            <a:r>
              <a:rPr sz="1400" dirty="0" err="1">
                <a:latin typeface="Tahoma" panose="020B0604030504040204" pitchFamily="34" charset="0"/>
              </a:rPr>
              <a:t>ngày</a:t>
            </a:r>
            <a:r>
              <a:rPr sz="1400" dirty="0">
                <a:latin typeface="Tahoma" panose="020B060403050404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"/>
            <a:ext cx="960120" cy="5486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64008"/>
            <a:ext cx="646818" cy="5852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749808"/>
            <a:ext cx="11649456" cy="22860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40" y="6483096"/>
            <a:ext cx="207781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CÔNG ĐOÀN GPG | GPG TRADE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25105" y="6473952"/>
            <a:ext cx="947695" cy="218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19">
                <a:solidFill>
                  <a:srgbClr val="677180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IV.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93198" y="6455664"/>
            <a:ext cx="338554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8931" y="162995"/>
            <a:ext cx="8919429" cy="5001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50" b="1">
                <a:solidFill>
                  <a:srgbClr val="051F71"/>
                </a:solidFill>
                <a:latin typeface="Arial Narrow"/>
              </a:defRPr>
            </a:pPr>
            <a:r>
              <a:rPr dirty="0">
                <a:latin typeface="Tahoma" panose="020B0604030504040204" pitchFamily="34" charset="0"/>
              </a:rPr>
              <a:t>DASHBOARD – </a:t>
            </a:r>
            <a:r>
              <a:rPr dirty="0" err="1">
                <a:latin typeface="Tahoma" panose="020B0604030504040204" pitchFamily="34" charset="0"/>
              </a:rPr>
              <a:t>TIẾNG</a:t>
            </a:r>
            <a:r>
              <a:rPr dirty="0">
                <a:latin typeface="Tahoma" panose="020B0604030504040204" pitchFamily="34" charset="0"/>
              </a:rPr>
              <a:t> NÓI </a:t>
            </a:r>
            <a:r>
              <a:rPr dirty="0" err="1">
                <a:latin typeface="Tahoma" panose="020B0604030504040204" pitchFamily="34" charset="0"/>
              </a:rPr>
              <a:t>NLĐ</a:t>
            </a:r>
            <a:r>
              <a:rPr dirty="0">
                <a:latin typeface="Tahoma" panose="020B0604030504040204" pitchFamily="34" charset="0"/>
              </a:rPr>
              <a:t> &amp; </a:t>
            </a:r>
            <a:r>
              <a:rPr dirty="0" err="1">
                <a:latin typeface="Tahoma" panose="020B0604030504040204" pitchFamily="34" charset="0"/>
              </a:rPr>
              <a:t>MỨC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ĐỘ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KẾT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NỐI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5487" y="998982"/>
            <a:ext cx="1106424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75487" y="998982"/>
            <a:ext cx="11064240" cy="475488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04087" y="1117854"/>
            <a:ext cx="1060704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GPG UNION DASHBOARD | Employee Voice &amp; Engagement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7" y="1474469"/>
            <a:ext cx="1874519" cy="4050791"/>
          </a:xfrm>
          <a:prstGeom prst="rect">
            <a:avLst/>
          </a:prstGeom>
          <a:solidFill>
            <a:srgbClr val="F7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0079" y="1712214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1">
                <a:solidFill>
                  <a:srgbClr val="051F71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Tổng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quan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79" y="2169414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Kiến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nghị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0079" y="2626614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Khảo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sát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79" y="3083814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79" y="3541014"/>
            <a:ext cx="150876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869" b="0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Tuyến </a:t>
            </a:r>
            <a:r>
              <a:rPr sz="1400" dirty="0" err="1">
                <a:latin typeface="Tahoma" panose="020B0604030504040204" pitchFamily="34" charset="0"/>
              </a:rPr>
              <a:t>đầu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624326" y="1703070"/>
            <a:ext cx="1755648" cy="841248"/>
          </a:xfrm>
          <a:prstGeom prst="round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679191" y="1831086"/>
            <a:ext cx="164592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850" b="1">
                <a:solidFill>
                  <a:srgbClr val="051F71"/>
                </a:solidFill>
                <a:latin typeface="Arial Narrow"/>
              </a:defRPr>
            </a:pPr>
            <a:r>
              <a:rPr sz="1400" dirty="0">
                <a:latin typeface="Tahoma" panose="020B0604030504040204" pitchFamily="34" charset="0"/>
              </a:rPr>
              <a:t>72%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4327" y="2075962"/>
            <a:ext cx="164592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30" b="1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Tỷ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lệ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phản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hồi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khảo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sát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617719" y="1703070"/>
            <a:ext cx="1755648" cy="841248"/>
          </a:xfrm>
          <a:prstGeom prst="round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672583" y="1831086"/>
            <a:ext cx="164592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850" b="1">
                <a:solidFill>
                  <a:srgbClr val="118F91"/>
                </a:solidFill>
                <a:latin typeface="Arial Narrow"/>
              </a:defRPr>
            </a:pPr>
            <a:r>
              <a:rPr sz="1400" dirty="0">
                <a:latin typeface="Tahoma" panose="020B0604030504040204" pitchFamily="34" charset="0"/>
              </a:rPr>
              <a:t>4,4/5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19" y="2075962"/>
            <a:ext cx="164592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30" b="1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Điểm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hữu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ích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611111" y="1703070"/>
            <a:ext cx="1755648" cy="841248"/>
          </a:xfrm>
          <a:prstGeom prst="round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65975" y="1831086"/>
            <a:ext cx="164592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850" b="1">
                <a:solidFill>
                  <a:srgbClr val="2A975D"/>
                </a:solidFill>
                <a:latin typeface="Arial Narrow"/>
              </a:defRPr>
            </a:pPr>
            <a:r>
              <a:rPr sz="1400" dirty="0">
                <a:latin typeface="Tahoma" panose="020B0604030504040204" pitchFamily="34" charset="0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11111" y="2075962"/>
            <a:ext cx="164592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30" b="1">
                <a:solidFill>
                  <a:srgbClr val="677180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Kiến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nghị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có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phản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hồi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604503" y="1703070"/>
            <a:ext cx="1755648" cy="841248"/>
          </a:xfrm>
          <a:prstGeom prst="roundRect">
            <a:avLst/>
          </a:prstGeom>
          <a:solidFill>
            <a:srgbClr val="F7F9FD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659367" y="1831086"/>
            <a:ext cx="164592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850" b="1">
                <a:solidFill>
                  <a:srgbClr val="E87823"/>
                </a:solidFill>
                <a:latin typeface="Arial Narrow"/>
              </a:defRPr>
            </a:pPr>
            <a:r>
              <a:rPr sz="1400" dirty="0">
                <a:latin typeface="Tahoma" panose="020B0604030504040204" pitchFamily="34" charset="0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04503" y="2075962"/>
            <a:ext cx="164592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730" b="1">
                <a:solidFill>
                  <a:srgbClr val="677180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Ý </a:t>
            </a:r>
            <a:r>
              <a:rPr sz="1400" dirty="0" err="1">
                <a:latin typeface="Tahoma" panose="020B0604030504040204" pitchFamily="34" charset="0"/>
              </a:rPr>
              <a:t>kiến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mới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này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624326" y="2846070"/>
            <a:ext cx="28346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825495" y="2974086"/>
            <a:ext cx="246887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051F71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TOP NHU </a:t>
            </a:r>
            <a:r>
              <a:rPr sz="1400" dirty="0" err="1">
                <a:latin typeface="Tahoma" panose="020B0604030504040204" pitchFamily="34" charset="0"/>
              </a:rPr>
              <a:t>CẦU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843782" y="3422141"/>
            <a:ext cx="2395728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8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Sức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khỏe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tinh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thần</a:t>
            </a:r>
            <a:endParaRPr sz="1400" dirty="0">
              <a:latin typeface="Tahoma" panose="020B0604030504040204" pitchFamily="34" charset="0"/>
            </a:endParaRPr>
          </a:p>
          <a:p>
            <a:pPr>
              <a:spcAft>
                <a:spcPts val="550"/>
              </a:spcAft>
              <a:defRPr sz="8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Kết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nối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liên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phòng</a:t>
            </a:r>
            <a:r>
              <a:rPr sz="1400" dirty="0">
                <a:latin typeface="Tahoma" panose="020B0604030504040204" pitchFamily="34" charset="0"/>
              </a:rPr>
              <a:t> ban</a:t>
            </a:r>
          </a:p>
          <a:p>
            <a:pPr>
              <a:spcAft>
                <a:spcPts val="550"/>
              </a:spcAft>
              <a:defRPr sz="8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Ca </a:t>
            </a:r>
            <a:r>
              <a:rPr sz="1400" dirty="0" err="1">
                <a:latin typeface="Tahoma" panose="020B0604030504040204" pitchFamily="34" charset="0"/>
              </a:rPr>
              <a:t>làm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điều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kiện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tuyến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đầu</a:t>
            </a:r>
            <a:endParaRPr sz="1400" dirty="0">
              <a:latin typeface="Tahoma" panose="020B0604030504040204" pitchFamily="34" charset="0"/>
            </a:endParaRPr>
          </a:p>
          <a:p>
            <a:pPr>
              <a:spcAft>
                <a:spcPts val="550"/>
              </a:spcAft>
              <a:defRPr sz="8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Chương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trình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gia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đình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5733287" y="2846070"/>
            <a:ext cx="28346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934454" y="2974086"/>
            <a:ext cx="246888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118F91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TOP </a:t>
            </a:r>
            <a:r>
              <a:rPr sz="1400" dirty="0" err="1">
                <a:latin typeface="Tahoma" panose="020B0604030504040204" pitchFamily="34" charset="0"/>
              </a:rPr>
              <a:t>KIẾN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NGHỊ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52743" y="3422141"/>
            <a:ext cx="2395728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8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</a:t>
            </a:r>
            <a:r>
              <a:rPr sz="1400" dirty="0" err="1">
                <a:latin typeface="Tahoma" panose="020B0604030504040204" pitchFamily="34" charset="0"/>
              </a:rPr>
              <a:t>Điều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kiện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làm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endParaRPr sz="1400" dirty="0">
              <a:latin typeface="Tahoma" panose="020B0604030504040204" pitchFamily="34" charset="0"/>
            </a:endParaRPr>
          </a:p>
          <a:p>
            <a:pPr>
              <a:spcAft>
                <a:spcPts val="550"/>
              </a:spcAft>
              <a:defRPr sz="8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Phúc </a:t>
            </a:r>
            <a:r>
              <a:rPr sz="1400" dirty="0" err="1">
                <a:latin typeface="Tahoma" panose="020B0604030504040204" pitchFamily="34" charset="0"/>
              </a:rPr>
              <a:t>lợi</a:t>
            </a:r>
            <a:endParaRPr sz="1400" dirty="0">
              <a:latin typeface="Tahoma" panose="020B0604030504040204" pitchFamily="34" charset="0"/>
            </a:endParaRPr>
          </a:p>
          <a:p>
            <a:pPr>
              <a:spcAft>
                <a:spcPts val="550"/>
              </a:spcAft>
              <a:defRPr sz="8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Phối </a:t>
            </a:r>
            <a:r>
              <a:rPr sz="1400" dirty="0" err="1">
                <a:latin typeface="Tahoma" panose="020B0604030504040204" pitchFamily="34" charset="0"/>
              </a:rPr>
              <a:t>hợp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nội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bộ</a:t>
            </a:r>
            <a:endParaRPr sz="1400" dirty="0">
              <a:latin typeface="Tahoma" panose="020B0604030504040204" pitchFamily="34" charset="0"/>
            </a:endParaRPr>
          </a:p>
          <a:p>
            <a:pPr>
              <a:spcAft>
                <a:spcPts val="550"/>
              </a:spcAft>
              <a:defRPr sz="869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Đào </a:t>
            </a:r>
            <a:r>
              <a:rPr sz="1400" dirty="0" err="1">
                <a:latin typeface="Tahoma" panose="020B0604030504040204" pitchFamily="34" charset="0"/>
              </a:rPr>
              <a:t>tạo</a:t>
            </a:r>
            <a:r>
              <a:rPr sz="1400" dirty="0">
                <a:latin typeface="Tahoma" panose="020B0604030504040204" pitchFamily="34" charset="0"/>
              </a:rPr>
              <a:t>/</a:t>
            </a:r>
            <a:r>
              <a:rPr sz="1400" dirty="0" err="1">
                <a:latin typeface="Tahoma" panose="020B0604030504040204" pitchFamily="34" charset="0"/>
              </a:rPr>
              <a:t>kỹ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năng</a:t>
            </a:r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8842247" y="2846070"/>
            <a:ext cx="242316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>
              <a:latin typeface="Tahoma" panose="020B0604030504040204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043415" y="2974086"/>
            <a:ext cx="2057399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10" b="1">
                <a:solidFill>
                  <a:srgbClr val="E87823"/>
                </a:solidFill>
                <a:latin typeface="Arial"/>
              </a:defRPr>
            </a:pPr>
            <a:r>
              <a:rPr sz="1400" dirty="0" err="1">
                <a:latin typeface="Tahoma" panose="020B0604030504040204" pitchFamily="34" charset="0"/>
              </a:rPr>
              <a:t>ĐIỂM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CẦN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CHÚ</a:t>
            </a:r>
            <a:r>
              <a:rPr sz="1400" dirty="0">
                <a:latin typeface="Tahoma" panose="020B0604030504040204" pitchFamily="34" charset="0"/>
              </a:rPr>
              <a:t> 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61703" y="3422141"/>
            <a:ext cx="198424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85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2 </a:t>
            </a:r>
            <a:r>
              <a:rPr sz="1400" dirty="0" err="1">
                <a:latin typeface="Tahoma" panose="020B0604030504040204" pitchFamily="34" charset="0"/>
              </a:rPr>
              <a:t>vụ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việc</a:t>
            </a:r>
            <a:r>
              <a:rPr sz="1400" dirty="0">
                <a:latin typeface="Tahoma" panose="020B0604030504040204" pitchFamily="34" charset="0"/>
              </a:rPr>
              <a:t> &gt; 7 </a:t>
            </a:r>
            <a:r>
              <a:rPr sz="1400" dirty="0" err="1">
                <a:latin typeface="Tahoma" panose="020B0604030504040204" pitchFamily="34" charset="0"/>
              </a:rPr>
              <a:t>ngày</a:t>
            </a:r>
            <a:endParaRPr sz="1400" dirty="0">
              <a:latin typeface="Tahoma" panose="020B0604030504040204" pitchFamily="34" charset="0"/>
            </a:endParaRPr>
          </a:p>
          <a:p>
            <a:pPr>
              <a:spcAft>
                <a:spcPts val="550"/>
              </a:spcAft>
              <a:defRPr sz="85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1 </a:t>
            </a:r>
            <a:r>
              <a:rPr sz="1400" dirty="0" err="1">
                <a:latin typeface="Tahoma" panose="020B0604030504040204" pitchFamily="34" charset="0"/>
              </a:rPr>
              <a:t>đơn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vị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phản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hồi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khảo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sát</a:t>
            </a:r>
            <a:r>
              <a:rPr sz="1400" dirty="0">
                <a:latin typeface="Tahoma" panose="020B0604030504040204" pitchFamily="34" charset="0"/>
              </a:rPr>
              <a:t> &lt;50%</a:t>
            </a:r>
          </a:p>
          <a:p>
            <a:pPr>
              <a:spcAft>
                <a:spcPts val="550"/>
              </a:spcAft>
              <a:defRPr sz="850">
                <a:solidFill>
                  <a:srgbClr val="202838"/>
                </a:solidFill>
                <a:latin typeface="Arial"/>
              </a:defRPr>
            </a:pPr>
            <a:r>
              <a:rPr sz="1400" dirty="0">
                <a:latin typeface="Tahoma" panose="020B0604030504040204" pitchFamily="34" charset="0"/>
              </a:rPr>
              <a:t>• 1 </a:t>
            </a:r>
            <a:r>
              <a:rPr sz="1400" dirty="0" err="1">
                <a:latin typeface="Tahoma" panose="020B0604030504040204" pitchFamily="34" charset="0"/>
              </a:rPr>
              <a:t>hoạt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động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có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điểm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hữu</a:t>
            </a:r>
            <a:r>
              <a:rPr sz="1400" dirty="0">
                <a:latin typeface="Tahoma" panose="020B0604030504040204" pitchFamily="34" charset="0"/>
              </a:rPr>
              <a:t> </a:t>
            </a:r>
            <a:r>
              <a:rPr sz="1400" dirty="0" err="1">
                <a:latin typeface="Tahoma" panose="020B0604030504040204" pitchFamily="34" charset="0"/>
              </a:rPr>
              <a:t>ích</a:t>
            </a:r>
            <a:r>
              <a:rPr sz="1400" dirty="0">
                <a:latin typeface="Tahoma" panose="020B0604030504040204" pitchFamily="34" charset="0"/>
              </a:rPr>
              <a:t> &lt;3,5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"/>
            <a:ext cx="960120" cy="5486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64008"/>
            <a:ext cx="646818" cy="58521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749808"/>
            <a:ext cx="11649456" cy="22860"/>
          </a:xfrm>
          <a:prstGeom prst="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40" y="6483096"/>
            <a:ext cx="207781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CÔNG ĐOÀN GPG | GPG TRADE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25105" y="6473952"/>
            <a:ext cx="947695" cy="218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19">
                <a:solidFill>
                  <a:srgbClr val="677180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IV.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93198" y="6455664"/>
            <a:ext cx="338554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51F71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7833" y="167375"/>
            <a:ext cx="12691295" cy="5001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50" b="1">
                <a:solidFill>
                  <a:srgbClr val="051F71"/>
                </a:solidFill>
                <a:latin typeface="Arial Narrow"/>
              </a:defRPr>
            </a:pPr>
            <a:r>
              <a:rPr dirty="0">
                <a:latin typeface="Tahoma" panose="020B0604030504040204" pitchFamily="34" charset="0"/>
              </a:rPr>
              <a:t>KPI CÔNG ĐOÀN – </a:t>
            </a:r>
            <a:r>
              <a:rPr dirty="0" err="1">
                <a:latin typeface="Tahoma" panose="020B0604030504040204" pitchFamily="34" charset="0"/>
              </a:rPr>
              <a:t>ĐO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GIÁ</a:t>
            </a:r>
            <a:r>
              <a:rPr dirty="0">
                <a:latin typeface="Tahoma" panose="020B0604030504040204" pitchFamily="34" charset="0"/>
              </a:rPr>
              <a:t> TRỊ </a:t>
            </a:r>
            <a:r>
              <a:rPr dirty="0" err="1">
                <a:latin typeface="Tahoma" panose="020B0604030504040204" pitchFamily="34" charset="0"/>
              </a:rPr>
              <a:t>TẠO</a:t>
            </a:r>
            <a:r>
              <a:rPr dirty="0">
                <a:latin typeface="Tahoma" panose="020B0604030504040204" pitchFamily="34" charset="0"/>
              </a:rPr>
              <a:t> RA, </a:t>
            </a:r>
            <a:r>
              <a:rPr dirty="0" err="1">
                <a:latin typeface="Tahoma" panose="020B0604030504040204" pitchFamily="34" charset="0"/>
              </a:rPr>
              <a:t>KHÔNG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CHỈ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ĐẾM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SỐ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HOẠT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ĐỘNG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11480" y="1600200"/>
            <a:ext cx="1993392" cy="1627632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1810512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2500" b="1">
                <a:solidFill>
                  <a:srgbClr val="051F71"/>
                </a:solidFill>
                <a:latin typeface="Arial Narrow"/>
              </a:defRPr>
            </a:pPr>
            <a:r>
              <a:rPr dirty="0">
                <a:latin typeface="Tahoma" panose="020B0604030504040204" pitchFamily="34" charset="0"/>
              </a:rPr>
              <a:t>≥95%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2258568"/>
            <a:ext cx="1773936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80" b="1">
                <a:solidFill>
                  <a:srgbClr val="202838"/>
                </a:solidFill>
                <a:latin typeface="Arial"/>
              </a:defRPr>
            </a:pPr>
            <a:r>
              <a:rPr sz="1600" dirty="0" err="1">
                <a:latin typeface="Tahoma" panose="020B0604030504040204" pitchFamily="34" charset="0"/>
              </a:rPr>
              <a:t>Chính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sách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chăm</a:t>
            </a:r>
            <a:r>
              <a:rPr sz="1600" dirty="0">
                <a:latin typeface="Tahoma" panose="020B0604030504040204" pitchFamily="34" charset="0"/>
              </a:rPr>
              <a:t> lo </a:t>
            </a:r>
            <a:r>
              <a:rPr sz="1600" dirty="0" err="1">
                <a:latin typeface="Tahoma" panose="020B0604030504040204" pitchFamily="34" charset="0"/>
              </a:rPr>
              <a:t>đúng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hạn</a:t>
            </a:r>
            <a:endParaRPr sz="1600" dirty="0">
              <a:latin typeface="Tahoma" panose="020B0604030504040204" pitchFamily="34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743200" y="1600200"/>
            <a:ext cx="1993392" cy="1627632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834640" y="1737360"/>
            <a:ext cx="1810512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2500" b="1">
                <a:solidFill>
                  <a:srgbClr val="118F91"/>
                </a:solidFill>
                <a:latin typeface="Arial Narrow"/>
              </a:defRPr>
            </a:pPr>
            <a:r>
              <a:rPr dirty="0">
                <a:latin typeface="Tahoma" panose="020B0604030504040204" pitchFamily="34" charset="0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2928" y="2258568"/>
            <a:ext cx="1773936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80" b="1">
                <a:solidFill>
                  <a:srgbClr val="202838"/>
                </a:solidFill>
                <a:latin typeface="Arial"/>
              </a:defRPr>
            </a:pPr>
            <a:r>
              <a:rPr sz="1600" dirty="0" err="1">
                <a:latin typeface="Tahoma" panose="020B0604030504040204" pitchFamily="34" charset="0"/>
              </a:rPr>
              <a:t>Vụ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việc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có</a:t>
            </a:r>
            <a:r>
              <a:rPr sz="1600" dirty="0">
                <a:latin typeface="Tahoma" panose="020B0604030504040204" pitchFamily="34" charset="0"/>
              </a:rPr>
              <a:t> PIC &amp; deadline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600200"/>
            <a:ext cx="1993392" cy="1627632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166359" y="1737360"/>
            <a:ext cx="1810512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2500" b="1">
                <a:solidFill>
                  <a:srgbClr val="2E63DC"/>
                </a:solidFill>
                <a:latin typeface="Arial Narrow"/>
              </a:defRPr>
            </a:pPr>
            <a:r>
              <a:rPr dirty="0">
                <a:latin typeface="Tahoma" panose="020B0604030504040204" pitchFamily="34" charset="0"/>
              </a:rPr>
              <a:t>≥90%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4648" y="2258568"/>
            <a:ext cx="1773936" cy="83099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80" b="1">
                <a:solidFill>
                  <a:srgbClr val="202838"/>
                </a:solidFill>
                <a:latin typeface="Arial"/>
              </a:defRPr>
            </a:pPr>
            <a:r>
              <a:rPr sz="1600" dirty="0" err="1">
                <a:latin typeface="Tahoma" panose="020B0604030504040204" pitchFamily="34" charset="0"/>
              </a:rPr>
              <a:t>Kiến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nghị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có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phản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hồi</a:t>
            </a:r>
            <a:r>
              <a:rPr sz="1600" dirty="0">
                <a:latin typeface="Tahoma" panose="020B0604030504040204" pitchFamily="34" charset="0"/>
              </a:rPr>
              <a:t>/</a:t>
            </a:r>
            <a:r>
              <a:rPr sz="1600" dirty="0" err="1">
                <a:latin typeface="Tahoma" panose="020B0604030504040204" pitchFamily="34" charset="0"/>
              </a:rPr>
              <a:t>kết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quả</a:t>
            </a:r>
            <a:endParaRPr sz="1600" dirty="0">
              <a:latin typeface="Tahoma" panose="020B0604030504040204" pitchFamily="34" charset="0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7406640" y="1600200"/>
            <a:ext cx="1993392" cy="1627632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498079" y="1737360"/>
            <a:ext cx="1810512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2500" b="1">
                <a:solidFill>
                  <a:srgbClr val="E87823"/>
                </a:solidFill>
                <a:latin typeface="Arial Narrow"/>
              </a:defRPr>
            </a:pPr>
            <a:r>
              <a:rPr dirty="0">
                <a:latin typeface="Tahoma" panose="020B0604030504040204" pitchFamily="34" charset="0"/>
              </a:rPr>
              <a:t>≥60%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7" y="2258568"/>
            <a:ext cx="1773936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80" b="1">
                <a:solidFill>
                  <a:srgbClr val="202838"/>
                </a:solidFill>
                <a:latin typeface="Arial"/>
              </a:defRPr>
            </a:pPr>
            <a:r>
              <a:rPr sz="1600" dirty="0" err="1">
                <a:latin typeface="Tahoma" panose="020B0604030504040204" pitchFamily="34" charset="0"/>
              </a:rPr>
              <a:t>CBNV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phản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hồi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khảo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sát</a:t>
            </a:r>
            <a:endParaRPr sz="1600" dirty="0">
              <a:latin typeface="Tahoma" panose="020B0604030504040204" pitchFamily="34" charset="0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738359" y="1600200"/>
            <a:ext cx="1993392" cy="1627632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829799" y="1737360"/>
            <a:ext cx="1810512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2500" b="1">
                <a:solidFill>
                  <a:srgbClr val="2A975D"/>
                </a:solidFill>
                <a:latin typeface="Arial Narrow"/>
              </a:defRPr>
            </a:pPr>
            <a:r>
              <a:rPr dirty="0">
                <a:latin typeface="Tahoma" panose="020B0604030504040204" pitchFamily="34" charset="0"/>
              </a:rPr>
              <a:t>≥70%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48087" y="2258568"/>
            <a:ext cx="1773936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80" b="1">
                <a:solidFill>
                  <a:srgbClr val="202838"/>
                </a:solidFill>
                <a:latin typeface="Arial"/>
              </a:defRPr>
            </a:pPr>
            <a:r>
              <a:rPr sz="1600" dirty="0" err="1">
                <a:latin typeface="Tahoma" panose="020B0604030504040204" pitchFamily="34" charset="0"/>
              </a:rPr>
              <a:t>Người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tham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dự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đánh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giá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hữu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ích</a:t>
            </a:r>
            <a:endParaRPr sz="1600" dirty="0">
              <a:latin typeface="Tahoma" panose="020B0604030504040204" pitchFamily="34" charset="0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11480" y="3666744"/>
            <a:ext cx="1993392" cy="1627632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02920" y="3803904"/>
            <a:ext cx="1810512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2500" b="1">
                <a:solidFill>
                  <a:srgbClr val="F1B419"/>
                </a:solidFill>
                <a:latin typeface="Arial Narrow"/>
              </a:defRPr>
            </a:pPr>
            <a:r>
              <a:rPr dirty="0">
                <a:latin typeface="Tahoma" panose="020B0604030504040204" pitchFamily="34" charset="0"/>
              </a:rPr>
              <a:t>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" y="4325112"/>
            <a:ext cx="1773936" cy="83099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80" b="1">
                <a:solidFill>
                  <a:srgbClr val="202838"/>
                </a:solidFill>
                <a:latin typeface="Arial"/>
              </a:defRPr>
            </a:pPr>
            <a:r>
              <a:rPr sz="1600" dirty="0" err="1">
                <a:latin typeface="Tahoma" panose="020B0604030504040204" pitchFamily="34" charset="0"/>
              </a:rPr>
              <a:t>Chương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trình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có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báo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cáo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sau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hoạt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động</a:t>
            </a:r>
            <a:endParaRPr sz="1600" dirty="0">
              <a:latin typeface="Tahoma" panose="020B0604030504040204" pitchFamily="34" charset="0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2743200" y="3666744"/>
            <a:ext cx="1993392" cy="1627632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834640" y="3803904"/>
            <a:ext cx="1810512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2500" b="1">
                <a:solidFill>
                  <a:srgbClr val="051F71"/>
                </a:solidFill>
                <a:latin typeface="Arial Narrow"/>
              </a:defRPr>
            </a:pPr>
            <a:r>
              <a:rPr dirty="0">
                <a:latin typeface="Tahoma" panose="020B0604030504040204" pitchFamily="34" charset="0"/>
              </a:rPr>
              <a:t>≥1/</a:t>
            </a:r>
            <a:r>
              <a:rPr dirty="0" err="1">
                <a:latin typeface="Tahoma" panose="020B0604030504040204" pitchFamily="34" charset="0"/>
              </a:rPr>
              <a:t>tháng</a:t>
            </a:r>
            <a:endParaRPr dirty="0">
              <a:latin typeface="Tahoma" panose="020B060403050404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852928" y="4325112"/>
            <a:ext cx="1773936" cy="3385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80" b="1">
                <a:solidFill>
                  <a:srgbClr val="202838"/>
                </a:solidFill>
                <a:latin typeface="Arial"/>
              </a:defRPr>
            </a:pPr>
            <a:r>
              <a:rPr sz="1600" dirty="0">
                <a:latin typeface="Tahoma" panose="020B0604030504040204" pitchFamily="34" charset="0"/>
              </a:rPr>
              <a:t>BCH </a:t>
            </a:r>
            <a:r>
              <a:rPr sz="1600" dirty="0" err="1">
                <a:latin typeface="Tahoma" panose="020B0604030504040204" pitchFamily="34" charset="0"/>
              </a:rPr>
              <a:t>họp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định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kỳ</a:t>
            </a:r>
            <a:endParaRPr sz="1600" dirty="0">
              <a:latin typeface="Tahoma" panose="020B0604030504040204" pitchFamily="34" charset="0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074920" y="3666744"/>
            <a:ext cx="1993392" cy="1627632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166359" y="3803904"/>
            <a:ext cx="1810512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2500" b="1">
                <a:solidFill>
                  <a:srgbClr val="118F91"/>
                </a:solidFill>
                <a:latin typeface="Arial Narrow"/>
              </a:defRPr>
            </a:pPr>
            <a:r>
              <a:rPr dirty="0">
                <a:latin typeface="Tahoma" panose="020B0604030504040204" pitchFamily="34" charset="0"/>
              </a:rPr>
              <a:t>100%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4325112"/>
            <a:ext cx="1773936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80" b="1">
                <a:solidFill>
                  <a:srgbClr val="202838"/>
                </a:solidFill>
                <a:latin typeface="Arial"/>
              </a:defRPr>
            </a:pPr>
            <a:r>
              <a:rPr sz="1600" dirty="0" err="1">
                <a:latin typeface="Tahoma" panose="020B0604030504040204" pitchFamily="34" charset="0"/>
              </a:rPr>
              <a:t>Dữ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liệu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đoàn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viên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cập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nhật</a:t>
            </a:r>
            <a:endParaRPr sz="1600" dirty="0">
              <a:latin typeface="Tahoma" panose="020B0604030504040204" pitchFamily="34" charset="0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406640" y="3666744"/>
            <a:ext cx="1993392" cy="1627632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498079" y="3803904"/>
            <a:ext cx="1810512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2500" b="1">
                <a:solidFill>
                  <a:srgbClr val="C53A3A"/>
                </a:solidFill>
                <a:latin typeface="Arial Narrow"/>
              </a:defRPr>
            </a:pPr>
            <a:r>
              <a:rPr dirty="0">
                <a:latin typeface="Tahoma" panose="020B0604030504040204" pitchFamily="34" charset="0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16367" y="4325112"/>
            <a:ext cx="1773936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80" b="1">
                <a:solidFill>
                  <a:srgbClr val="202838"/>
                </a:solidFill>
                <a:latin typeface="Arial"/>
              </a:defRPr>
            </a:pPr>
            <a:r>
              <a:rPr sz="1600" dirty="0" err="1">
                <a:latin typeface="Tahoma" panose="020B0604030504040204" pitchFamily="34" charset="0"/>
              </a:rPr>
              <a:t>Vấn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đề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quá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hạn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không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giải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trình</a:t>
            </a:r>
            <a:endParaRPr sz="1600" dirty="0">
              <a:latin typeface="Tahoma" panose="020B0604030504040204" pitchFamily="34" charset="0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9738359" y="3666744"/>
            <a:ext cx="1993392" cy="1627632"/>
          </a:xfrm>
          <a:prstGeom prst="roundRect">
            <a:avLst/>
          </a:prstGeom>
          <a:solidFill>
            <a:srgbClr val="FFFFFF"/>
          </a:solidFill>
          <a:ln>
            <a:solidFill>
              <a:srgbClr val="D9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829799" y="3803904"/>
            <a:ext cx="1810512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2500" b="1">
                <a:solidFill>
                  <a:srgbClr val="2E63DC"/>
                </a:solidFill>
                <a:latin typeface="Arial Narrow"/>
              </a:defRPr>
            </a:pPr>
            <a:r>
              <a:rPr dirty="0" err="1">
                <a:latin typeface="Tahoma" panose="020B0604030504040204" pitchFamily="34" charset="0"/>
              </a:rPr>
              <a:t>TĂNG</a:t>
            </a:r>
            <a:r>
              <a:rPr dirty="0">
                <a:latin typeface="Tahoma" panose="020B0604030504040204" pitchFamily="34" charset="0"/>
              </a:rPr>
              <a:t> DẦN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48087" y="4325112"/>
            <a:ext cx="1773936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980" b="1">
                <a:solidFill>
                  <a:srgbClr val="202838"/>
                </a:solidFill>
                <a:latin typeface="Arial"/>
              </a:defRPr>
            </a:pPr>
            <a:r>
              <a:rPr sz="1600" dirty="0" err="1">
                <a:latin typeface="Tahoma" panose="020B0604030504040204" pitchFamily="34" charset="0"/>
              </a:rPr>
              <a:t>Tỷ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lệ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tham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gia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tự</a:t>
            </a:r>
            <a:r>
              <a:rPr sz="1600" dirty="0">
                <a:latin typeface="Tahoma" panose="020B0604030504040204" pitchFamily="34" charset="0"/>
              </a:rPr>
              <a:t> </a:t>
            </a:r>
            <a:r>
              <a:rPr sz="1600" dirty="0" err="1">
                <a:latin typeface="Tahoma" panose="020B0604030504040204" pitchFamily="34" charset="0"/>
              </a:rPr>
              <a:t>nguyện</a:t>
            </a:r>
            <a:endParaRPr sz="1600" dirty="0">
              <a:latin typeface="Tahoma" panose="020B0604030504040204" pitchFamily="34" charset="0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914400" y="5833872"/>
            <a:ext cx="10332720" cy="566928"/>
          </a:xfrm>
          <a:prstGeom prst="roundRect">
            <a:avLst/>
          </a:prstGeom>
          <a:solidFill>
            <a:srgbClr val="051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ahoma" panose="020B0604030504040204" pitchFamily="34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15568" y="5961888"/>
            <a:ext cx="9930384" cy="43088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>
                <a:latin typeface="Tahoma" panose="020B0604030504040204" pitchFamily="34" charset="0"/>
              </a:rPr>
              <a:t>Báo </a:t>
            </a:r>
            <a:r>
              <a:rPr dirty="0" err="1">
                <a:latin typeface="Tahoma" panose="020B0604030504040204" pitchFamily="34" charset="0"/>
              </a:rPr>
              <a:t>cáo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quý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phải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trả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lời</a:t>
            </a:r>
            <a:r>
              <a:rPr dirty="0">
                <a:latin typeface="Tahoma" panose="020B0604030504040204" pitchFamily="34" charset="0"/>
              </a:rPr>
              <a:t>: </a:t>
            </a:r>
            <a:r>
              <a:rPr dirty="0" err="1">
                <a:latin typeface="Tahoma" panose="020B0604030504040204" pitchFamily="34" charset="0"/>
              </a:rPr>
              <a:t>NLĐ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được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hỗ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trợ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gì</a:t>
            </a:r>
            <a:r>
              <a:rPr dirty="0">
                <a:latin typeface="Tahoma" panose="020B0604030504040204" pitchFamily="34" charset="0"/>
              </a:rPr>
              <a:t>? </a:t>
            </a:r>
            <a:r>
              <a:rPr dirty="0" err="1">
                <a:latin typeface="Tahoma" panose="020B0604030504040204" pitchFamily="34" charset="0"/>
              </a:rPr>
              <a:t>Mức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độ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tham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gia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ra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sao</a:t>
            </a:r>
            <a:r>
              <a:rPr dirty="0">
                <a:latin typeface="Tahoma" panose="020B0604030504040204" pitchFamily="34" charset="0"/>
              </a:rPr>
              <a:t>? </a:t>
            </a:r>
            <a:r>
              <a:rPr dirty="0" err="1">
                <a:latin typeface="Tahoma" panose="020B0604030504040204" pitchFamily="34" charset="0"/>
              </a:rPr>
              <a:t>Vấn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đề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nào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đang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nổi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lên</a:t>
            </a:r>
            <a:r>
              <a:rPr dirty="0">
                <a:latin typeface="Tahoma" panose="020B0604030504040204" pitchFamily="34" charset="0"/>
              </a:rPr>
              <a:t>? </a:t>
            </a:r>
            <a:r>
              <a:rPr dirty="0" err="1">
                <a:latin typeface="Tahoma" panose="020B0604030504040204" pitchFamily="34" charset="0"/>
              </a:rPr>
              <a:t>Hoạt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động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nào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nên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duy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trì</a:t>
            </a:r>
            <a:r>
              <a:rPr dirty="0">
                <a:latin typeface="Tahoma" panose="020B0604030504040204" pitchFamily="34" charset="0"/>
              </a:rPr>
              <a:t>, </a:t>
            </a:r>
            <a:r>
              <a:rPr dirty="0" err="1">
                <a:latin typeface="Tahoma" panose="020B0604030504040204" pitchFamily="34" charset="0"/>
              </a:rPr>
              <a:t>điều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chỉnh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hoặc</a:t>
            </a:r>
            <a:r>
              <a:rPr dirty="0">
                <a:latin typeface="Tahoma" panose="020B0604030504040204" pitchFamily="34" charset="0"/>
              </a:rPr>
              <a:t> </a:t>
            </a:r>
            <a:r>
              <a:rPr dirty="0" err="1">
                <a:latin typeface="Tahoma" panose="020B0604030504040204" pitchFamily="34" charset="0"/>
              </a:rPr>
              <a:t>dừng</a:t>
            </a:r>
            <a:r>
              <a:rPr dirty="0">
                <a:latin typeface="Tahoma" panose="020B0604030504040204" pitchFamily="34" charset="0"/>
              </a:rPr>
              <a:t>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1723</TotalTime>
  <Words>3043</Words>
  <Application>Microsoft Office PowerPoint</Application>
  <PresentationFormat>Widescreen</PresentationFormat>
  <Paragraphs>618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Administrator</dc:creator>
  <cp:keywords/>
  <dc:description>generated using python-pptx</dc:description>
  <cp:lastModifiedBy>Technical Esdc</cp:lastModifiedBy>
  <cp:revision>18</cp:revision>
  <dcterms:created xsi:type="dcterms:W3CDTF">2013-01-27T09:14:16Z</dcterms:created>
  <dcterms:modified xsi:type="dcterms:W3CDTF">2026-08-25T05:55:57Z</dcterms:modified>
  <cp:category/>
</cp:coreProperties>
</file>